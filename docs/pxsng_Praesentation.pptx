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sldIdLst>
    <p:sldId id="256" r:id="rId5"/>
    <p:sldId id="257" r:id="rId6"/>
    <p:sldId id="258" r:id="rId7"/>
    <p:sldId id="259" r:id="rId8"/>
    <p:sldId id="260" r:id="rId9"/>
    <p:sldId id="261" r:id="rId10"/>
    <p:sldId id="274" r:id="rId11"/>
    <p:sldId id="275" r:id="rId12"/>
    <p:sldId id="276" r:id="rId13"/>
    <p:sldId id="277" r:id="rId14"/>
    <p:sldId id="278" r:id="rId15"/>
    <p:sldId id="262" r:id="rId16"/>
    <p:sldId id="263" r:id="rId17"/>
    <p:sldId id="264" r:id="rId18"/>
    <p:sldId id="265" r:id="rId19"/>
    <p:sldId id="284" r:id="rId20"/>
    <p:sldId id="285" r:id="rId21"/>
    <p:sldId id="286" r:id="rId22"/>
    <p:sldId id="287" r:id="rId23"/>
    <p:sldId id="288" r:id="rId24"/>
    <p:sldId id="289" r:id="rId25"/>
    <p:sldId id="266" r:id="rId26"/>
    <p:sldId id="290" r:id="rId27"/>
    <p:sldId id="268" r:id="rId28"/>
    <p:sldId id="279" r:id="rId29"/>
    <p:sldId id="280" r:id="rId30"/>
    <p:sldId id="281" r:id="rId31"/>
    <p:sldId id="282" r:id="rId32"/>
    <p:sldId id="283" r:id="rId33"/>
    <p:sldId id="272" r:id="rId34"/>
    <p:sldId id="273"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BB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31BE3F-C171-1746-8A9E-A05EB1030483}" v="29" dt="2026-05-26T13:27:14.721"/>
    <p1510:client id="{22F40D66-3E6B-E4F0-1A77-AF810FF1019C}" v="266" dt="2026-05-26T13:24:29.804"/>
    <p1510:client id="{30E10A06-9572-95D7-6EF4-01385D11F3CA}" v="330" dt="2026-05-25T22:12:22.235"/>
    <p1510:client id="{324D97C0-A3D3-41FA-8614-163101938B76}" v="252" dt="2026-05-26T16:31:21.638"/>
    <p1510:client id="{8ECB81F8-C220-7C27-0D44-0E3FA67DA9B9}" v="174" dt="2026-05-26T16:13:18.005"/>
    <p1510:client id="{99000238-1D42-9346-1855-B64CF773EDFF}" v="10" dt="2026-05-25T18:19:07.511"/>
    <p1510:client id="{9EF1FC57-1D99-DE3B-1C11-ACDAB4F4FD92}" v="82" dt="2026-05-25T21:34:00.585"/>
    <p1510:client id="{CF91BBFF-546E-4E4D-814B-37D8B894BD92}" v="9" dt="2026-05-25T18:37:32.1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3962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Begrüßung. Wir stellen unser Projekt pxsng vor. Eine Web App, die Firmen dabei hilft, Schulungen zu organisieren. Wir teilen die nächsten 15 Minuten in drei Blöcke. Fynn zeigt euch das Frontend, Marco erklärt das Backend, Tim die Datenbank. Am Ende ein kurzes Fazit und Fragen.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Kurzer Überblick. Wir gehen von vorne nach hinten durch. Erst was der User sieht, dann was im Hintergrund läuft, am Ende wo die Daten liegen. Jeder Block dauert etwa fünf Minuten.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einer Minute erklären, warum wir das Projekt gemacht haben. Heute ist es chaotisch mit Excel und Word. Mit pxsng wird alles zentral verwaltet. Nicht zu lange auf den Bullets bleiben, der Kontrast zwischen links und rechts trägt die Folie.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Diese Folie ist die rote Linie für den Rest der Präsentation. Frontend, Backend, Datenbank arbeiten zusammen. Pfeile zeigen wer wen anspricht. Gestrichelte Boxen sind die Teile, die noch fehlen. Übergabe an Fynn fürs Frontend.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Übergang nach der Architekturfolie. Du startest mit dem sichtbaren Teil. Wenn Docker läuft, kannst du auch direkt auf die Webseite klicken zum Einstieg.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Wenn möglich live zeigen. Karussell mit Kursen scrollen, Suchleiste hervorheben, Profil und Theming kurz erwähnen. Falls keine Live Demo möglich ist, ein Screenshot oder einfach in Worten erklären.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182D7-21FE-45E6-C51A-8D514B166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6C233-28D2-457E-7C70-EE4A6E407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794237-1D82-19F0-AF7B-669FA8C5847B}"/>
              </a:ext>
            </a:extLst>
          </p:cNvPr>
          <p:cNvSpPr>
            <a:spLocks noGrp="1"/>
          </p:cNvSpPr>
          <p:nvPr>
            <p:ph type="body" idx="1"/>
          </p:nvPr>
        </p:nvSpPr>
        <p:spPr/>
        <p:txBody>
          <a:bodyPr/>
          <a:lstStyle/>
          <a:p>
            <a:r>
              <a:rPr lang="en-US"/>
              <a:t>Wenn möglich live zeigen. Karussell mit Kursen scrollen, Suchleiste hervorheben, Profil und Theming kurz erwähnen. Falls keine Live Demo möglich ist, ein Screenshot oder einfach in Worten erklären.</a:t>
            </a:r>
          </a:p>
        </p:txBody>
      </p:sp>
      <p:sp>
        <p:nvSpPr>
          <p:cNvPr id="4" name="Slide Number Placeholder 3">
            <a:extLst>
              <a:ext uri="{FF2B5EF4-FFF2-40B4-BE49-F238E27FC236}">
                <a16:creationId xmlns:a16="http://schemas.microsoft.com/office/drawing/2014/main" id="{4ADF7F46-04B6-416F-B19F-3E3B5E87105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09972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ABF92-FCFD-5DD7-1318-DC8A53E6F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E39CF-F024-5B0C-FA30-1051B6ACC1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6B19B-953E-7716-328E-AE721EF3E1DA}"/>
              </a:ext>
            </a:extLst>
          </p:cNvPr>
          <p:cNvSpPr>
            <a:spLocks noGrp="1"/>
          </p:cNvSpPr>
          <p:nvPr>
            <p:ph type="body" idx="1"/>
          </p:nvPr>
        </p:nvSpPr>
        <p:spPr/>
        <p:txBody>
          <a:bodyPr/>
          <a:lstStyle/>
          <a:p>
            <a:r>
              <a:rPr lang="en-US"/>
              <a:t>Wenn möglich live zeigen. Karussell mit Kursen scrollen, Suchleiste hervorheben, Profil und Theming kurz erwähnen. Falls keine Live Demo möglich ist, ein Screenshot oder einfach in Worten erklären.</a:t>
            </a:r>
          </a:p>
        </p:txBody>
      </p:sp>
      <p:sp>
        <p:nvSpPr>
          <p:cNvPr id="4" name="Slide Number Placeholder 3">
            <a:extLst>
              <a:ext uri="{FF2B5EF4-FFF2-40B4-BE49-F238E27FC236}">
                <a16:creationId xmlns:a16="http://schemas.microsoft.com/office/drawing/2014/main" id="{B79B6724-8E44-EAE2-028F-247BB9A4499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71875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403BD-6A16-65C4-758B-8DF0B9B07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5ED26-1AFC-603B-589E-76EB8E9E53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91EAFF-28BA-39DE-B671-40DE701FBD66}"/>
              </a:ext>
            </a:extLst>
          </p:cNvPr>
          <p:cNvSpPr>
            <a:spLocks noGrp="1"/>
          </p:cNvSpPr>
          <p:nvPr>
            <p:ph type="body" idx="1"/>
          </p:nvPr>
        </p:nvSpPr>
        <p:spPr/>
        <p:txBody>
          <a:bodyPr/>
          <a:lstStyle/>
          <a:p>
            <a:r>
              <a:rPr lang="en-US"/>
              <a:t>Wenn möglich live zeigen. Karussell mit Kursen scrollen, Suchleiste hervorheben, Profil und Theming kurz erwähnen. Falls keine Live Demo möglich ist, ein Screenshot oder einfach in Worten erklären.</a:t>
            </a:r>
          </a:p>
        </p:txBody>
      </p:sp>
      <p:sp>
        <p:nvSpPr>
          <p:cNvPr id="4" name="Slide Number Placeholder 3">
            <a:extLst>
              <a:ext uri="{FF2B5EF4-FFF2-40B4-BE49-F238E27FC236}">
                <a16:creationId xmlns:a16="http://schemas.microsoft.com/office/drawing/2014/main" id="{F21A4C60-7EAE-478A-D128-85199D5F28B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871330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A8E2-D726-88D1-3FE2-81C868C41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FCFB3-249C-0162-15A9-D5731FE52D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5947F5-E1C4-0A37-EAA9-964ACA77B488}"/>
              </a:ext>
            </a:extLst>
          </p:cNvPr>
          <p:cNvSpPr>
            <a:spLocks noGrp="1"/>
          </p:cNvSpPr>
          <p:nvPr>
            <p:ph type="body" idx="1"/>
          </p:nvPr>
        </p:nvSpPr>
        <p:spPr/>
        <p:txBody>
          <a:bodyPr/>
          <a:lstStyle/>
          <a:p>
            <a:r>
              <a:rPr lang="en-US"/>
              <a:t>Wenn möglich live zeigen. Karussell mit Kursen scrollen, Suchleiste hervorheben, Profil und Theming kurz erwähnen. Falls keine Live Demo möglich ist, ein Screenshot oder einfach in Worten erklären.</a:t>
            </a:r>
          </a:p>
        </p:txBody>
      </p:sp>
      <p:sp>
        <p:nvSpPr>
          <p:cNvPr id="4" name="Slide Number Placeholder 3">
            <a:extLst>
              <a:ext uri="{FF2B5EF4-FFF2-40B4-BE49-F238E27FC236}">
                <a16:creationId xmlns:a16="http://schemas.microsoft.com/office/drawing/2014/main" id="{0BDC0F16-4FB6-D55D-0815-9EBF8B37DC6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17560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B1963-2809-650B-D20B-5DCE45FC6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5CA10C-9818-D2BA-CF53-A06A99153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7B470E-2FDF-C5DE-03C9-16D3B4E57C3B}"/>
              </a:ext>
            </a:extLst>
          </p:cNvPr>
          <p:cNvSpPr>
            <a:spLocks noGrp="1"/>
          </p:cNvSpPr>
          <p:nvPr>
            <p:ph type="body" idx="1"/>
          </p:nvPr>
        </p:nvSpPr>
        <p:spPr/>
        <p:txBody>
          <a:bodyPr/>
          <a:lstStyle/>
          <a:p>
            <a:r>
              <a:rPr lang="en-US"/>
              <a:t>Wenn möglich live zeigen. Karussell mit Kursen scrollen, Suchleiste hervorheben, Profil und Theming kurz erwähnen. Falls keine Live Demo möglich ist, ein Screenshot oder einfach in Worten erklären.</a:t>
            </a:r>
          </a:p>
        </p:txBody>
      </p:sp>
      <p:sp>
        <p:nvSpPr>
          <p:cNvPr id="4" name="Slide Number Placeholder 3">
            <a:extLst>
              <a:ext uri="{FF2B5EF4-FFF2-40B4-BE49-F238E27FC236}">
                <a16:creationId xmlns:a16="http://schemas.microsoft.com/office/drawing/2014/main" id="{AC8FFAE2-F6E5-3C23-1693-C5593F94F8A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0493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Erklär die Werkzeuge in einem Satz. Nicht zu tief in die Technik. Wichtig ist, dass die Zuhörer verstehen warum wir gerade diese Werkzeuge genommen haben, nicht wie sie genau funktionieren.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Ehrlich sagen was geht und was nicht. Links die Häkchen sind fertig, rechts ist die offene Liste. Den Adminbereich besonders erwähnen, weil das ein großer Brocken ist. Übergabe an Marco.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Übergang von Fynn. Du erklärst was passiert, wenn ein User auf einen Kurs klickt. Anfrage kommt rein, Backend antwortet.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F5240-FA25-3AE5-9DBF-B27EF0FEFB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95799-83CF-1BA1-CF82-003D4916AD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CB040-2AD8-1378-D1E5-5BFC3275317A}"/>
              </a:ext>
            </a:extLst>
          </p:cNvPr>
          <p:cNvSpPr>
            <a:spLocks noGrp="1"/>
          </p:cNvSpPr>
          <p:nvPr>
            <p:ph type="body" idx="1"/>
          </p:nvPr>
        </p:nvSpPr>
        <p:spPr/>
        <p:txBody>
          <a:bodyPr/>
          <a:lstStyle/>
          <a:p>
            <a:r>
              <a:rPr lang="en-US" dirty="0"/>
              <a:t>Oracle-</a:t>
            </a:r>
            <a:r>
              <a:rPr lang="en-US" dirty="0" err="1"/>
              <a:t>Datenbanken</a:t>
            </a:r>
            <a:r>
              <a:rPr lang="en-US" dirty="0"/>
              <a:t> </a:t>
            </a:r>
            <a:r>
              <a:rPr lang="en-US" dirty="0" err="1"/>
              <a:t>sind</a:t>
            </a:r>
            <a:r>
              <a:rPr lang="en-US" dirty="0"/>
              <a:t> </a:t>
            </a:r>
            <a:r>
              <a:rPr lang="en-US" dirty="0" err="1"/>
              <a:t>extrem</a:t>
            </a:r>
            <a:r>
              <a:rPr lang="en-US" dirty="0"/>
              <a:t> </a:t>
            </a:r>
            <a:r>
              <a:rPr lang="en-US" dirty="0" err="1"/>
              <a:t>strikt</a:t>
            </a:r>
            <a:r>
              <a:rPr lang="en-US" dirty="0"/>
              <a:t>, was </a:t>
            </a:r>
            <a:r>
              <a:rPr lang="en-US" dirty="0" err="1"/>
              <a:t>Datentypen</a:t>
            </a:r>
            <a:r>
              <a:rPr lang="en-US" dirty="0"/>
              <a:t> </a:t>
            </a:r>
            <a:r>
              <a:rPr lang="en-US" dirty="0" err="1"/>
              <a:t>angeht</a:t>
            </a:r>
            <a:r>
              <a:rPr lang="en-US" dirty="0"/>
              <a:t> (z. B. UUIDs </a:t>
            </a:r>
            <a:r>
              <a:rPr lang="en-US" dirty="0" err="1"/>
              <a:t>als</a:t>
            </a:r>
            <a:r>
              <a:rPr lang="en-US" dirty="0"/>
              <a:t> VARCHAR2(36) </a:t>
            </a:r>
            <a:r>
              <a:rPr lang="en-US" dirty="0" err="1"/>
              <a:t>oder</a:t>
            </a:r>
            <a:r>
              <a:rPr lang="en-US" dirty="0"/>
              <a:t> </a:t>
            </a:r>
            <a:r>
              <a:rPr lang="en-US" dirty="0" err="1"/>
              <a:t>Zeitstempel</a:t>
            </a:r>
            <a:r>
              <a:rPr lang="en-US" dirty="0"/>
              <a:t>). Flask-RESTX </a:t>
            </a:r>
            <a:r>
              <a:rPr lang="en-US" dirty="0" err="1"/>
              <a:t>erlaubt</a:t>
            </a:r>
            <a:r>
              <a:rPr lang="en-US" dirty="0"/>
              <a:t> es </a:t>
            </a:r>
            <a:r>
              <a:rPr lang="en-US" dirty="0" err="1"/>
              <a:t>uns</a:t>
            </a:r>
            <a:r>
              <a:rPr lang="en-US" dirty="0"/>
              <a:t>, </a:t>
            </a:r>
            <a:r>
              <a:rPr lang="en-US" dirty="0" err="1"/>
              <a:t>mit</a:t>
            </a:r>
            <a:r>
              <a:rPr lang="en-US" dirty="0"/>
              <a:t> </a:t>
            </a:r>
            <a:r>
              <a:rPr lang="en-US" dirty="0" err="1"/>
              <a:t>api.model</a:t>
            </a:r>
            <a:r>
              <a:rPr lang="en-US" dirty="0"/>
              <a:t> </a:t>
            </a:r>
            <a:r>
              <a:rPr lang="en-US" dirty="0" err="1"/>
              <a:t>ein</a:t>
            </a:r>
            <a:r>
              <a:rPr lang="en-US" dirty="0"/>
              <a:t> </a:t>
            </a:r>
            <a:r>
              <a:rPr lang="en-US" dirty="0" err="1"/>
              <a:t>exaktes</a:t>
            </a:r>
            <a:r>
              <a:rPr lang="en-US" dirty="0"/>
              <a:t> JSON-Schema (</a:t>
            </a:r>
            <a:r>
              <a:rPr lang="en-US" dirty="0" err="1"/>
              <a:t>wie</a:t>
            </a:r>
            <a:r>
              <a:rPr lang="en-US" dirty="0"/>
              <a:t> </a:t>
            </a:r>
            <a:r>
              <a:rPr lang="en-US" dirty="0" err="1"/>
              <a:t>dein</a:t>
            </a:r>
            <a:r>
              <a:rPr lang="en-US" dirty="0"/>
              <a:t> </a:t>
            </a:r>
            <a:r>
              <a:rPr lang="en-US" dirty="0" err="1"/>
              <a:t>course_model</a:t>
            </a:r>
            <a:r>
              <a:rPr lang="en-US" dirty="0"/>
              <a:t>) auf Python-Ebene </a:t>
            </a:r>
            <a:r>
              <a:rPr lang="en-US" dirty="0" err="1"/>
              <a:t>zu</a:t>
            </a:r>
            <a:r>
              <a:rPr lang="en-US" dirty="0"/>
              <a:t> </a:t>
            </a:r>
            <a:r>
              <a:rPr lang="en-US" dirty="0" err="1"/>
              <a:t>definieren</a:t>
            </a:r>
            <a:r>
              <a:rPr lang="en-US" dirty="0"/>
              <a:t>. </a:t>
            </a:r>
            <a:endParaRPr lang="en-US"/>
          </a:p>
          <a:p>
            <a:r>
              <a:rPr lang="en-US" dirty="0"/>
              <a:t>Das </a:t>
            </a:r>
            <a:r>
              <a:rPr lang="en-US" dirty="0" err="1"/>
              <a:t>bedeutet</a:t>
            </a:r>
            <a:r>
              <a:rPr lang="en-US" dirty="0"/>
              <a:t>: Ungültige Anfragen (z. B. </a:t>
            </a:r>
            <a:r>
              <a:rPr lang="en-US" dirty="0" err="1"/>
              <a:t>ein</a:t>
            </a:r>
            <a:r>
              <a:rPr lang="en-US" dirty="0"/>
              <a:t> String </a:t>
            </a:r>
            <a:r>
              <a:rPr lang="en-US" dirty="0" err="1"/>
              <a:t>statt</a:t>
            </a:r>
            <a:r>
              <a:rPr lang="en-US" dirty="0"/>
              <a:t> </a:t>
            </a:r>
            <a:r>
              <a:rPr lang="en-US" dirty="0" err="1"/>
              <a:t>einer</a:t>
            </a:r>
            <a:r>
              <a:rPr lang="en-US" dirty="0"/>
              <a:t> Zahl für die ID) </a:t>
            </a:r>
            <a:r>
              <a:rPr lang="en-US" dirty="0" err="1"/>
              <a:t>werden</a:t>
            </a:r>
            <a:r>
              <a:rPr lang="en-US" dirty="0"/>
              <a:t> </a:t>
            </a:r>
            <a:r>
              <a:rPr lang="en-US" dirty="0" err="1"/>
              <a:t>sofort</a:t>
            </a:r>
            <a:r>
              <a:rPr lang="en-US" dirty="0"/>
              <a:t> am Router </a:t>
            </a:r>
            <a:r>
              <a:rPr lang="en-US" dirty="0" err="1"/>
              <a:t>abgefangen</a:t>
            </a:r>
            <a:r>
              <a:rPr lang="en-US" dirty="0"/>
              <a:t>, </a:t>
            </a:r>
            <a:r>
              <a:rPr lang="en-US" dirty="0" err="1"/>
              <a:t>noch</a:t>
            </a:r>
            <a:r>
              <a:rPr lang="en-US" dirty="0"/>
              <a:t> bevor </a:t>
            </a:r>
            <a:r>
              <a:rPr lang="en-US" dirty="0" err="1"/>
              <a:t>sie</a:t>
            </a:r>
            <a:r>
              <a:rPr lang="en-US" dirty="0"/>
              <a:t> die </a:t>
            </a:r>
            <a:r>
              <a:rPr lang="en-US" dirty="0" err="1"/>
              <a:t>wertvolle</a:t>
            </a:r>
            <a:r>
              <a:rPr lang="en-US" dirty="0"/>
              <a:t> </a:t>
            </a:r>
            <a:r>
              <a:rPr lang="en-US" dirty="0" err="1"/>
              <a:t>Datenbankverbindung</a:t>
            </a:r>
            <a:r>
              <a:rPr lang="en-US" dirty="0"/>
              <a:t> </a:t>
            </a:r>
            <a:r>
              <a:rPr lang="en-US" dirty="0" err="1"/>
              <a:t>blockieren</a:t>
            </a:r>
            <a:r>
              <a:rPr lang="en-US" dirty="0"/>
              <a:t> </a:t>
            </a:r>
            <a:r>
              <a:rPr lang="en-US" dirty="0" err="1"/>
              <a:t>oder</a:t>
            </a:r>
            <a:r>
              <a:rPr lang="en-US" dirty="0"/>
              <a:t> PL/SQL-Fehler </a:t>
            </a:r>
            <a:r>
              <a:rPr lang="en-US" dirty="0" err="1"/>
              <a:t>auslösen</a:t>
            </a:r>
            <a:r>
              <a:rPr lang="en-US" dirty="0"/>
              <a:t>.</a:t>
            </a:r>
          </a:p>
          <a:p>
            <a:endParaRPr lang="en-US" dirty="0"/>
          </a:p>
          <a:p>
            <a:r>
              <a:rPr lang="en-US" dirty="0"/>
              <a:t>Durch den </a:t>
            </a:r>
            <a:r>
              <a:rPr lang="en-US" dirty="0" err="1"/>
              <a:t>Einsatz</a:t>
            </a:r>
            <a:r>
              <a:rPr lang="en-US" dirty="0"/>
              <a:t> von Namespaces (</a:t>
            </a:r>
            <a:r>
              <a:rPr lang="en-US" dirty="0" err="1"/>
              <a:t>api.Namespace</a:t>
            </a:r>
            <a:r>
              <a:rPr lang="en-US" dirty="0"/>
              <a:t>) und Decorators </a:t>
            </a:r>
            <a:r>
              <a:rPr lang="en-US" dirty="0" err="1"/>
              <a:t>generiert</a:t>
            </a:r>
            <a:r>
              <a:rPr lang="en-US" dirty="0"/>
              <a:t> Flask-RESTX die </a:t>
            </a:r>
            <a:r>
              <a:rPr lang="en-US" dirty="0" err="1"/>
              <a:t>komplette</a:t>
            </a:r>
            <a:r>
              <a:rPr lang="en-US" dirty="0"/>
              <a:t> </a:t>
            </a:r>
            <a:r>
              <a:rPr lang="en-US" dirty="0" err="1"/>
              <a:t>interaktive</a:t>
            </a:r>
            <a:r>
              <a:rPr lang="en-US" dirty="0"/>
              <a:t> API-</a:t>
            </a:r>
            <a:r>
              <a:rPr lang="en-US" dirty="0" err="1"/>
              <a:t>Dokumentation</a:t>
            </a:r>
            <a:r>
              <a:rPr lang="en-US" dirty="0"/>
              <a:t> </a:t>
            </a:r>
            <a:r>
              <a:rPr lang="en-US" dirty="0" err="1"/>
              <a:t>vollautomatisch</a:t>
            </a:r>
            <a:r>
              <a:rPr lang="en-US" dirty="0"/>
              <a:t> </a:t>
            </a:r>
            <a:r>
              <a:rPr lang="en-US" dirty="0" err="1"/>
              <a:t>im</a:t>
            </a:r>
            <a:r>
              <a:rPr lang="en-US" dirty="0"/>
              <a:t> </a:t>
            </a:r>
            <a:r>
              <a:rPr lang="en-US" dirty="0" err="1"/>
              <a:t>Hintergrund</a:t>
            </a:r>
            <a:r>
              <a:rPr lang="en-US" dirty="0"/>
              <a:t>. </a:t>
            </a:r>
          </a:p>
          <a:p>
            <a:endParaRPr lang="en-US" dirty="0"/>
          </a:p>
          <a:p>
            <a:r>
              <a:rPr lang="en-US" dirty="0"/>
              <a:t>Für </a:t>
            </a:r>
            <a:r>
              <a:rPr lang="en-US" dirty="0" err="1"/>
              <a:t>ein</a:t>
            </a:r>
            <a:r>
              <a:rPr lang="en-US" dirty="0"/>
              <a:t> Backend-Team </a:t>
            </a:r>
            <a:r>
              <a:rPr lang="en-US" dirty="0" err="1"/>
              <a:t>ist</a:t>
            </a:r>
            <a:r>
              <a:rPr lang="en-US" dirty="0"/>
              <a:t> das </a:t>
            </a:r>
            <a:r>
              <a:rPr lang="en-US" dirty="0" err="1"/>
              <a:t>ein</a:t>
            </a:r>
            <a:r>
              <a:rPr lang="en-US" dirty="0"/>
              <a:t> </a:t>
            </a:r>
            <a:r>
              <a:rPr lang="en-US" dirty="0" err="1"/>
              <a:t>unschätzbarer</a:t>
            </a:r>
            <a:r>
              <a:rPr lang="en-US" dirty="0"/>
              <a:t> </a:t>
            </a:r>
            <a:r>
              <a:rPr lang="en-US" dirty="0" err="1"/>
              <a:t>Vorteil</a:t>
            </a:r>
            <a:r>
              <a:rPr lang="en-US" dirty="0"/>
              <a:t>, da das Frontend-Team (</a:t>
            </a:r>
            <a:r>
              <a:rPr lang="en-US" dirty="0" err="1"/>
              <a:t>Webseite</a:t>
            </a:r>
            <a:r>
              <a:rPr lang="en-US" dirty="0"/>
              <a:t>) </a:t>
            </a:r>
            <a:r>
              <a:rPr lang="en-US" dirty="0" err="1"/>
              <a:t>sofort</a:t>
            </a:r>
            <a:r>
              <a:rPr lang="en-US" dirty="0"/>
              <a:t> </a:t>
            </a:r>
            <a:r>
              <a:rPr lang="en-US" dirty="0" err="1"/>
              <a:t>sieht</a:t>
            </a:r>
            <a:r>
              <a:rPr lang="en-US" dirty="0"/>
              <a:t>, </a:t>
            </a:r>
            <a:r>
              <a:rPr lang="en-US" dirty="0" err="1"/>
              <a:t>welche</a:t>
            </a:r>
            <a:r>
              <a:rPr lang="en-US" dirty="0"/>
              <a:t> </a:t>
            </a:r>
            <a:r>
              <a:rPr lang="en-US" dirty="0" err="1"/>
              <a:t>Endpunkte</a:t>
            </a:r>
            <a:r>
              <a:rPr lang="en-US" dirty="0"/>
              <a:t> </a:t>
            </a:r>
            <a:r>
              <a:rPr lang="en-US" dirty="0" err="1"/>
              <a:t>existieren</a:t>
            </a:r>
            <a:r>
              <a:rPr lang="en-US" dirty="0"/>
              <a:t> und </a:t>
            </a:r>
            <a:r>
              <a:rPr lang="en-US" dirty="0" err="1"/>
              <a:t>welche</a:t>
            </a:r>
            <a:r>
              <a:rPr lang="en-US" dirty="0"/>
              <a:t> </a:t>
            </a:r>
            <a:r>
              <a:rPr lang="en-US" dirty="0" err="1"/>
              <a:t>Datenformate</a:t>
            </a:r>
            <a:r>
              <a:rPr lang="en-US" dirty="0"/>
              <a:t> </a:t>
            </a:r>
            <a:r>
              <a:rPr lang="en-US" dirty="0" err="1"/>
              <a:t>erwartet</a:t>
            </a:r>
            <a:r>
              <a:rPr lang="en-US" dirty="0"/>
              <a:t> </a:t>
            </a:r>
            <a:r>
              <a:rPr lang="en-US" dirty="0" err="1"/>
              <a:t>werden</a:t>
            </a:r>
            <a:r>
              <a:rPr lang="en-US" dirty="0"/>
              <a:t>, </a:t>
            </a:r>
            <a:r>
              <a:rPr lang="en-US" dirty="0" err="1"/>
              <a:t>ohne</a:t>
            </a:r>
            <a:r>
              <a:rPr lang="en-US" dirty="0"/>
              <a:t> </a:t>
            </a:r>
            <a:r>
              <a:rPr lang="en-US" dirty="0" err="1"/>
              <a:t>dass</a:t>
            </a:r>
            <a:r>
              <a:rPr lang="en-US" dirty="0"/>
              <a:t> </a:t>
            </a:r>
            <a:r>
              <a:rPr lang="en-US" dirty="0" err="1"/>
              <a:t>wir</a:t>
            </a:r>
            <a:r>
              <a:rPr lang="en-US" dirty="0"/>
              <a:t> </a:t>
            </a:r>
            <a:r>
              <a:rPr lang="en-US" dirty="0" err="1"/>
              <a:t>ein</a:t>
            </a:r>
            <a:r>
              <a:rPr lang="en-US" dirty="0"/>
              <a:t> </a:t>
            </a:r>
            <a:r>
              <a:rPr lang="en-US" dirty="0" err="1"/>
              <a:t>einziges</a:t>
            </a:r>
            <a:r>
              <a:rPr lang="en-US" dirty="0"/>
              <a:t> Wort </a:t>
            </a:r>
            <a:r>
              <a:rPr lang="en-US" dirty="0" err="1"/>
              <a:t>Dokumentation</a:t>
            </a:r>
            <a:r>
              <a:rPr lang="en-US" dirty="0"/>
              <a:t> von Hand </a:t>
            </a:r>
            <a:r>
              <a:rPr lang="en-US" dirty="0" err="1"/>
              <a:t>schreiben</a:t>
            </a:r>
            <a:r>
              <a:rPr lang="en-US" dirty="0"/>
              <a:t> </a:t>
            </a:r>
            <a:r>
              <a:rPr lang="en-US" dirty="0" err="1"/>
              <a:t>mussten</a:t>
            </a:r>
            <a:r>
              <a:rPr lang="en-US" dirty="0"/>
              <a:t>.</a:t>
            </a:r>
            <a:endParaRPr lang="en-US"/>
          </a:p>
          <a:p>
            <a:endParaRPr lang="en-US" dirty="0"/>
          </a:p>
          <a:p>
            <a:endParaRPr lang="en-US" dirty="0"/>
          </a:p>
        </p:txBody>
      </p:sp>
      <p:sp>
        <p:nvSpPr>
          <p:cNvPr id="4" name="Slide Number Placeholder 3">
            <a:extLst>
              <a:ext uri="{FF2B5EF4-FFF2-40B4-BE49-F238E27FC236}">
                <a16:creationId xmlns:a16="http://schemas.microsoft.com/office/drawing/2014/main" id="{29A9E43E-D3A7-5017-5135-33B0F00986C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649625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D0310-7DA9-9511-B8D2-52C43FC50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859EE-CFA8-23BF-E213-7E6F09D8C0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68CB9B-0E4B-C6DF-3E72-38F4B0390A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5D7DD7-B048-CD8C-A6E9-2F5651D7CA0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687318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33363-0F7D-CB22-7FFC-9B3699B9B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A341CE-7DD8-D37B-652D-EC80718283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788358-37C3-6C5A-4A2F-3D65ACCB0E0B}"/>
              </a:ext>
            </a:extLst>
          </p:cNvPr>
          <p:cNvSpPr>
            <a:spLocks noGrp="1"/>
          </p:cNvSpPr>
          <p:nvPr>
            <p:ph type="body" idx="1"/>
          </p:nvPr>
        </p:nvSpPr>
        <p:spPr/>
        <p:txBody>
          <a:bodyPr/>
          <a:lstStyle/>
          <a:p>
            <a:pPr marL="171450" indent="-171450">
              <a:buFont typeface="Arial"/>
              <a:buChar char="•"/>
            </a:pPr>
            <a:r>
              <a:rPr lang="en-US" b="1" dirty="0"/>
              <a:t>Das </a:t>
            </a:r>
            <a:r>
              <a:rPr lang="en-US" b="1" dirty="0" err="1"/>
              <a:t>Phänomen</a:t>
            </a:r>
            <a:r>
              <a:rPr lang="en-US" b="1" dirty="0"/>
              <a:t> der </a:t>
            </a:r>
            <a:r>
              <a:rPr lang="en-US" b="1" dirty="0" err="1"/>
              <a:t>Endlosschleife</a:t>
            </a:r>
            <a:r>
              <a:rPr lang="en-US" b="1" dirty="0"/>
              <a:t> </a:t>
            </a:r>
            <a:r>
              <a:rPr lang="en-US" dirty="0"/>
              <a:t>Beim </a:t>
            </a:r>
            <a:r>
              <a:rPr lang="en-US" dirty="0" err="1"/>
              <a:t>Aufruf</a:t>
            </a:r>
            <a:r>
              <a:rPr lang="en-US" dirty="0"/>
              <a:t> von </a:t>
            </a:r>
            <a:r>
              <a:rPr lang="en-US" dirty="0" err="1"/>
              <a:t>get_course_by_id</a:t>
            </a:r>
            <a:r>
              <a:rPr lang="en-US" dirty="0"/>
              <a:t> </a:t>
            </a:r>
            <a:r>
              <a:rPr lang="en-US" dirty="0" err="1"/>
              <a:t>fror</a:t>
            </a:r>
            <a:r>
              <a:rPr lang="en-US" dirty="0"/>
              <a:t> das </a:t>
            </a:r>
            <a:r>
              <a:rPr lang="en-US" dirty="0" err="1"/>
              <a:t>komplette</a:t>
            </a:r>
            <a:r>
              <a:rPr lang="en-US" dirty="0"/>
              <a:t> Backend </a:t>
            </a:r>
            <a:r>
              <a:rPr lang="en-US" dirty="0" err="1"/>
              <a:t>ein</a:t>
            </a:r>
            <a:r>
              <a:rPr lang="en-US" dirty="0"/>
              <a:t>. Es gab </a:t>
            </a:r>
            <a:r>
              <a:rPr lang="en-US" dirty="0" err="1"/>
              <a:t>keine</a:t>
            </a:r>
            <a:r>
              <a:rPr lang="en-US" dirty="0"/>
              <a:t> </a:t>
            </a:r>
            <a:r>
              <a:rPr lang="en-US" dirty="0" err="1"/>
              <a:t>Fehlermeldung</a:t>
            </a:r>
            <a:r>
              <a:rPr lang="en-US" dirty="0"/>
              <a:t>, </a:t>
            </a:r>
            <a:r>
              <a:rPr lang="en-US" dirty="0" err="1"/>
              <a:t>keinen</a:t>
            </a:r>
            <a:r>
              <a:rPr lang="en-US" dirty="0"/>
              <a:t> Crash – der Browser lud </a:t>
            </a:r>
            <a:r>
              <a:rPr lang="en-US" dirty="0" err="1"/>
              <a:t>einfach</a:t>
            </a:r>
            <a:r>
              <a:rPr lang="en-US" dirty="0"/>
              <a:t> </a:t>
            </a:r>
            <a:r>
              <a:rPr lang="en-US" dirty="0" err="1"/>
              <a:t>unendlich</a:t>
            </a:r>
            <a:r>
              <a:rPr lang="en-US" dirty="0"/>
              <a:t> </a:t>
            </a:r>
            <a:r>
              <a:rPr lang="en-US" dirty="0" err="1"/>
              <a:t>lange</a:t>
            </a:r>
            <a:r>
              <a:rPr lang="en-US" dirty="0"/>
              <a:t>. Per CTRL+C </a:t>
            </a:r>
            <a:r>
              <a:rPr lang="en-US" dirty="0" err="1"/>
              <a:t>abgebrochene</a:t>
            </a:r>
            <a:r>
              <a:rPr lang="en-US" dirty="0"/>
              <a:t> </a:t>
            </a:r>
            <a:r>
              <a:rPr lang="en-US" dirty="0" err="1"/>
              <a:t>lokale</a:t>
            </a:r>
            <a:r>
              <a:rPr lang="en-US" dirty="0"/>
              <a:t> Tests </a:t>
            </a:r>
            <a:r>
              <a:rPr lang="en-US" dirty="0" err="1"/>
              <a:t>lieferten</a:t>
            </a:r>
            <a:r>
              <a:rPr lang="en-US" dirty="0"/>
              <a:t> den Fehler ORA-01013 (User requested cancel). Das </a:t>
            </a:r>
            <a:r>
              <a:rPr lang="en-US" dirty="0" err="1"/>
              <a:t>bewies</a:t>
            </a:r>
            <a:r>
              <a:rPr lang="en-US" dirty="0"/>
              <a:t>: Python </a:t>
            </a:r>
            <a:r>
              <a:rPr lang="en-US" dirty="0" err="1"/>
              <a:t>hatte</a:t>
            </a:r>
            <a:r>
              <a:rPr lang="en-US" dirty="0"/>
              <a:t> die </a:t>
            </a:r>
            <a:r>
              <a:rPr lang="en-US" dirty="0" err="1"/>
              <a:t>Anfrage</a:t>
            </a:r>
            <a:r>
              <a:rPr lang="en-US" dirty="0"/>
              <a:t> </a:t>
            </a:r>
            <a:r>
              <a:rPr lang="en-US" dirty="0" err="1"/>
              <a:t>gesendet</a:t>
            </a:r>
            <a:r>
              <a:rPr lang="en-US" dirty="0"/>
              <a:t>, </a:t>
            </a:r>
            <a:r>
              <a:rPr lang="en-US" dirty="0" err="1"/>
              <a:t>aber</a:t>
            </a:r>
            <a:r>
              <a:rPr lang="en-US" dirty="0"/>
              <a:t> die Oracle-Engine </a:t>
            </a:r>
            <a:r>
              <a:rPr lang="en-US" dirty="0" err="1"/>
              <a:t>verarbeitete</a:t>
            </a:r>
            <a:r>
              <a:rPr lang="en-US" dirty="0"/>
              <a:t> </a:t>
            </a:r>
            <a:r>
              <a:rPr lang="en-US" dirty="0" err="1"/>
              <a:t>sie</a:t>
            </a:r>
            <a:r>
              <a:rPr lang="en-US" dirty="0"/>
              <a:t> nicht </a:t>
            </a:r>
            <a:r>
              <a:rPr lang="en-US" dirty="0" err="1"/>
              <a:t>weiter</a:t>
            </a:r>
            <a:r>
              <a:rPr lang="en-US" dirty="0"/>
              <a:t>.</a:t>
            </a:r>
          </a:p>
          <a:p>
            <a:pPr marL="171450" indent="-171450">
              <a:buFont typeface="Arial"/>
              <a:buChar char="•"/>
            </a:pPr>
            <a:endParaRPr lang="en-US" b="1" dirty="0"/>
          </a:p>
          <a:p>
            <a:pPr marL="171450" indent="-171450">
              <a:buFont typeface="Arial"/>
              <a:buChar char="•"/>
            </a:pPr>
            <a:r>
              <a:rPr lang="en-US" b="1" dirty="0"/>
              <a:t>Die Ursache </a:t>
            </a:r>
            <a:r>
              <a:rPr lang="en-US" dirty="0"/>
              <a:t>Wir </a:t>
            </a:r>
            <a:r>
              <a:rPr lang="en-US" dirty="0" err="1"/>
              <a:t>stießen</a:t>
            </a:r>
            <a:r>
              <a:rPr lang="en-US" dirty="0"/>
              <a:t> auf </a:t>
            </a:r>
            <a:r>
              <a:rPr lang="en-US" dirty="0" err="1"/>
              <a:t>einen</a:t>
            </a:r>
            <a:r>
              <a:rPr lang="en-US" dirty="0"/>
              <a:t> </a:t>
            </a:r>
            <a:r>
              <a:rPr lang="en-US" dirty="0" err="1"/>
              <a:t>tiefen</a:t>
            </a:r>
            <a:r>
              <a:rPr lang="en-US" dirty="0"/>
              <a:t> Software-Bug </a:t>
            </a:r>
            <a:r>
              <a:rPr lang="en-US" dirty="0" err="1"/>
              <a:t>im</a:t>
            </a:r>
            <a:r>
              <a:rPr lang="en-US" dirty="0"/>
              <a:t> </a:t>
            </a:r>
            <a:r>
              <a:rPr lang="en-US" dirty="0" err="1"/>
              <a:t>Zusammenspiel</a:t>
            </a:r>
            <a:r>
              <a:rPr lang="en-US" dirty="0"/>
              <a:t> </a:t>
            </a:r>
            <a:r>
              <a:rPr lang="en-US" dirty="0" err="1"/>
              <a:t>zwischen</a:t>
            </a:r>
            <a:r>
              <a:rPr lang="en-US" dirty="0"/>
              <a:t> dem Thin-Driver und </a:t>
            </a:r>
            <a:r>
              <a:rPr lang="en-US" dirty="0" err="1"/>
              <a:t>verpackten</a:t>
            </a:r>
            <a:r>
              <a:rPr lang="en-US" dirty="0"/>
              <a:t> PL/SQL-</a:t>
            </a:r>
            <a:r>
              <a:rPr lang="en-US" dirty="0" err="1"/>
              <a:t>Prozeduren</a:t>
            </a:r>
            <a:r>
              <a:rPr lang="en-US" dirty="0"/>
              <a:t>. Wenn </a:t>
            </a:r>
            <a:r>
              <a:rPr lang="en-US" dirty="0" err="1"/>
              <a:t>eine</a:t>
            </a:r>
            <a:r>
              <a:rPr lang="en-US" dirty="0"/>
              <a:t> </a:t>
            </a:r>
            <a:r>
              <a:rPr lang="en-US" dirty="0" err="1"/>
              <a:t>Prozedur</a:t>
            </a:r>
            <a:r>
              <a:rPr lang="en-US" dirty="0"/>
              <a:t> </a:t>
            </a:r>
            <a:r>
              <a:rPr lang="en-US" dirty="0" err="1"/>
              <a:t>gleichzeitig</a:t>
            </a:r>
            <a:r>
              <a:rPr lang="en-US" dirty="0"/>
              <a:t> </a:t>
            </a:r>
            <a:r>
              <a:rPr lang="en-US" dirty="0" err="1"/>
              <a:t>einen</a:t>
            </a:r>
            <a:r>
              <a:rPr lang="en-US" dirty="0"/>
              <a:t> IN-Parameter (die ID) und </a:t>
            </a:r>
            <a:r>
              <a:rPr lang="en-US" dirty="0" err="1"/>
              <a:t>einen</a:t>
            </a:r>
            <a:r>
              <a:rPr lang="en-US" dirty="0"/>
              <a:t> OUT-Parameter (den SYS_REFCURSOR) </a:t>
            </a:r>
            <a:r>
              <a:rPr lang="en-US" dirty="0" err="1"/>
              <a:t>erwartet</a:t>
            </a:r>
            <a:r>
              <a:rPr lang="en-US" dirty="0"/>
              <a:t>, </a:t>
            </a:r>
            <a:r>
              <a:rPr lang="en-US" dirty="0" err="1"/>
              <a:t>geraten</a:t>
            </a:r>
            <a:r>
              <a:rPr lang="en-US" dirty="0"/>
              <a:t> Python und Oracle in </a:t>
            </a:r>
            <a:r>
              <a:rPr lang="en-US" dirty="0" err="1"/>
              <a:t>eine</a:t>
            </a:r>
            <a:r>
              <a:rPr lang="en-US" dirty="0"/>
              <a:t> </a:t>
            </a:r>
            <a:r>
              <a:rPr lang="en-US" dirty="0" err="1"/>
              <a:t>unendliche</a:t>
            </a:r>
            <a:r>
              <a:rPr lang="en-US" dirty="0"/>
              <a:t> "</a:t>
            </a:r>
            <a:r>
              <a:rPr lang="en-US" dirty="0" err="1"/>
              <a:t>Wer</a:t>
            </a:r>
            <a:r>
              <a:rPr lang="en-US" dirty="0"/>
              <a:t>-</a:t>
            </a:r>
            <a:r>
              <a:rPr lang="en-US" dirty="0" err="1"/>
              <a:t>fängt</a:t>
            </a:r>
            <a:r>
              <a:rPr lang="en-US" dirty="0"/>
              <a:t>-an"-</a:t>
            </a:r>
            <a:r>
              <a:rPr lang="en-US" dirty="0" err="1"/>
              <a:t>Verhandlung</a:t>
            </a:r>
            <a:r>
              <a:rPr lang="en-US" dirty="0"/>
              <a:t> </a:t>
            </a:r>
            <a:r>
              <a:rPr lang="en-US" dirty="0" err="1"/>
              <a:t>über</a:t>
            </a:r>
            <a:r>
              <a:rPr lang="en-US" dirty="0"/>
              <a:t> die </a:t>
            </a:r>
            <a:r>
              <a:rPr lang="en-US" dirty="0" err="1"/>
              <a:t>Datenstruktur</a:t>
            </a:r>
            <a:r>
              <a:rPr lang="en-US" dirty="0"/>
              <a:t> (Metadata Negotiation). Keiner </a:t>
            </a:r>
            <a:r>
              <a:rPr lang="en-US" dirty="0" err="1"/>
              <a:t>antwortete</a:t>
            </a:r>
            <a:r>
              <a:rPr lang="en-US" dirty="0"/>
              <a:t> </a:t>
            </a:r>
            <a:r>
              <a:rPr lang="en-US" dirty="0" err="1"/>
              <a:t>mehr</a:t>
            </a:r>
            <a:r>
              <a:rPr lang="en-US" dirty="0"/>
              <a:t>.</a:t>
            </a:r>
          </a:p>
          <a:p>
            <a:endParaRPr lang="en-US" dirty="0"/>
          </a:p>
          <a:p>
            <a:pPr marL="171450" indent="-171450">
              <a:buFont typeface="Arial"/>
              <a:buChar char="•"/>
            </a:pPr>
            <a:r>
              <a:rPr lang="en-US" b="1" dirty="0"/>
              <a:t>Die "Raw SQL"-Alternative für </a:t>
            </a:r>
            <a:r>
              <a:rPr lang="en-US" b="1" dirty="0" err="1"/>
              <a:t>maximale</a:t>
            </a:r>
            <a:r>
              <a:rPr lang="en-US" b="1" dirty="0"/>
              <a:t> </a:t>
            </a:r>
            <a:r>
              <a:rPr lang="en-US" b="1" dirty="0" err="1"/>
              <a:t>Stabilität</a:t>
            </a:r>
            <a:r>
              <a:rPr lang="en-US" b="1" dirty="0"/>
              <a:t>:</a:t>
            </a:r>
            <a:r>
              <a:rPr lang="en-US" dirty="0"/>
              <a:t> Für die </a:t>
            </a:r>
            <a:r>
              <a:rPr lang="en-US" dirty="0" err="1"/>
              <a:t>absolut</a:t>
            </a:r>
            <a:r>
              <a:rPr lang="en-US" dirty="0"/>
              <a:t> </a:t>
            </a:r>
            <a:r>
              <a:rPr lang="en-US" dirty="0" err="1"/>
              <a:t>ausfallsichere</a:t>
            </a:r>
            <a:r>
              <a:rPr lang="en-US" dirty="0"/>
              <a:t> Produktion </a:t>
            </a:r>
            <a:r>
              <a:rPr lang="en-US" dirty="0" err="1"/>
              <a:t>haben</a:t>
            </a:r>
            <a:r>
              <a:rPr lang="en-US" dirty="0"/>
              <a:t> </a:t>
            </a:r>
            <a:r>
              <a:rPr lang="en-US" dirty="0" err="1"/>
              <a:t>wir</a:t>
            </a:r>
            <a:r>
              <a:rPr lang="en-US" dirty="0"/>
              <a:t> </a:t>
            </a:r>
            <a:r>
              <a:rPr lang="en-US" dirty="0" err="1"/>
              <a:t>gelernt</a:t>
            </a:r>
            <a:r>
              <a:rPr lang="en-US" dirty="0"/>
              <a:t>, </a:t>
            </a:r>
            <a:r>
              <a:rPr lang="en-US" dirty="0" err="1"/>
              <a:t>wie</a:t>
            </a:r>
            <a:r>
              <a:rPr lang="en-US" dirty="0"/>
              <a:t> man die PL/SQL-</a:t>
            </a:r>
            <a:r>
              <a:rPr lang="en-US" dirty="0" err="1"/>
              <a:t>Pakete</a:t>
            </a:r>
            <a:r>
              <a:rPr lang="en-US" dirty="0"/>
              <a:t> </a:t>
            </a:r>
            <a:r>
              <a:rPr lang="en-US" dirty="0" err="1"/>
              <a:t>bei</a:t>
            </a:r>
            <a:r>
              <a:rPr lang="en-US" dirty="0"/>
              <a:t> </a:t>
            </a:r>
            <a:r>
              <a:rPr lang="en-US" dirty="0" err="1"/>
              <a:t>reinen</a:t>
            </a:r>
            <a:r>
              <a:rPr lang="en-US" dirty="0"/>
              <a:t> ID-Lookups </a:t>
            </a:r>
            <a:r>
              <a:rPr lang="en-US" dirty="0" err="1"/>
              <a:t>komplett</a:t>
            </a:r>
            <a:r>
              <a:rPr lang="en-US" dirty="0"/>
              <a:t> </a:t>
            </a:r>
            <a:r>
              <a:rPr lang="en-US" dirty="0" err="1"/>
              <a:t>umgeht</a:t>
            </a:r>
            <a:r>
              <a:rPr lang="en-US" dirty="0"/>
              <a:t> und </a:t>
            </a:r>
            <a:r>
              <a:rPr lang="en-US" dirty="0" err="1"/>
              <a:t>stattdessen</a:t>
            </a:r>
            <a:r>
              <a:rPr lang="en-US" dirty="0"/>
              <a:t> </a:t>
            </a:r>
            <a:r>
              <a:rPr lang="en-US" dirty="0" err="1"/>
              <a:t>direkte</a:t>
            </a:r>
            <a:r>
              <a:rPr lang="en-US" dirty="0"/>
              <a:t>, native SQL-</a:t>
            </a:r>
            <a:r>
              <a:rPr lang="en-US" dirty="0" err="1"/>
              <a:t>Anfragen</a:t>
            </a:r>
            <a:r>
              <a:rPr lang="en-US" dirty="0"/>
              <a:t> (SELECT id, title... FROM "COURSE" WHERE id = :1) </a:t>
            </a:r>
            <a:r>
              <a:rPr lang="en-US" dirty="0" err="1"/>
              <a:t>über</a:t>
            </a:r>
            <a:r>
              <a:rPr lang="en-US" dirty="0"/>
              <a:t> </a:t>
            </a:r>
            <a:r>
              <a:rPr lang="en-US" dirty="0" err="1"/>
              <a:t>cursor.execute</a:t>
            </a:r>
            <a:r>
              <a:rPr lang="en-US" dirty="0"/>
              <a:t> </a:t>
            </a:r>
            <a:r>
              <a:rPr lang="en-US" dirty="0" err="1"/>
              <a:t>schickt</a:t>
            </a:r>
            <a:r>
              <a:rPr lang="en-US" dirty="0"/>
              <a:t>. Da </a:t>
            </a:r>
            <a:r>
              <a:rPr lang="en-US" dirty="0" err="1"/>
              <a:t>hierbei</a:t>
            </a:r>
            <a:r>
              <a:rPr lang="en-US" dirty="0"/>
              <a:t> </a:t>
            </a:r>
            <a:r>
              <a:rPr lang="en-US" dirty="0" err="1"/>
              <a:t>keine</a:t>
            </a:r>
            <a:r>
              <a:rPr lang="en-US" dirty="0"/>
              <a:t> PL/SQL-Cursor-</a:t>
            </a:r>
            <a:r>
              <a:rPr lang="en-US" dirty="0" err="1"/>
              <a:t>Metadaten</a:t>
            </a:r>
            <a:r>
              <a:rPr lang="en-US" dirty="0"/>
              <a:t> </a:t>
            </a:r>
            <a:r>
              <a:rPr lang="en-US" dirty="0" err="1"/>
              <a:t>verhandelt</a:t>
            </a:r>
            <a:r>
              <a:rPr lang="en-US" dirty="0"/>
              <a:t> </a:t>
            </a:r>
            <a:r>
              <a:rPr lang="en-US" dirty="0" err="1"/>
              <a:t>werden</a:t>
            </a:r>
            <a:r>
              <a:rPr lang="en-US" dirty="0"/>
              <a:t> </a:t>
            </a:r>
            <a:r>
              <a:rPr lang="en-US" dirty="0" err="1"/>
              <a:t>müssen</a:t>
            </a:r>
            <a:r>
              <a:rPr lang="en-US" dirty="0"/>
              <a:t>, </a:t>
            </a:r>
            <a:r>
              <a:rPr lang="en-US" dirty="0" err="1"/>
              <a:t>läuft</a:t>
            </a:r>
            <a:r>
              <a:rPr lang="en-US" dirty="0"/>
              <a:t> die </a:t>
            </a:r>
            <a:r>
              <a:rPr lang="en-US" dirty="0" err="1"/>
              <a:t>Abfrage</a:t>
            </a:r>
            <a:r>
              <a:rPr lang="en-US" dirty="0"/>
              <a:t> in </a:t>
            </a:r>
            <a:r>
              <a:rPr lang="en-US" dirty="0" err="1"/>
              <a:t>Millisekunden</a:t>
            </a:r>
            <a:r>
              <a:rPr lang="en-US" dirty="0"/>
              <a:t> </a:t>
            </a:r>
            <a:r>
              <a:rPr lang="en-US" dirty="0" err="1"/>
              <a:t>durch</a:t>
            </a:r>
            <a:r>
              <a:rPr lang="en-US" dirty="0"/>
              <a:t>.</a:t>
            </a:r>
          </a:p>
          <a:p>
            <a:endParaRPr lang="en-US" dirty="0"/>
          </a:p>
          <a:p>
            <a:pPr marL="171450" indent="-171450">
              <a:buFont typeface="Arial"/>
              <a:buChar char="•"/>
            </a:pPr>
            <a:r>
              <a:rPr lang="en-US" b="1" dirty="0"/>
              <a:t>Das </a:t>
            </a:r>
            <a:r>
              <a:rPr lang="en-US" b="1" dirty="0" err="1"/>
              <a:t>saubere</a:t>
            </a:r>
            <a:r>
              <a:rPr lang="en-US" b="1" dirty="0"/>
              <a:t> Connection Pooling (try...finally):</a:t>
            </a:r>
            <a:r>
              <a:rPr lang="en-US" dirty="0"/>
              <a:t> </a:t>
            </a:r>
            <a:r>
              <a:rPr lang="en-US" dirty="0" err="1"/>
              <a:t>Jeder</a:t>
            </a:r>
            <a:r>
              <a:rPr lang="en-US" dirty="0"/>
              <a:t> </a:t>
            </a:r>
            <a:r>
              <a:rPr lang="en-US" dirty="0" err="1"/>
              <a:t>einzelne</a:t>
            </a:r>
            <a:r>
              <a:rPr lang="en-US" dirty="0"/>
              <a:t> </a:t>
            </a:r>
            <a:r>
              <a:rPr lang="en-US" dirty="0" err="1"/>
              <a:t>Datenbankaufruf</a:t>
            </a:r>
            <a:r>
              <a:rPr lang="en-US" dirty="0"/>
              <a:t> </a:t>
            </a:r>
            <a:r>
              <a:rPr lang="en-US" dirty="0" err="1"/>
              <a:t>wurde</a:t>
            </a:r>
            <a:r>
              <a:rPr lang="en-US" dirty="0"/>
              <a:t> </a:t>
            </a:r>
            <a:r>
              <a:rPr lang="en-US" dirty="0" err="1"/>
              <a:t>konsequent</a:t>
            </a:r>
            <a:r>
              <a:rPr lang="en-US" dirty="0"/>
              <a:t> in </a:t>
            </a:r>
            <a:r>
              <a:rPr lang="en-US" dirty="0" err="1"/>
              <a:t>einen</a:t>
            </a:r>
            <a:r>
              <a:rPr lang="en-US" dirty="0"/>
              <a:t> try...finally-Block </a:t>
            </a:r>
            <a:r>
              <a:rPr lang="en-US" dirty="0" err="1"/>
              <a:t>eingepackt</a:t>
            </a:r>
            <a:r>
              <a:rPr lang="en-US" dirty="0"/>
              <a:t>. </a:t>
            </a:r>
            <a:r>
              <a:rPr lang="en-US" dirty="0" err="1"/>
              <a:t>Unabhängig</a:t>
            </a:r>
            <a:r>
              <a:rPr lang="en-US" dirty="0"/>
              <a:t> </a:t>
            </a:r>
            <a:r>
              <a:rPr lang="en-US" dirty="0" err="1"/>
              <a:t>davon</a:t>
            </a:r>
            <a:r>
              <a:rPr lang="en-US" dirty="0"/>
              <a:t>, </a:t>
            </a:r>
            <a:r>
              <a:rPr lang="en-US" dirty="0" err="1"/>
              <a:t>ob</a:t>
            </a:r>
            <a:r>
              <a:rPr lang="en-US" dirty="0"/>
              <a:t> die </a:t>
            </a:r>
            <a:r>
              <a:rPr lang="en-US" dirty="0" err="1"/>
              <a:t>Abfrage</a:t>
            </a:r>
            <a:r>
              <a:rPr lang="en-US" dirty="0"/>
              <a:t> </a:t>
            </a:r>
            <a:r>
              <a:rPr lang="en-US" dirty="0" err="1"/>
              <a:t>erfolgreich</a:t>
            </a:r>
            <a:r>
              <a:rPr lang="en-US" dirty="0"/>
              <a:t> </a:t>
            </a:r>
            <a:r>
              <a:rPr lang="en-US" dirty="0" err="1"/>
              <a:t>ist</a:t>
            </a:r>
            <a:r>
              <a:rPr lang="en-US" dirty="0"/>
              <a:t> </a:t>
            </a:r>
            <a:r>
              <a:rPr lang="en-US" dirty="0" err="1"/>
              <a:t>oder</a:t>
            </a:r>
            <a:r>
              <a:rPr lang="en-US" dirty="0"/>
              <a:t> </a:t>
            </a:r>
            <a:r>
              <a:rPr lang="en-US" dirty="0" err="1"/>
              <a:t>abstürzt</a:t>
            </a:r>
            <a:r>
              <a:rPr lang="en-US" dirty="0"/>
              <a:t>, </a:t>
            </a:r>
            <a:r>
              <a:rPr lang="en-US" dirty="0" err="1"/>
              <a:t>wird</a:t>
            </a:r>
            <a:r>
              <a:rPr lang="en-US" dirty="0"/>
              <a:t> die </a:t>
            </a:r>
            <a:r>
              <a:rPr lang="en-US" dirty="0" err="1"/>
              <a:t>wertvolle</a:t>
            </a:r>
            <a:r>
              <a:rPr lang="en-US" dirty="0"/>
              <a:t> </a:t>
            </a:r>
            <a:r>
              <a:rPr lang="en-US" dirty="0" err="1"/>
              <a:t>Datenbankverbindung</a:t>
            </a:r>
            <a:r>
              <a:rPr lang="en-US" dirty="0"/>
              <a:t> </a:t>
            </a:r>
            <a:r>
              <a:rPr lang="en-US" dirty="0" err="1"/>
              <a:t>über</a:t>
            </a:r>
            <a:r>
              <a:rPr lang="en-US" dirty="0"/>
              <a:t> </a:t>
            </a:r>
            <a:r>
              <a:rPr lang="en-US" dirty="0" err="1"/>
              <a:t>self.db_manager.release</a:t>
            </a:r>
            <a:r>
              <a:rPr lang="en-US" dirty="0"/>
              <a:t>(conn) </a:t>
            </a:r>
            <a:r>
              <a:rPr lang="en-US" i="1" dirty="0"/>
              <a:t>immer</a:t>
            </a:r>
            <a:r>
              <a:rPr lang="en-US" dirty="0"/>
              <a:t> </a:t>
            </a:r>
            <a:r>
              <a:rPr lang="en-US" dirty="0" err="1"/>
              <a:t>garantiert</a:t>
            </a:r>
            <a:r>
              <a:rPr lang="en-US" dirty="0"/>
              <a:t> an den Pool </a:t>
            </a:r>
            <a:r>
              <a:rPr lang="en-US" dirty="0" err="1"/>
              <a:t>zurückgegeben</a:t>
            </a:r>
            <a:r>
              <a:rPr lang="en-US" dirty="0"/>
              <a:t>. Das </a:t>
            </a:r>
            <a:r>
              <a:rPr lang="en-US" dirty="0" err="1"/>
              <a:t>verhindert</a:t>
            </a:r>
            <a:r>
              <a:rPr lang="en-US" dirty="0"/>
              <a:t> das </a:t>
            </a:r>
            <a:r>
              <a:rPr lang="en-US" dirty="0" err="1"/>
              <a:t>unbemerktes</a:t>
            </a:r>
            <a:r>
              <a:rPr lang="en-US" dirty="0"/>
              <a:t> "</a:t>
            </a:r>
            <a:r>
              <a:rPr lang="en-US" dirty="0" err="1"/>
              <a:t>Ausbluten</a:t>
            </a:r>
            <a:r>
              <a:rPr lang="en-US" dirty="0"/>
              <a:t>" (Connection Leakage) des Backends.</a:t>
            </a:r>
          </a:p>
          <a:p>
            <a:endParaRPr lang="en-US" dirty="0"/>
          </a:p>
        </p:txBody>
      </p:sp>
      <p:sp>
        <p:nvSpPr>
          <p:cNvPr id="4" name="Slide Number Placeholder 3">
            <a:extLst>
              <a:ext uri="{FF2B5EF4-FFF2-40B4-BE49-F238E27FC236}">
                <a16:creationId xmlns:a16="http://schemas.microsoft.com/office/drawing/2014/main" id="{F42C328C-F760-D4C0-885F-5E1886D05927}"/>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8490056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E9DC6-CC63-D0B7-DA85-8AA2F35FD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B5BDB-0A66-23E6-63FF-0A259840B8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9111B-4A31-0C73-26A0-73BE625AF6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0A4DC3-FB21-DBDA-5E55-557D896054D1}"/>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7018756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E4762-77A1-50C1-001D-BB4E39C61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94E97-FCAA-D812-42B0-AF801B32BF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B13850-6C02-0C7A-F30A-FF048EF24ABB}"/>
              </a:ext>
            </a:extLst>
          </p:cNvPr>
          <p:cNvSpPr>
            <a:spLocks noGrp="1"/>
          </p:cNvSpPr>
          <p:nvPr>
            <p:ph type="body" idx="1"/>
          </p:nvPr>
        </p:nvSpPr>
        <p:spPr/>
        <p:txBody>
          <a:bodyPr/>
          <a:lstStyle/>
          <a:p>
            <a:r>
              <a:rPr lang="en-US" dirty="0"/>
              <a:t>Die </a:t>
            </a:r>
            <a:r>
              <a:rPr lang="en-US" dirty="0" err="1"/>
              <a:t>Datenserialisierung</a:t>
            </a:r>
            <a:r>
              <a:rPr lang="en-US" dirty="0"/>
              <a:t> </a:t>
            </a:r>
            <a:r>
              <a:rPr lang="en-US" dirty="0" err="1"/>
              <a:t>erfolgt</a:t>
            </a:r>
            <a:r>
              <a:rPr lang="en-US" dirty="0"/>
              <a:t> </a:t>
            </a:r>
            <a:r>
              <a:rPr lang="en-US" dirty="0" err="1"/>
              <a:t>durch</a:t>
            </a:r>
            <a:r>
              <a:rPr lang="en-US" dirty="0"/>
              <a:t> die </a:t>
            </a:r>
            <a:r>
              <a:rPr lang="en-US" dirty="0" err="1"/>
              <a:t>Abbildung</a:t>
            </a:r>
            <a:r>
              <a:rPr lang="en-US" dirty="0"/>
              <a:t> der </a:t>
            </a:r>
            <a:r>
              <a:rPr lang="en-US" dirty="0" err="1"/>
              <a:t>Datenbankfelder</a:t>
            </a:r>
            <a:r>
              <a:rPr lang="en-US" dirty="0"/>
              <a:t> auf </a:t>
            </a:r>
            <a:r>
              <a:rPr lang="en-US" dirty="0" err="1"/>
              <a:t>einen</a:t>
            </a:r>
            <a:r>
              <a:rPr lang="en-US" dirty="0"/>
              <a:t> </a:t>
            </a:r>
            <a:r>
              <a:rPr lang="en-US" dirty="0" err="1"/>
              <a:t>benutzerdefinierten</a:t>
            </a:r>
            <a:r>
              <a:rPr lang="en-US" dirty="0"/>
              <a:t> </a:t>
            </a:r>
            <a:r>
              <a:rPr lang="en-US" dirty="0" err="1"/>
              <a:t>Typ</a:t>
            </a:r>
            <a:r>
              <a:rPr lang="en-US" dirty="0"/>
              <a:t> in Python.  Dieser </a:t>
            </a:r>
            <a:r>
              <a:rPr lang="en-US" dirty="0" err="1"/>
              <a:t>benutzerdefinierte</a:t>
            </a:r>
            <a:r>
              <a:rPr lang="en-US" dirty="0"/>
              <a:t> </a:t>
            </a:r>
            <a:r>
              <a:rPr lang="en-US" dirty="0" err="1"/>
              <a:t>Typ</a:t>
            </a:r>
            <a:r>
              <a:rPr lang="en-US" dirty="0"/>
              <a:t> </a:t>
            </a:r>
            <a:r>
              <a:rPr lang="en-US" dirty="0" err="1"/>
              <a:t>kann</a:t>
            </a:r>
            <a:r>
              <a:rPr lang="en-US" dirty="0"/>
              <a:t> </a:t>
            </a:r>
            <a:r>
              <a:rPr lang="en-US" dirty="0" err="1"/>
              <a:t>dann</a:t>
            </a:r>
            <a:r>
              <a:rPr lang="en-US" dirty="0"/>
              <a:t> </a:t>
            </a:r>
            <a:r>
              <a:rPr lang="en-US" dirty="0" err="1"/>
              <a:t>zum</a:t>
            </a:r>
            <a:r>
              <a:rPr lang="en-US" dirty="0"/>
              <a:t> Marshalling </a:t>
            </a:r>
            <a:r>
              <a:rPr lang="en-US" dirty="0" err="1"/>
              <a:t>unserer</a:t>
            </a:r>
            <a:r>
              <a:rPr lang="en-US" dirty="0"/>
              <a:t> API-JSON-</a:t>
            </a:r>
            <a:r>
              <a:rPr lang="en-US" dirty="0" err="1"/>
              <a:t>Endpunkte</a:t>
            </a:r>
            <a:r>
              <a:rPr lang="en-US" dirty="0"/>
              <a:t> </a:t>
            </a:r>
            <a:r>
              <a:rPr lang="en-US" dirty="0" err="1"/>
              <a:t>verwendet</a:t>
            </a:r>
            <a:r>
              <a:rPr lang="en-US" dirty="0"/>
              <a:t> </a:t>
            </a:r>
            <a:r>
              <a:rPr lang="en-US" dirty="0" err="1"/>
              <a:t>werden</a:t>
            </a:r>
            <a:r>
              <a:rPr lang="en-US" dirty="0"/>
              <a:t> und </a:t>
            </a:r>
            <a:r>
              <a:rPr lang="en-US" dirty="0" err="1"/>
              <a:t>verleiht</a:t>
            </a:r>
            <a:r>
              <a:rPr lang="en-US" dirty="0"/>
              <a:t> </a:t>
            </a:r>
            <a:r>
              <a:rPr lang="en-US" dirty="0" err="1"/>
              <a:t>unseren</a:t>
            </a:r>
            <a:r>
              <a:rPr lang="en-US" dirty="0"/>
              <a:t> </a:t>
            </a:r>
            <a:r>
              <a:rPr lang="en-US" dirty="0" err="1"/>
              <a:t>Datenobjekten</a:t>
            </a:r>
            <a:r>
              <a:rPr lang="en-US" dirty="0"/>
              <a:t> </a:t>
            </a:r>
            <a:r>
              <a:rPr lang="en-US" dirty="0" err="1"/>
              <a:t>eine</a:t>
            </a:r>
            <a:r>
              <a:rPr lang="en-US" dirty="0"/>
              <a:t> </a:t>
            </a:r>
            <a:r>
              <a:rPr lang="en-US" dirty="0" err="1"/>
              <a:t>definierte</a:t>
            </a:r>
            <a:r>
              <a:rPr lang="en-US" dirty="0"/>
              <a:t> </a:t>
            </a:r>
            <a:r>
              <a:rPr lang="en-US" dirty="0" err="1"/>
              <a:t>Struktur</a:t>
            </a:r>
          </a:p>
        </p:txBody>
      </p:sp>
      <p:sp>
        <p:nvSpPr>
          <p:cNvPr id="4" name="Slide Number Placeholder 3">
            <a:extLst>
              <a:ext uri="{FF2B5EF4-FFF2-40B4-BE49-F238E27FC236}">
                <a16:creationId xmlns:a16="http://schemas.microsoft.com/office/drawing/2014/main" id="{5AC5D656-5282-29ED-A3A5-B34F1B69C9F3}"/>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7845013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5CECF-16E8-3ECA-A9C8-F37870929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B9E2B3-BC73-FACB-705B-1E5EA489F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20400D-242B-8784-DD95-8EF349CA0E8C}"/>
              </a:ext>
            </a:extLst>
          </p:cNvPr>
          <p:cNvSpPr>
            <a:spLocks noGrp="1"/>
          </p:cNvSpPr>
          <p:nvPr>
            <p:ph type="body" idx="1"/>
          </p:nvPr>
        </p:nvSpPr>
        <p:spPr/>
        <p:txBody>
          <a:bodyPr/>
          <a:lstStyle/>
          <a:p>
            <a:r>
              <a:rPr lang="en-US" dirty="0"/>
              <a:t>Die </a:t>
            </a:r>
            <a:r>
              <a:rPr lang="en-US" dirty="0" err="1"/>
              <a:t>Struktur</a:t>
            </a:r>
            <a:r>
              <a:rPr lang="en-US" dirty="0"/>
              <a:t> </a:t>
            </a:r>
            <a:r>
              <a:rPr lang="en-US" dirty="0" err="1"/>
              <a:t>befindet</a:t>
            </a:r>
            <a:r>
              <a:rPr lang="en-US" dirty="0"/>
              <a:t> </a:t>
            </a:r>
            <a:r>
              <a:rPr lang="en-US" dirty="0" err="1"/>
              <a:t>sich</a:t>
            </a:r>
            <a:r>
              <a:rPr lang="en-US" dirty="0"/>
              <a:t> in </a:t>
            </a:r>
            <a:r>
              <a:rPr lang="en-US" dirty="0" err="1"/>
              <a:t>unserer</a:t>
            </a:r>
            <a:r>
              <a:rPr lang="en-US" dirty="0"/>
              <a:t> swagger </a:t>
            </a:r>
            <a:r>
              <a:rPr lang="en-US" dirty="0" err="1"/>
              <a:t>seite</a:t>
            </a:r>
            <a:r>
              <a:rPr lang="en-US" dirty="0"/>
              <a:t> und </a:t>
            </a:r>
            <a:r>
              <a:rPr lang="en-US" dirty="0" err="1"/>
              <a:t>auch</a:t>
            </a:r>
            <a:r>
              <a:rPr lang="en-US" dirty="0"/>
              <a:t> in </a:t>
            </a:r>
            <a:r>
              <a:rPr lang="en-US" dirty="0" err="1"/>
              <a:t>einem</a:t>
            </a:r>
            <a:r>
              <a:rPr lang="en-US" dirty="0"/>
              <a:t> JSON format </a:t>
            </a:r>
            <a:r>
              <a:rPr lang="en-US" dirty="0" err="1"/>
              <a:t>fuer</a:t>
            </a:r>
            <a:r>
              <a:rPr lang="en-US" dirty="0"/>
              <a:t> </a:t>
            </a:r>
            <a:r>
              <a:rPr lang="en-US" dirty="0" err="1"/>
              <a:t>einfaches</a:t>
            </a:r>
            <a:r>
              <a:rPr lang="en-US" dirty="0"/>
              <a:t> parsing und </a:t>
            </a:r>
            <a:r>
              <a:rPr lang="en-US" dirty="0" err="1"/>
              <a:t>zukunftige</a:t>
            </a:r>
            <a:r>
              <a:rPr lang="en-US" dirty="0"/>
              <a:t> API </a:t>
            </a:r>
            <a:r>
              <a:rPr lang="en-US" dirty="0" err="1"/>
              <a:t>anknuepfungen</a:t>
            </a:r>
          </a:p>
        </p:txBody>
      </p:sp>
      <p:sp>
        <p:nvSpPr>
          <p:cNvPr id="4" name="Slide Number Placeholder 3">
            <a:extLst>
              <a:ext uri="{FF2B5EF4-FFF2-40B4-BE49-F238E27FC236}">
                <a16:creationId xmlns:a16="http://schemas.microsoft.com/office/drawing/2014/main" id="{2881D55C-EEC0-A267-D448-35D81FCCE1A8}"/>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699823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Wichtigste Folie im Backendteil. Ehrlich erzählen. ORDS war von Anfang an dabei. Wir haben es nicht zum Laufen bekommen. Wir haben es sein gelassen, weil zu viele Probleme. Wir lassen es offen für die Nachfolger.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C47F-C65A-589E-67DF-2433C0DF9E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FBF06-A7AE-08D1-1258-AE323EB83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DE6BC4-9726-9A13-3F8D-57C84375B6CA}"/>
              </a:ext>
            </a:extLst>
          </p:cNvPr>
          <p:cNvSpPr>
            <a:spLocks noGrp="1"/>
          </p:cNvSpPr>
          <p:nvPr>
            <p:ph type="body" idx="1"/>
          </p:nvPr>
        </p:nvSpPr>
        <p:spPr/>
        <p:txBody>
          <a:bodyPr/>
          <a:lstStyle/>
          <a:p>
            <a:r>
              <a:rPr lang="en-US" dirty="0"/>
              <a:t>Drei </a:t>
            </a:r>
            <a:r>
              <a:rPr lang="en-US" dirty="0" err="1"/>
              <a:t>große</a:t>
            </a:r>
            <a:r>
              <a:rPr lang="en-US" dirty="0"/>
              <a:t> Brocken die </a:t>
            </a:r>
            <a:r>
              <a:rPr lang="en-US" dirty="0" err="1"/>
              <a:t>fehlen</a:t>
            </a:r>
            <a:r>
              <a:rPr lang="en-US" dirty="0"/>
              <a:t>. PDF </a:t>
            </a:r>
            <a:r>
              <a:rPr lang="en-US" dirty="0" err="1"/>
              <a:t>Erstellung</a:t>
            </a:r>
            <a:r>
              <a:rPr lang="en-US" dirty="0"/>
              <a:t>, KI </a:t>
            </a:r>
            <a:r>
              <a:rPr lang="en-US" dirty="0" err="1"/>
              <a:t>Anbindung</a:t>
            </a:r>
            <a:r>
              <a:rPr lang="en-US" dirty="0"/>
              <a:t> und </a:t>
            </a:r>
            <a:r>
              <a:rPr lang="en-US" dirty="0" err="1"/>
              <a:t>mehr</a:t>
            </a:r>
            <a:r>
              <a:rPr lang="en-US" dirty="0"/>
              <a:t> API Routen. </a:t>
            </a:r>
            <a:r>
              <a:rPr lang="en-US" dirty="0" err="1"/>
              <a:t>Jeder</a:t>
            </a:r>
            <a:r>
              <a:rPr lang="en-US" dirty="0"/>
              <a:t> Brocken </a:t>
            </a:r>
            <a:r>
              <a:rPr lang="en-US" dirty="0" err="1"/>
              <a:t>ist</a:t>
            </a:r>
            <a:r>
              <a:rPr lang="en-US" dirty="0"/>
              <a:t> </a:t>
            </a:r>
            <a:r>
              <a:rPr lang="en-US" dirty="0" err="1"/>
              <a:t>ein</a:t>
            </a:r>
            <a:r>
              <a:rPr lang="en-US" dirty="0"/>
              <a:t> </a:t>
            </a:r>
            <a:r>
              <a:rPr lang="en-US" dirty="0" err="1"/>
              <a:t>eigenes</a:t>
            </a:r>
            <a:r>
              <a:rPr lang="en-US" dirty="0"/>
              <a:t> Modul für die </a:t>
            </a:r>
            <a:r>
              <a:rPr lang="en-US" dirty="0" err="1"/>
              <a:t>nächste</a:t>
            </a:r>
            <a:r>
              <a:rPr lang="en-US" dirty="0"/>
              <a:t> Klasse. </a:t>
            </a:r>
            <a:r>
              <a:rPr lang="en-US" dirty="0" err="1"/>
              <a:t>Übergabe</a:t>
            </a:r>
            <a:r>
              <a:rPr lang="en-US" dirty="0"/>
              <a:t> an Tim für die </a:t>
            </a:r>
            <a:r>
              <a:rPr lang="en-US" dirty="0" err="1"/>
              <a:t>Datenbank</a:t>
            </a:r>
            <a:r>
              <a:rPr lang="en-US" dirty="0"/>
              <a:t>.</a:t>
            </a:r>
          </a:p>
          <a:p>
            <a:endParaRPr lang="en-US" dirty="0"/>
          </a:p>
        </p:txBody>
      </p:sp>
      <p:sp>
        <p:nvSpPr>
          <p:cNvPr id="4" name="Slide Number Placeholder 3">
            <a:extLst>
              <a:ext uri="{FF2B5EF4-FFF2-40B4-BE49-F238E27FC236}">
                <a16:creationId xmlns:a16="http://schemas.microsoft.com/office/drawing/2014/main" id="{60D984F8-8143-E339-E788-2C7F6600BC1B}"/>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0926826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Übergang von Marco. Du machst den unsichtbaren Teil greifbar. Was wird gespeichert, wie ist es organisiert.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Die sechs Brocken kurz nennen, nicht im Detail erklären. Reihenfolge bewusst gewählt. Punkt 1 baut auf was wir schon haben. PDF und KI sind die großen sichtbaren Themen. ORDS bewusst als offene Entscheidung. Übergabe an die Fragerunde.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Bühne frei für Fragen. Wer antwortet, schaut zum entsprechenden Teilthema. Sonst antworten alle drei.</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9598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7680960" y="1371600"/>
            <a:ext cx="4114800" cy="3931920"/>
          </a:xfrm>
          <a:prstGeom prst="rect">
            <a:avLst/>
          </a:prstGeom>
        </p:spPr>
      </p:pic>
      <p:sp>
        <p:nvSpPr>
          <p:cNvPr id="3" name="Shape 0"/>
          <p:cNvSpPr/>
          <p:nvPr/>
        </p:nvSpPr>
        <p:spPr>
          <a:xfrm>
            <a:off x="822960" y="1828800"/>
            <a:ext cx="365760" cy="365760"/>
          </a:xfrm>
          <a:prstGeom prst="ellipse">
            <a:avLst/>
          </a:prstGeom>
          <a:solidFill>
            <a:srgbClr val="F0993E"/>
          </a:solidFill>
          <a:ln w="12700">
            <a:solidFill>
              <a:srgbClr val="F0993E"/>
            </a:solidFill>
            <a:prstDash val="solid"/>
          </a:ln>
        </p:spPr>
        <p:txBody>
          <a:bodyPr/>
          <a:lstStyle/>
          <a:p>
            <a:endParaRPr lang="de-DE"/>
          </a:p>
        </p:txBody>
      </p:sp>
      <p:sp>
        <p:nvSpPr>
          <p:cNvPr id="4" name="Text 1"/>
          <p:cNvSpPr/>
          <p:nvPr/>
        </p:nvSpPr>
        <p:spPr>
          <a:xfrm>
            <a:off x="1280160" y="1783080"/>
            <a:ext cx="7315200" cy="457200"/>
          </a:xfrm>
          <a:prstGeom prst="rect">
            <a:avLst/>
          </a:prstGeom>
          <a:noFill/>
          <a:ln/>
        </p:spPr>
        <p:txBody>
          <a:bodyPr wrap="square" lIns="0" tIns="0" rIns="0" bIns="0" rtlCol="0" anchor="ctr"/>
          <a:lstStyle/>
          <a:p>
            <a:pPr marL="0" indent="0">
              <a:buNone/>
            </a:pPr>
            <a:r>
              <a:rPr lang="en-US" sz="1400" b="1" kern="0" spc="600">
                <a:solidFill>
                  <a:srgbClr val="F0993E"/>
                </a:solidFill>
                <a:latin typeface="Calibri" pitchFamily="34" charset="0"/>
                <a:ea typeface="Calibri" pitchFamily="34" charset="-122"/>
                <a:cs typeface="Calibri" pitchFamily="34" charset="-120"/>
              </a:rPr>
              <a:t>Projektpräsentation</a:t>
            </a:r>
            <a:endParaRPr lang="en-US" sz="1400"/>
          </a:p>
        </p:txBody>
      </p:sp>
      <p:sp>
        <p:nvSpPr>
          <p:cNvPr id="5" name="Text 2"/>
          <p:cNvSpPr/>
          <p:nvPr/>
        </p:nvSpPr>
        <p:spPr>
          <a:xfrm>
            <a:off x="822960" y="2468880"/>
            <a:ext cx="7315200" cy="1828800"/>
          </a:xfrm>
          <a:prstGeom prst="rect">
            <a:avLst/>
          </a:prstGeom>
          <a:noFill/>
          <a:ln/>
        </p:spPr>
        <p:txBody>
          <a:bodyPr wrap="square" lIns="0" tIns="0" rIns="0" bIns="0" rtlCol="0" anchor="ctr"/>
          <a:lstStyle/>
          <a:p>
            <a:pPr marL="0" indent="0">
              <a:buNone/>
            </a:pPr>
            <a:r>
              <a:rPr lang="en-US" sz="14000" b="1">
                <a:solidFill>
                  <a:srgbClr val="213547"/>
                </a:solidFill>
                <a:latin typeface="Calibri" pitchFamily="34" charset="0"/>
                <a:ea typeface="Calibri" pitchFamily="34" charset="-122"/>
                <a:cs typeface="Calibri" pitchFamily="34" charset="-120"/>
              </a:rPr>
              <a:t>pxsng</a:t>
            </a:r>
            <a:endParaRPr lang="en-US" sz="14000"/>
          </a:p>
        </p:txBody>
      </p:sp>
      <p:sp>
        <p:nvSpPr>
          <p:cNvPr id="6" name="Text 3"/>
          <p:cNvSpPr/>
          <p:nvPr/>
        </p:nvSpPr>
        <p:spPr>
          <a:xfrm>
            <a:off x="822960" y="4480560"/>
            <a:ext cx="7315200" cy="640080"/>
          </a:xfrm>
          <a:prstGeom prst="rect">
            <a:avLst/>
          </a:prstGeom>
          <a:noFill/>
          <a:ln/>
        </p:spPr>
        <p:txBody>
          <a:bodyPr wrap="square" lIns="0" tIns="0" rIns="0" bIns="0" rtlCol="0" anchor="ctr"/>
          <a:lstStyle/>
          <a:p>
            <a:pPr marL="0" indent="0">
              <a:buNone/>
            </a:pPr>
            <a:r>
              <a:rPr lang="en-US" sz="2800">
                <a:solidFill>
                  <a:srgbClr val="2ABB9B"/>
                </a:solidFill>
                <a:latin typeface="Calibri" pitchFamily="34" charset="0"/>
                <a:ea typeface="Calibri" pitchFamily="34" charset="-122"/>
                <a:cs typeface="Calibri" pitchFamily="34" charset="-120"/>
              </a:rPr>
              <a:t>The AI Training Manager</a:t>
            </a:r>
            <a:endParaRPr lang="en-US" sz="2800"/>
          </a:p>
        </p:txBody>
      </p:sp>
      <p:sp>
        <p:nvSpPr>
          <p:cNvPr id="7" name="Text 4"/>
          <p:cNvSpPr/>
          <p:nvPr/>
        </p:nvSpPr>
        <p:spPr>
          <a:xfrm>
            <a:off x="822960" y="5074920"/>
            <a:ext cx="7315200" cy="457200"/>
          </a:xfrm>
          <a:prstGeom prst="rect">
            <a:avLst/>
          </a:prstGeom>
          <a:noFill/>
          <a:ln/>
        </p:spPr>
        <p:txBody>
          <a:bodyPr wrap="square" lIns="0" tIns="0" rIns="0" bIns="0" rtlCol="0" anchor="ctr"/>
          <a:lstStyle/>
          <a:p>
            <a:pPr marL="0" indent="0">
              <a:buNone/>
            </a:pPr>
            <a:r>
              <a:rPr lang="en-US" sz="1600" i="1">
                <a:solidFill>
                  <a:srgbClr val="8C97A1"/>
                </a:solidFill>
                <a:latin typeface="Calibri" pitchFamily="34" charset="0"/>
                <a:ea typeface="Calibri" pitchFamily="34" charset="-122"/>
                <a:cs typeface="Calibri" pitchFamily="34" charset="-120"/>
              </a:rPr>
              <a:t>Eine Web App zum Verwalten von Schulungen</a:t>
            </a:r>
            <a:endParaRPr lang="en-US" sz="1600"/>
          </a:p>
        </p:txBody>
      </p:sp>
      <p:sp>
        <p:nvSpPr>
          <p:cNvPr id="8" name="Text 5"/>
          <p:cNvSpPr/>
          <p:nvPr/>
        </p:nvSpPr>
        <p:spPr>
          <a:xfrm>
            <a:off x="822960" y="5989320"/>
            <a:ext cx="10058400" cy="365760"/>
          </a:xfrm>
          <a:prstGeom prst="rect">
            <a:avLst/>
          </a:prstGeom>
          <a:noFill/>
          <a:ln/>
        </p:spPr>
        <p:txBody>
          <a:bodyPr wrap="square" lIns="0" tIns="0" rIns="0" bIns="0" rtlCol="0" anchor="ctr"/>
          <a:lstStyle/>
          <a:p>
            <a:pPr marL="0" indent="0">
              <a:buNone/>
            </a:pPr>
            <a:r>
              <a:rPr lang="en-US" sz="1400" b="1">
                <a:solidFill>
                  <a:srgbClr val="F0993E"/>
                </a:solidFill>
                <a:latin typeface="Calibri" pitchFamily="34" charset="0"/>
                <a:ea typeface="Calibri" pitchFamily="34" charset="-122"/>
                <a:cs typeface="Calibri" pitchFamily="34" charset="-120"/>
              </a:rPr>
              <a:t>Fynn </a:t>
            </a:r>
            <a:r>
              <a:rPr lang="en-US" sz="1400">
                <a:solidFill>
                  <a:srgbClr val="8C97A1"/>
                </a:solidFill>
                <a:latin typeface="Calibri" pitchFamily="34" charset="0"/>
                <a:ea typeface="Calibri" pitchFamily="34" charset="-122"/>
                <a:cs typeface="Calibri" pitchFamily="34" charset="-120"/>
              </a:rPr>
              <a:t>Frontend  </a:t>
            </a:r>
            <a:r>
              <a:rPr lang="en-US" sz="1400" b="1">
                <a:solidFill>
                  <a:srgbClr val="2ABB9B"/>
                </a:solidFill>
                <a:latin typeface="Calibri" pitchFamily="34" charset="0"/>
                <a:ea typeface="Calibri" pitchFamily="34" charset="-122"/>
                <a:cs typeface="Calibri" pitchFamily="34" charset="-120"/>
              </a:rPr>
              <a:t>Marco </a:t>
            </a:r>
            <a:r>
              <a:rPr lang="en-US" sz="1400">
                <a:solidFill>
                  <a:srgbClr val="8C97A1"/>
                </a:solidFill>
                <a:latin typeface="Calibri" pitchFamily="34" charset="0"/>
                <a:ea typeface="Calibri" pitchFamily="34" charset="-122"/>
                <a:cs typeface="Calibri" pitchFamily="34" charset="-120"/>
              </a:rPr>
              <a:t>Backend  </a:t>
            </a:r>
            <a:r>
              <a:rPr lang="en-US" sz="1400" b="1">
                <a:solidFill>
                  <a:srgbClr val="ADD345"/>
                </a:solidFill>
                <a:latin typeface="Calibri" pitchFamily="34" charset="0"/>
                <a:ea typeface="Calibri" pitchFamily="34" charset="-122"/>
                <a:cs typeface="Calibri" pitchFamily="34" charset="-120"/>
              </a:rPr>
              <a:t>Tim </a:t>
            </a:r>
            <a:r>
              <a:rPr lang="en-US" sz="1400">
                <a:solidFill>
                  <a:srgbClr val="8C97A1"/>
                </a:solidFill>
                <a:latin typeface="Calibri" pitchFamily="34" charset="0"/>
                <a:ea typeface="Calibri" pitchFamily="34" charset="-122"/>
                <a:cs typeface="Calibri" pitchFamily="34" charset="-120"/>
              </a:rPr>
              <a:t>Datenbank</a:t>
            </a:r>
            <a:endParaRPr 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ellipse">
            <a:avLst/>
          </a:prstGeom>
          <a:solidFill>
            <a:srgbClr val="F0993E"/>
          </a:solidFill>
          <a:ln w="12700">
            <a:solidFill>
              <a:srgbClr val="F0993E"/>
            </a:solidFill>
            <a:prstDash val="solid"/>
          </a:ln>
        </p:spPr>
        <p:txBody>
          <a:bodyPr/>
          <a:lstStyle/>
          <a:p>
            <a:endParaRPr lang="de-DE"/>
          </a:p>
        </p:txBody>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F0993E"/>
                </a:solidFill>
                <a:latin typeface="Calibri" pitchFamily="34" charset="0"/>
                <a:ea typeface="Calibri" pitchFamily="34" charset="-122"/>
                <a:cs typeface="Calibri" pitchFamily="34" charset="-120"/>
              </a:rPr>
              <a:t>AGENDA</a:t>
            </a:r>
            <a:endParaRPr lang="en-US" sz="1100"/>
          </a:p>
        </p:txBody>
      </p:sp>
      <p:sp>
        <p:nvSpPr>
          <p:cNvPr id="4" name="Text 2"/>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Drei Bereiche, drei Personen</a:t>
            </a:r>
            <a:endParaRPr lang="en-US" sz="4000"/>
          </a:p>
        </p:txBody>
      </p:sp>
      <p:sp>
        <p:nvSpPr>
          <p:cNvPr id="5" name="Text 3"/>
          <p:cNvSpPr/>
          <p:nvPr/>
        </p:nvSpPr>
        <p:spPr>
          <a:xfrm>
            <a:off x="548640" y="1828800"/>
            <a:ext cx="11155680" cy="548640"/>
          </a:xfrm>
          <a:prstGeom prst="rect">
            <a:avLst/>
          </a:prstGeom>
          <a:noFill/>
          <a:ln/>
        </p:spPr>
        <p:txBody>
          <a:bodyPr wrap="square" lIns="0" tIns="0" rIns="0" bIns="0" rtlCol="0" anchor="t"/>
          <a:lstStyle/>
          <a:p>
            <a:pPr marL="0" indent="0">
              <a:buNone/>
            </a:pPr>
            <a:r>
              <a:rPr lang="en-US" sz="1800">
                <a:solidFill>
                  <a:srgbClr val="5A6A7A"/>
                </a:solidFill>
                <a:latin typeface="Calibri" pitchFamily="34" charset="0"/>
                <a:ea typeface="Calibri" pitchFamily="34" charset="-122"/>
                <a:cs typeface="Calibri" pitchFamily="34" charset="-120"/>
              </a:rPr>
              <a:t>Jeder von uns hat einen Bereich übernommen und stellt ihn kurz vor.</a:t>
            </a:r>
            <a:endParaRPr lang="en-US" sz="1800"/>
          </a:p>
        </p:txBody>
      </p:sp>
      <p:sp>
        <p:nvSpPr>
          <p:cNvPr id="6" name="Shape 4"/>
          <p:cNvSpPr/>
          <p:nvPr/>
        </p:nvSpPr>
        <p:spPr>
          <a:xfrm>
            <a:off x="548640" y="2743200"/>
            <a:ext cx="3657600" cy="310896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7" name="Shape 5"/>
          <p:cNvSpPr/>
          <p:nvPr/>
        </p:nvSpPr>
        <p:spPr>
          <a:xfrm>
            <a:off x="868680" y="3063240"/>
            <a:ext cx="164592" cy="164592"/>
          </a:xfrm>
          <a:prstGeom prst="ellipse">
            <a:avLst/>
          </a:prstGeom>
          <a:solidFill>
            <a:srgbClr val="F0993E"/>
          </a:solidFill>
          <a:ln w="12700">
            <a:solidFill>
              <a:srgbClr val="F0993E"/>
            </a:solidFill>
            <a:prstDash val="solid"/>
          </a:ln>
        </p:spPr>
        <p:txBody>
          <a:bodyPr/>
          <a:lstStyle/>
          <a:p>
            <a:endParaRPr lang="de-DE"/>
          </a:p>
        </p:txBody>
      </p:sp>
      <p:sp>
        <p:nvSpPr>
          <p:cNvPr id="8" name="Text 6"/>
          <p:cNvSpPr/>
          <p:nvPr/>
        </p:nvSpPr>
        <p:spPr>
          <a:xfrm>
            <a:off x="1097280" y="3017520"/>
            <a:ext cx="2926080" cy="274320"/>
          </a:xfrm>
          <a:prstGeom prst="rect">
            <a:avLst/>
          </a:prstGeom>
          <a:noFill/>
          <a:ln/>
        </p:spPr>
        <p:txBody>
          <a:bodyPr wrap="square" lIns="0" tIns="0" rIns="0" bIns="0" rtlCol="0" anchor="ctr"/>
          <a:lstStyle/>
          <a:p>
            <a:pPr marL="0" indent="0">
              <a:buNone/>
            </a:pPr>
            <a:r>
              <a:rPr lang="en-US" sz="1000" b="1" kern="0" spc="300">
                <a:solidFill>
                  <a:srgbClr val="F0993E"/>
                </a:solidFill>
                <a:latin typeface="Calibri" pitchFamily="34" charset="0"/>
                <a:ea typeface="Calibri" pitchFamily="34" charset="-122"/>
                <a:cs typeface="Calibri" pitchFamily="34" charset="-120"/>
              </a:rPr>
              <a:t>TEIL 1</a:t>
            </a:r>
            <a:endParaRPr lang="en-US" sz="1000"/>
          </a:p>
        </p:txBody>
      </p:sp>
      <p:sp>
        <p:nvSpPr>
          <p:cNvPr id="9" name="Text 7"/>
          <p:cNvSpPr/>
          <p:nvPr/>
        </p:nvSpPr>
        <p:spPr>
          <a:xfrm>
            <a:off x="868680" y="342900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Frontend</a:t>
            </a:r>
            <a:endParaRPr lang="en-US" sz="2000"/>
          </a:p>
        </p:txBody>
      </p:sp>
      <p:sp>
        <p:nvSpPr>
          <p:cNvPr id="10" name="Text 8"/>
          <p:cNvSpPr/>
          <p:nvPr/>
        </p:nvSpPr>
        <p:spPr>
          <a:xfrm>
            <a:off x="868680" y="4023360"/>
            <a:ext cx="3108960" cy="1645920"/>
          </a:xfrm>
          <a:prstGeom prst="rect">
            <a:avLst/>
          </a:prstGeom>
          <a:noFill/>
          <a:ln/>
        </p:spPr>
        <p:txBody>
          <a:bodyPr wrap="square" lIns="0" tIns="0" rIns="0" bIns="0" rtlCol="0" anchor="t"/>
          <a:lstStyle/>
          <a:p>
            <a:pPr marL="0" indent="0">
              <a:buNone/>
            </a:pPr>
            <a:r>
              <a:rPr lang="en-US" sz="1400">
                <a:solidFill>
                  <a:srgbClr val="5A6A7A"/>
                </a:solidFill>
                <a:latin typeface="Calibri" pitchFamily="34" charset="0"/>
                <a:ea typeface="Calibri" pitchFamily="34" charset="-122"/>
                <a:cs typeface="Calibri" pitchFamily="34" charset="-120"/>
              </a:rPr>
              <a:t>Was man im Browser sieht. Startseite, Kurse, Suche, Profil.</a:t>
            </a:r>
            <a:endParaRPr lang="en-US" sz="1400"/>
          </a:p>
          <a:p>
            <a:pPr marL="0" indent="0">
              <a:buNone/>
            </a:pPr>
            <a:endParaRPr lang="en-US" sz="1400"/>
          </a:p>
          <a:p>
            <a:pPr marL="0" indent="0">
              <a:buNone/>
            </a:pPr>
            <a:r>
              <a:rPr lang="en-US" sz="1400">
                <a:solidFill>
                  <a:srgbClr val="5A6A7A"/>
                </a:solidFill>
                <a:latin typeface="Calibri" pitchFamily="34" charset="0"/>
                <a:ea typeface="Calibri" pitchFamily="34" charset="-122"/>
                <a:cs typeface="Calibri" pitchFamily="34" charset="-120"/>
              </a:rPr>
              <a:t>Fynn  .  ca. 5 Minuten</a:t>
            </a:r>
            <a:endParaRPr lang="en-US" sz="1400"/>
          </a:p>
        </p:txBody>
      </p:sp>
      <p:sp>
        <p:nvSpPr>
          <p:cNvPr id="11" name="Shape 9"/>
          <p:cNvSpPr/>
          <p:nvPr/>
        </p:nvSpPr>
        <p:spPr>
          <a:xfrm>
            <a:off x="4434840" y="2743200"/>
            <a:ext cx="3657600" cy="310896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2" name="Shape 10"/>
          <p:cNvSpPr/>
          <p:nvPr/>
        </p:nvSpPr>
        <p:spPr>
          <a:xfrm>
            <a:off x="4754880" y="3063240"/>
            <a:ext cx="164592" cy="164592"/>
          </a:xfrm>
          <a:prstGeom prst="ellipse">
            <a:avLst/>
          </a:prstGeom>
          <a:solidFill>
            <a:srgbClr val="2ABB9B"/>
          </a:solidFill>
          <a:ln w="12700">
            <a:solidFill>
              <a:srgbClr val="2ABB9B"/>
            </a:solidFill>
            <a:prstDash val="solid"/>
          </a:ln>
        </p:spPr>
        <p:txBody>
          <a:bodyPr/>
          <a:lstStyle/>
          <a:p>
            <a:endParaRPr lang="de-DE"/>
          </a:p>
        </p:txBody>
      </p:sp>
      <p:sp>
        <p:nvSpPr>
          <p:cNvPr id="13" name="Text 11"/>
          <p:cNvSpPr/>
          <p:nvPr/>
        </p:nvSpPr>
        <p:spPr>
          <a:xfrm>
            <a:off x="4983480" y="3017520"/>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TEIL 2</a:t>
            </a:r>
            <a:endParaRPr lang="en-US" sz="1000"/>
          </a:p>
        </p:txBody>
      </p:sp>
      <p:sp>
        <p:nvSpPr>
          <p:cNvPr id="14" name="Text 12"/>
          <p:cNvSpPr/>
          <p:nvPr/>
        </p:nvSpPr>
        <p:spPr>
          <a:xfrm>
            <a:off x="4754880" y="342900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Backend</a:t>
            </a:r>
            <a:endParaRPr lang="en-US" sz="2000"/>
          </a:p>
        </p:txBody>
      </p:sp>
      <p:sp>
        <p:nvSpPr>
          <p:cNvPr id="15" name="Text 13"/>
          <p:cNvSpPr/>
          <p:nvPr/>
        </p:nvSpPr>
        <p:spPr>
          <a:xfrm>
            <a:off x="4754880" y="4023360"/>
            <a:ext cx="3108960" cy="1645920"/>
          </a:xfrm>
          <a:prstGeom prst="rect">
            <a:avLst/>
          </a:prstGeom>
          <a:noFill/>
          <a:ln/>
        </p:spPr>
        <p:txBody>
          <a:bodyPr wrap="square" lIns="0" tIns="0" rIns="0" bIns="0" rtlCol="0" anchor="t"/>
          <a:lstStyle/>
          <a:p>
            <a:pPr marL="0" indent="0">
              <a:buNone/>
            </a:pPr>
            <a:r>
              <a:rPr lang="en-US" sz="1400">
                <a:solidFill>
                  <a:srgbClr val="5A6A7A"/>
                </a:solidFill>
                <a:latin typeface="Calibri" pitchFamily="34" charset="0"/>
                <a:ea typeface="Calibri" pitchFamily="34" charset="-122"/>
                <a:cs typeface="Calibri" pitchFamily="34" charset="-120"/>
              </a:rPr>
              <a:t>Was im Hintergrund läuft. Holt Daten und schickt sie an die Webseite.</a:t>
            </a:r>
            <a:endParaRPr lang="en-US" sz="1400"/>
          </a:p>
          <a:p>
            <a:pPr marL="0" indent="0">
              <a:buNone/>
            </a:pPr>
            <a:endParaRPr lang="en-US" sz="1400"/>
          </a:p>
          <a:p>
            <a:pPr marL="0" indent="0">
              <a:buNone/>
            </a:pPr>
            <a:r>
              <a:rPr lang="en-US" sz="1400">
                <a:solidFill>
                  <a:srgbClr val="5A6A7A"/>
                </a:solidFill>
                <a:latin typeface="Calibri" pitchFamily="34" charset="0"/>
                <a:ea typeface="Calibri" pitchFamily="34" charset="-122"/>
                <a:cs typeface="Calibri" pitchFamily="34" charset="-120"/>
              </a:rPr>
              <a:t>Marco  .  ca. 5 Minuten</a:t>
            </a:r>
            <a:endParaRPr lang="en-US" sz="1400"/>
          </a:p>
        </p:txBody>
      </p:sp>
      <p:sp>
        <p:nvSpPr>
          <p:cNvPr id="16" name="Shape 14"/>
          <p:cNvSpPr/>
          <p:nvPr/>
        </p:nvSpPr>
        <p:spPr>
          <a:xfrm>
            <a:off x="8321040" y="2743200"/>
            <a:ext cx="3657600" cy="310896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7" name="Shape 15"/>
          <p:cNvSpPr/>
          <p:nvPr/>
        </p:nvSpPr>
        <p:spPr>
          <a:xfrm>
            <a:off x="8641080" y="3063240"/>
            <a:ext cx="164592" cy="164592"/>
          </a:xfrm>
          <a:prstGeom prst="ellipse">
            <a:avLst/>
          </a:prstGeom>
          <a:solidFill>
            <a:srgbClr val="ADD345"/>
          </a:solidFill>
          <a:ln w="12700">
            <a:solidFill>
              <a:srgbClr val="ADD345"/>
            </a:solidFill>
            <a:prstDash val="solid"/>
          </a:ln>
        </p:spPr>
        <p:txBody>
          <a:bodyPr/>
          <a:lstStyle/>
          <a:p>
            <a:endParaRPr lang="de-DE"/>
          </a:p>
        </p:txBody>
      </p:sp>
      <p:sp>
        <p:nvSpPr>
          <p:cNvPr id="18" name="Text 16"/>
          <p:cNvSpPr/>
          <p:nvPr/>
        </p:nvSpPr>
        <p:spPr>
          <a:xfrm>
            <a:off x="8869680" y="3017520"/>
            <a:ext cx="2926080" cy="274320"/>
          </a:xfrm>
          <a:prstGeom prst="rect">
            <a:avLst/>
          </a:prstGeom>
          <a:noFill/>
          <a:ln/>
        </p:spPr>
        <p:txBody>
          <a:bodyPr wrap="square" lIns="0" tIns="0" rIns="0" bIns="0" rtlCol="0" anchor="ctr"/>
          <a:lstStyle/>
          <a:p>
            <a:pPr marL="0" indent="0">
              <a:buNone/>
            </a:pPr>
            <a:r>
              <a:rPr lang="en-US" sz="1000" b="1" kern="0" spc="300">
                <a:solidFill>
                  <a:srgbClr val="ADD345"/>
                </a:solidFill>
                <a:latin typeface="Calibri" pitchFamily="34" charset="0"/>
                <a:ea typeface="Calibri" pitchFamily="34" charset="-122"/>
                <a:cs typeface="Calibri" pitchFamily="34" charset="-120"/>
              </a:rPr>
              <a:t>TEIL 3</a:t>
            </a:r>
            <a:endParaRPr lang="en-US" sz="1000"/>
          </a:p>
        </p:txBody>
      </p:sp>
      <p:sp>
        <p:nvSpPr>
          <p:cNvPr id="19" name="Text 17"/>
          <p:cNvSpPr/>
          <p:nvPr/>
        </p:nvSpPr>
        <p:spPr>
          <a:xfrm>
            <a:off x="8641080" y="342900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Datenbank</a:t>
            </a:r>
            <a:endParaRPr lang="en-US" sz="2000"/>
          </a:p>
        </p:txBody>
      </p:sp>
      <p:sp>
        <p:nvSpPr>
          <p:cNvPr id="20" name="Text 18"/>
          <p:cNvSpPr/>
          <p:nvPr/>
        </p:nvSpPr>
        <p:spPr>
          <a:xfrm>
            <a:off x="8641080" y="4023360"/>
            <a:ext cx="3108960" cy="1645920"/>
          </a:xfrm>
          <a:prstGeom prst="rect">
            <a:avLst/>
          </a:prstGeom>
          <a:noFill/>
          <a:ln/>
        </p:spPr>
        <p:txBody>
          <a:bodyPr wrap="square" lIns="0" tIns="0" rIns="0" bIns="0" rtlCol="0" anchor="t"/>
          <a:lstStyle/>
          <a:p>
            <a:pPr marL="0" indent="0">
              <a:buNone/>
            </a:pPr>
            <a:r>
              <a:rPr lang="en-US" sz="1400">
                <a:solidFill>
                  <a:srgbClr val="5A6A7A"/>
                </a:solidFill>
                <a:latin typeface="Calibri" pitchFamily="34" charset="0"/>
                <a:ea typeface="Calibri" pitchFamily="34" charset="-122"/>
                <a:cs typeface="Calibri" pitchFamily="34" charset="-120"/>
              </a:rPr>
              <a:t>Wo alle Daten gespeichert sind. Kurse, Teilnehmer, Rechnungen.</a:t>
            </a:r>
            <a:endParaRPr lang="en-US" sz="1400"/>
          </a:p>
          <a:p>
            <a:pPr marL="0" indent="0">
              <a:buNone/>
            </a:pPr>
            <a:endParaRPr lang="en-US" sz="1400"/>
          </a:p>
          <a:p>
            <a:pPr marL="0" indent="0">
              <a:buNone/>
            </a:pPr>
            <a:r>
              <a:rPr lang="en-US" sz="1400">
                <a:solidFill>
                  <a:srgbClr val="5A6A7A"/>
                </a:solidFill>
                <a:latin typeface="Calibri" pitchFamily="34" charset="0"/>
                <a:ea typeface="Calibri" pitchFamily="34" charset="-122"/>
                <a:cs typeface="Calibri" pitchFamily="34" charset="-120"/>
              </a:rPr>
              <a:t>Tim  .  ca. 5 Minuten</a:t>
            </a:r>
            <a:endParaRPr lang="en-US" sz="1400"/>
          </a:p>
        </p:txBody>
      </p:sp>
      <p:sp>
        <p:nvSpPr>
          <p:cNvPr id="21" name="Shape 19"/>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22" name="Text 20"/>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3" name="Text 21"/>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1 / 16</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ellipse">
            <a:avLst/>
          </a:prstGeom>
          <a:solidFill>
            <a:srgbClr val="F0993E"/>
          </a:solidFill>
          <a:ln w="12700">
            <a:solidFill>
              <a:srgbClr val="F0993E"/>
            </a:solidFill>
            <a:prstDash val="solid"/>
          </a:ln>
        </p:spPr>
        <p:txBody>
          <a:bodyPr/>
          <a:lstStyle/>
          <a:p>
            <a:endParaRPr lang="de-DE"/>
          </a:p>
        </p:txBody>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F0993E"/>
                </a:solidFill>
                <a:latin typeface="Calibri" pitchFamily="34" charset="0"/>
                <a:ea typeface="Calibri" pitchFamily="34" charset="-122"/>
                <a:cs typeface="Calibri" pitchFamily="34" charset="-120"/>
              </a:rPr>
              <a:t>WORUM GEHT ES</a:t>
            </a:r>
            <a:endParaRPr lang="en-US" sz="1100"/>
          </a:p>
        </p:txBody>
      </p:sp>
      <p:sp>
        <p:nvSpPr>
          <p:cNvPr id="4" name="Text 2"/>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Schulungen verwalten kostet zu viel Zeit</a:t>
            </a:r>
            <a:endParaRPr lang="en-US" sz="4000"/>
          </a:p>
        </p:txBody>
      </p:sp>
      <p:sp>
        <p:nvSpPr>
          <p:cNvPr id="5" name="Text 3"/>
          <p:cNvSpPr/>
          <p:nvPr/>
        </p:nvSpPr>
        <p:spPr>
          <a:xfrm>
            <a:off x="548640" y="2103120"/>
            <a:ext cx="5486400" cy="457200"/>
          </a:xfrm>
          <a:prstGeom prst="rect">
            <a:avLst/>
          </a:prstGeom>
          <a:noFill/>
          <a:ln/>
        </p:spPr>
        <p:txBody>
          <a:bodyPr wrap="square" lIns="0" tIns="0" rIns="0" bIns="0" rtlCol="0" anchor="ctr"/>
          <a:lstStyle/>
          <a:p>
            <a:pPr marL="0" indent="0">
              <a:buNone/>
            </a:pPr>
            <a:r>
              <a:rPr lang="en-US" sz="2200" b="1">
                <a:solidFill>
                  <a:srgbClr val="8C97A1"/>
                </a:solidFill>
                <a:latin typeface="Calibri" pitchFamily="34" charset="0"/>
                <a:ea typeface="Calibri" pitchFamily="34" charset="-122"/>
                <a:cs typeface="Calibri" pitchFamily="34" charset="-120"/>
              </a:rPr>
              <a:t>Heute</a:t>
            </a:r>
            <a:endParaRPr lang="en-US" sz="2200"/>
          </a:p>
        </p:txBody>
      </p:sp>
      <p:sp>
        <p:nvSpPr>
          <p:cNvPr id="6" name="Text 4"/>
          <p:cNvSpPr/>
          <p:nvPr/>
        </p:nvSpPr>
        <p:spPr>
          <a:xfrm>
            <a:off x="548640" y="2606040"/>
            <a:ext cx="5029200" cy="3291840"/>
          </a:xfrm>
          <a:prstGeom prst="rect">
            <a:avLst/>
          </a:prstGeom>
          <a:noFill/>
          <a:ln/>
        </p:spPr>
        <p:txBody>
          <a:bodyPr wrap="square" lIns="0" tIns="0" rIns="0" bIns="0" rtlCol="0" anchor="t"/>
          <a:lstStyle/>
          <a:p>
            <a:pPr marL="342900" indent="-342900">
              <a:spcAft>
                <a:spcPts val="800"/>
              </a:spcAft>
              <a:buSzPct val="100000"/>
              <a:buChar char="●"/>
            </a:pPr>
            <a:r>
              <a:rPr lang="en-US" sz="1600">
                <a:solidFill>
                  <a:srgbClr val="5A6A7A"/>
                </a:solidFill>
                <a:latin typeface="Calibri" pitchFamily="34" charset="0"/>
                <a:ea typeface="Calibri" pitchFamily="34" charset="-122"/>
                <a:cs typeface="Calibri" pitchFamily="34" charset="-120"/>
              </a:rPr>
              <a:t>Excel Listen, Word Vorlagen und E Mails</a:t>
            </a:r>
            <a:endParaRPr lang="en-US" sz="1600"/>
          </a:p>
          <a:p>
            <a:pPr marL="342900" indent="-342900">
              <a:spcAft>
                <a:spcPts val="800"/>
              </a:spcAft>
              <a:buSzPct val="100000"/>
              <a:buChar char="●"/>
            </a:pPr>
            <a:r>
              <a:rPr lang="en-US" sz="1600">
                <a:solidFill>
                  <a:srgbClr val="5A6A7A"/>
                </a:solidFill>
                <a:latin typeface="Calibri" pitchFamily="34" charset="0"/>
                <a:ea typeface="Calibri" pitchFamily="34" charset="-122"/>
                <a:cs typeface="Calibri" pitchFamily="34" charset="-120"/>
              </a:rPr>
              <a:t>jeder pflegt seine eigene Datei</a:t>
            </a:r>
            <a:endParaRPr lang="en-US" sz="1600"/>
          </a:p>
          <a:p>
            <a:pPr marL="342900" indent="-342900">
              <a:spcAft>
                <a:spcPts val="800"/>
              </a:spcAft>
              <a:buSzPct val="100000"/>
              <a:buChar char="●"/>
            </a:pPr>
            <a:r>
              <a:rPr lang="en-US" sz="1600">
                <a:solidFill>
                  <a:srgbClr val="5A6A7A"/>
                </a:solidFill>
                <a:latin typeface="Calibri" pitchFamily="34" charset="0"/>
                <a:ea typeface="Calibri" pitchFamily="34" charset="-122"/>
                <a:cs typeface="Calibri" pitchFamily="34" charset="-120"/>
              </a:rPr>
              <a:t>Fehler schleichen sich ein</a:t>
            </a:r>
            <a:endParaRPr lang="en-US" sz="1600"/>
          </a:p>
          <a:p>
            <a:pPr marL="342900" indent="-342900">
              <a:spcAft>
                <a:spcPts val="800"/>
              </a:spcAft>
              <a:buSzPct val="100000"/>
              <a:buChar char="●"/>
            </a:pPr>
            <a:r>
              <a:rPr lang="en-US" sz="1600">
                <a:solidFill>
                  <a:srgbClr val="5A6A7A"/>
                </a:solidFill>
                <a:latin typeface="Calibri" pitchFamily="34" charset="0"/>
                <a:ea typeface="Calibri" pitchFamily="34" charset="-122"/>
                <a:cs typeface="Calibri" pitchFamily="34" charset="-120"/>
              </a:rPr>
              <a:t>keiner sieht den Gesamtüberblick</a:t>
            </a:r>
            <a:endParaRPr lang="en-US" sz="1600"/>
          </a:p>
        </p:txBody>
      </p:sp>
      <p:sp>
        <p:nvSpPr>
          <p:cNvPr id="7" name="Shape 5"/>
          <p:cNvSpPr/>
          <p:nvPr/>
        </p:nvSpPr>
        <p:spPr>
          <a:xfrm>
            <a:off x="6035040" y="2103120"/>
            <a:ext cx="5852160" cy="4023360"/>
          </a:xfrm>
          <a:prstGeom prst="rect">
            <a:avLst/>
          </a:prstGeom>
          <a:solidFill>
            <a:srgbClr val="F0993E"/>
          </a:solidFill>
          <a:ln w="12700">
            <a:solidFill>
              <a:srgbClr val="F0993E"/>
            </a:solidFill>
            <a:prstDash val="solid"/>
          </a:ln>
        </p:spPr>
        <p:txBody>
          <a:bodyPr/>
          <a:lstStyle/>
          <a:p>
            <a:endParaRPr lang="de-DE"/>
          </a:p>
        </p:txBody>
      </p:sp>
      <p:sp>
        <p:nvSpPr>
          <p:cNvPr id="8" name="Text 6"/>
          <p:cNvSpPr/>
          <p:nvPr/>
        </p:nvSpPr>
        <p:spPr>
          <a:xfrm>
            <a:off x="6355080" y="2286000"/>
            <a:ext cx="5486400"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Mit pxsng</a:t>
            </a:r>
            <a:endParaRPr lang="en-US" sz="2200"/>
          </a:p>
        </p:txBody>
      </p:sp>
      <p:sp>
        <p:nvSpPr>
          <p:cNvPr id="9" name="Text 7"/>
          <p:cNvSpPr/>
          <p:nvPr/>
        </p:nvSpPr>
        <p:spPr>
          <a:xfrm>
            <a:off x="6355080" y="288036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600">
                <a:solidFill>
                  <a:srgbClr val="FFFFFF"/>
                </a:solidFill>
                <a:latin typeface="Calibri" pitchFamily="34" charset="0"/>
                <a:ea typeface="Calibri" pitchFamily="34" charset="-122"/>
                <a:cs typeface="Calibri" pitchFamily="34" charset="-120"/>
              </a:rPr>
              <a:t>alle Daten an einem Ort</a:t>
            </a:r>
            <a:endParaRPr lang="en-US" sz="1600"/>
          </a:p>
          <a:p>
            <a:pPr marL="342900" indent="-342900">
              <a:spcAft>
                <a:spcPts val="800"/>
              </a:spcAft>
              <a:buSzPct val="100000"/>
              <a:buChar char="●"/>
            </a:pPr>
            <a:r>
              <a:rPr lang="en-US" sz="1600">
                <a:solidFill>
                  <a:srgbClr val="FFFFFF"/>
                </a:solidFill>
                <a:latin typeface="Calibri" pitchFamily="34" charset="0"/>
                <a:ea typeface="Calibri" pitchFamily="34" charset="-122"/>
                <a:cs typeface="Calibri" pitchFamily="34" charset="-120"/>
              </a:rPr>
              <a:t>Angebot und Rechnung als PDF</a:t>
            </a:r>
            <a:endParaRPr lang="en-US" sz="1600"/>
          </a:p>
          <a:p>
            <a:pPr marL="342900" indent="-342900">
              <a:spcAft>
                <a:spcPts val="800"/>
              </a:spcAft>
              <a:buSzPct val="100000"/>
              <a:buChar char="●"/>
            </a:pPr>
            <a:r>
              <a:rPr lang="en-US" sz="1600">
                <a:solidFill>
                  <a:srgbClr val="FFFFFF"/>
                </a:solidFill>
                <a:latin typeface="Calibri" pitchFamily="34" charset="0"/>
                <a:ea typeface="Calibri" pitchFamily="34" charset="-122"/>
                <a:cs typeface="Calibri" pitchFamily="34" charset="-120"/>
              </a:rPr>
              <a:t>KI schreibt Textbausteine automatisch</a:t>
            </a:r>
            <a:endParaRPr lang="en-US" sz="1600"/>
          </a:p>
          <a:p>
            <a:pPr marL="342900" indent="-342900">
              <a:spcAft>
                <a:spcPts val="800"/>
              </a:spcAft>
              <a:buSzPct val="100000"/>
              <a:buChar char="●"/>
            </a:pPr>
            <a:r>
              <a:rPr lang="en-US" sz="1600">
                <a:solidFill>
                  <a:srgbClr val="FFFFFF"/>
                </a:solidFill>
                <a:latin typeface="Calibri" pitchFamily="34" charset="0"/>
                <a:ea typeface="Calibri" pitchFamily="34" charset="-122"/>
                <a:cs typeface="Calibri" pitchFamily="34" charset="-120"/>
              </a:rPr>
              <a:t>eigene Webseite für Teilnehmer und Admins</a:t>
            </a:r>
            <a:endParaRPr lang="en-US" sz="1600"/>
          </a:p>
        </p:txBody>
      </p:sp>
      <p:sp>
        <p:nvSpPr>
          <p:cNvPr id="10" name="Shape 8"/>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11" name="Text 9"/>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12" name="Text 10"/>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2 / 16</a:t>
            </a:r>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ellipse">
            <a:avLst/>
          </a:prstGeom>
          <a:solidFill>
            <a:srgbClr val="F0993E"/>
          </a:solidFill>
          <a:ln w="12700">
            <a:solidFill>
              <a:srgbClr val="F0993E"/>
            </a:solidFill>
            <a:prstDash val="solid"/>
          </a:ln>
        </p:spPr>
        <p:txBody>
          <a:bodyPr/>
          <a:lstStyle/>
          <a:p>
            <a:endParaRPr lang="de-DE"/>
          </a:p>
        </p:txBody>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F0993E"/>
                </a:solidFill>
                <a:latin typeface="Calibri" pitchFamily="34" charset="0"/>
                <a:ea typeface="Calibri" pitchFamily="34" charset="-122"/>
                <a:cs typeface="Calibri" pitchFamily="34" charset="-120"/>
              </a:rPr>
              <a:t>WIE FUNKTIONIERT ES</a:t>
            </a:r>
            <a:endParaRPr lang="en-US" sz="1100"/>
          </a:p>
        </p:txBody>
      </p:sp>
      <p:sp>
        <p:nvSpPr>
          <p:cNvPr id="4" name="Text 2"/>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So spielen die Teile zusammen</a:t>
            </a:r>
            <a:endParaRPr lang="en-US" sz="4000"/>
          </a:p>
        </p:txBody>
      </p:sp>
      <p:pic>
        <p:nvPicPr>
          <p:cNvPr id="5" name="Image 0" descr="architecture.png"/>
          <p:cNvPicPr>
            <a:picLocks noChangeAspect="1"/>
          </p:cNvPicPr>
          <p:nvPr/>
        </p:nvPicPr>
        <p:blipFill>
          <a:blip r:embed="rId3"/>
          <a:stretch>
            <a:fillRect/>
          </a:stretch>
        </p:blipFill>
        <p:spPr>
          <a:xfrm>
            <a:off x="822960" y="2194560"/>
            <a:ext cx="10515600" cy="2651760"/>
          </a:xfrm>
          <a:prstGeom prst="rect">
            <a:avLst/>
          </a:prstGeom>
        </p:spPr>
      </p:pic>
      <p:sp>
        <p:nvSpPr>
          <p:cNvPr id="6" name="Text 3"/>
          <p:cNvSpPr/>
          <p:nvPr/>
        </p:nvSpPr>
        <p:spPr>
          <a:xfrm>
            <a:off x="548640" y="5120640"/>
            <a:ext cx="11064240" cy="457200"/>
          </a:xfrm>
          <a:prstGeom prst="rect">
            <a:avLst/>
          </a:prstGeom>
          <a:noFill/>
          <a:ln/>
        </p:spPr>
        <p:txBody>
          <a:bodyPr wrap="square" lIns="0" tIns="0" rIns="0" bIns="0" rtlCol="0" anchor="ctr"/>
          <a:lstStyle/>
          <a:p>
            <a:pPr marL="0" indent="0" algn="ctr">
              <a:buNone/>
            </a:pPr>
            <a:r>
              <a:rPr lang="en-US" sz="1600" b="1">
                <a:solidFill>
                  <a:srgbClr val="F0993E"/>
                </a:solidFill>
                <a:latin typeface="Calibri" pitchFamily="34" charset="0"/>
                <a:ea typeface="Calibri" pitchFamily="34" charset="-122"/>
                <a:cs typeface="Calibri" pitchFamily="34" charset="-120"/>
              </a:rPr>
              <a:t>Frontend</a:t>
            </a:r>
            <a:r>
              <a:rPr lang="en-US" sz="1600">
                <a:solidFill>
                  <a:srgbClr val="5A6A7A"/>
                </a:solidFill>
                <a:latin typeface="Calibri" pitchFamily="34" charset="0"/>
                <a:ea typeface="Calibri" pitchFamily="34" charset="-122"/>
                <a:cs typeface="Calibri" pitchFamily="34" charset="-120"/>
              </a:rPr>
              <a:t> zeigt die Seite an, </a:t>
            </a:r>
            <a:r>
              <a:rPr lang="en-US" sz="1600" b="1">
                <a:solidFill>
                  <a:srgbClr val="2ABB9B"/>
                </a:solidFill>
                <a:latin typeface="Calibri" pitchFamily="34" charset="0"/>
                <a:ea typeface="Calibri" pitchFamily="34" charset="-122"/>
                <a:cs typeface="Calibri" pitchFamily="34" charset="-120"/>
              </a:rPr>
              <a:t>Backend</a:t>
            </a:r>
            <a:r>
              <a:rPr lang="en-US" sz="1600">
                <a:solidFill>
                  <a:srgbClr val="5A6A7A"/>
                </a:solidFill>
                <a:latin typeface="Calibri" pitchFamily="34" charset="0"/>
                <a:ea typeface="Calibri" pitchFamily="34" charset="-122"/>
                <a:cs typeface="Calibri" pitchFamily="34" charset="-120"/>
              </a:rPr>
              <a:t> liefert die Daten, </a:t>
            </a:r>
            <a:r>
              <a:rPr lang="en-US" sz="1600" b="1">
                <a:solidFill>
                  <a:srgbClr val="ADD345"/>
                </a:solidFill>
                <a:latin typeface="Calibri" pitchFamily="34" charset="0"/>
                <a:ea typeface="Calibri" pitchFamily="34" charset="-122"/>
                <a:cs typeface="Calibri" pitchFamily="34" charset="-120"/>
              </a:rPr>
              <a:t>Datenbank</a:t>
            </a:r>
            <a:r>
              <a:rPr lang="en-US" sz="1600">
                <a:solidFill>
                  <a:srgbClr val="5A6A7A"/>
                </a:solidFill>
                <a:latin typeface="Calibri" pitchFamily="34" charset="0"/>
                <a:ea typeface="Calibri" pitchFamily="34" charset="-122"/>
                <a:cs typeface="Calibri" pitchFamily="34" charset="-120"/>
              </a:rPr>
              <a:t> speichert sie.</a:t>
            </a:r>
            <a:endParaRPr lang="en-US" sz="1600"/>
          </a:p>
        </p:txBody>
      </p:sp>
      <p:sp>
        <p:nvSpPr>
          <p:cNvPr id="7" name="Text 4"/>
          <p:cNvSpPr/>
          <p:nvPr/>
        </p:nvSpPr>
        <p:spPr>
          <a:xfrm>
            <a:off x="548640" y="5669280"/>
            <a:ext cx="11064240" cy="365760"/>
          </a:xfrm>
          <a:prstGeom prst="rect">
            <a:avLst/>
          </a:prstGeom>
          <a:noFill/>
          <a:ln/>
        </p:spPr>
        <p:txBody>
          <a:bodyPr wrap="square" lIns="0" tIns="0" rIns="0" bIns="0" rtlCol="0" anchor="ctr"/>
          <a:lstStyle/>
          <a:p>
            <a:pPr marL="0" indent="0" algn="ctr">
              <a:buNone/>
            </a:pPr>
            <a:r>
              <a:rPr lang="en-US" sz="1300" i="1">
                <a:solidFill>
                  <a:srgbClr val="8C97A1"/>
                </a:solidFill>
                <a:latin typeface="Calibri" pitchFamily="34" charset="0"/>
                <a:ea typeface="Calibri" pitchFamily="34" charset="-122"/>
                <a:cs typeface="Calibri" pitchFamily="34" charset="-120"/>
              </a:rPr>
              <a:t>Gestrichelte Teile sind noch nicht gebaut.</a:t>
            </a:r>
            <a:endParaRPr lang="en-US" sz="1300"/>
          </a:p>
        </p:txBody>
      </p:sp>
      <p:sp>
        <p:nvSpPr>
          <p:cNvPr id="8" name="Shape 5"/>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9" name="Text 6"/>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10" name="Text 7"/>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3 / 16</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0" cy="6858000"/>
          </a:xfrm>
          <a:prstGeom prst="rect">
            <a:avLst/>
          </a:prstGeom>
          <a:solidFill>
            <a:srgbClr val="F0993E"/>
          </a:solidFill>
          <a:ln w="12700">
            <a:solidFill>
              <a:srgbClr val="F0993E"/>
            </a:solidFill>
            <a:prstDash val="solid"/>
          </a:ln>
        </p:spPr>
        <p:txBody>
          <a:bodyPr/>
          <a:lstStyle/>
          <a:p>
            <a:endParaRPr lang="de-DE"/>
          </a:p>
        </p:txBody>
      </p:sp>
      <p:sp>
        <p:nvSpPr>
          <p:cNvPr id="3" name="Text 1"/>
          <p:cNvSpPr/>
          <p:nvPr/>
        </p:nvSpPr>
        <p:spPr>
          <a:xfrm>
            <a:off x="1463040" y="2560320"/>
            <a:ext cx="7315200" cy="365760"/>
          </a:xfrm>
          <a:prstGeom prst="rect">
            <a:avLst/>
          </a:prstGeom>
          <a:noFill/>
          <a:ln/>
        </p:spPr>
        <p:txBody>
          <a:bodyPr wrap="square" lIns="0" tIns="0" rIns="0" bIns="0" rtlCol="0" anchor="ctr"/>
          <a:lstStyle/>
          <a:p>
            <a:pPr marL="0" indent="0">
              <a:buNone/>
            </a:pPr>
            <a:r>
              <a:rPr lang="en-US" sz="1400" b="1" kern="0" spc="600">
                <a:solidFill>
                  <a:srgbClr val="F0993E"/>
                </a:solidFill>
                <a:latin typeface="Calibri"/>
                <a:ea typeface="Calibri"/>
                <a:cs typeface="Calibri"/>
              </a:rPr>
              <a:t>TEIL 1  . SAMMY</a:t>
            </a:r>
            <a:endParaRPr lang="en-US" sz="1400"/>
          </a:p>
        </p:txBody>
      </p:sp>
      <p:sp>
        <p:nvSpPr>
          <p:cNvPr id="4" name="Text 2"/>
          <p:cNvSpPr/>
          <p:nvPr/>
        </p:nvSpPr>
        <p:spPr>
          <a:xfrm>
            <a:off x="1463040" y="2926080"/>
            <a:ext cx="10515600" cy="1645920"/>
          </a:xfrm>
          <a:prstGeom prst="rect">
            <a:avLst/>
          </a:prstGeom>
          <a:noFill/>
          <a:ln/>
        </p:spPr>
        <p:txBody>
          <a:bodyPr wrap="square" lIns="0" tIns="0" rIns="0" bIns="0" rtlCol="0" anchor="t"/>
          <a:lstStyle/>
          <a:p>
            <a:pPr marL="0" indent="0">
              <a:buNone/>
            </a:pPr>
            <a:r>
              <a:rPr lang="en-US" sz="9600" b="1">
                <a:solidFill>
                  <a:srgbClr val="213547"/>
                </a:solidFill>
                <a:latin typeface="Calibri" pitchFamily="34" charset="0"/>
                <a:ea typeface="Calibri" pitchFamily="34" charset="-122"/>
                <a:cs typeface="Calibri" pitchFamily="34" charset="-120"/>
              </a:rPr>
              <a:t>Frontend</a:t>
            </a:r>
            <a:endParaRPr lang="en-US" sz="9600"/>
          </a:p>
        </p:txBody>
      </p:sp>
      <p:sp>
        <p:nvSpPr>
          <p:cNvPr id="5" name="Text 3"/>
          <p:cNvSpPr/>
          <p:nvPr/>
        </p:nvSpPr>
        <p:spPr>
          <a:xfrm>
            <a:off x="1463040" y="4480560"/>
            <a:ext cx="10058400" cy="548640"/>
          </a:xfrm>
          <a:prstGeom prst="rect">
            <a:avLst/>
          </a:prstGeom>
          <a:noFill/>
          <a:ln/>
        </p:spPr>
        <p:txBody>
          <a:bodyPr wrap="square" lIns="0" tIns="0" rIns="0" bIns="0" rtlCol="0" anchor="ctr"/>
          <a:lstStyle/>
          <a:p>
            <a:pPr marL="0" indent="0">
              <a:buNone/>
            </a:pPr>
            <a:r>
              <a:rPr lang="en-US" sz="2200">
                <a:solidFill>
                  <a:srgbClr val="5A6A7A"/>
                </a:solidFill>
                <a:latin typeface="Calibri" pitchFamily="34" charset="0"/>
                <a:ea typeface="Calibri" pitchFamily="34" charset="-122"/>
                <a:cs typeface="Calibri" pitchFamily="34" charset="-120"/>
              </a:rPr>
              <a:t>Was die Nutzer im Browser sehen.</a:t>
            </a:r>
            <a:endParaRPr lang="en-US" sz="2200"/>
          </a:p>
        </p:txBody>
      </p:sp>
      <p:sp>
        <p:nvSpPr>
          <p:cNvPr id="6" name="Shape 4"/>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7" name="Text 5"/>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8" name="Text 6"/>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4 / 16</a:t>
            </a: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ellipse">
            <a:avLst/>
          </a:prstGeom>
          <a:solidFill>
            <a:srgbClr val="F0993E"/>
          </a:solidFill>
          <a:ln w="12700">
            <a:solidFill>
              <a:srgbClr val="F0993E"/>
            </a:solidFill>
            <a:prstDash val="solid"/>
          </a:ln>
        </p:spPr>
        <p:txBody>
          <a:bodyPr/>
          <a:lstStyle/>
          <a:p>
            <a:endParaRPr lang="de-DE"/>
          </a:p>
        </p:txBody>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F0993E"/>
                </a:solidFill>
                <a:latin typeface="Calibri" pitchFamily="34" charset="0"/>
                <a:ea typeface="Calibri" pitchFamily="34" charset="-122"/>
                <a:cs typeface="Calibri" pitchFamily="34" charset="-120"/>
              </a:rPr>
              <a:t>FRONTEND</a:t>
            </a:r>
            <a:endParaRPr lang="en-US" sz="1100"/>
          </a:p>
        </p:txBody>
      </p:sp>
      <p:sp>
        <p:nvSpPr>
          <p:cNvPr id="4" name="Text 2"/>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a:ea typeface="Calibri"/>
                <a:cs typeface="Calibri"/>
              </a:rPr>
              <a:t>Sammy</a:t>
            </a:r>
            <a:endParaRPr lang="en-US" sz="1100"/>
          </a:p>
        </p:txBody>
      </p:sp>
      <p:sp>
        <p:nvSpPr>
          <p:cNvPr id="5" name="Text 3"/>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Was sehen die Nutzer</a:t>
            </a:r>
            <a:endParaRPr lang="en-US" sz="4000"/>
          </a:p>
        </p:txBody>
      </p:sp>
      <p:sp>
        <p:nvSpPr>
          <p:cNvPr id="6" name="Shape 4"/>
          <p:cNvSpPr/>
          <p:nvPr/>
        </p:nvSpPr>
        <p:spPr>
          <a:xfrm>
            <a:off x="5486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7" name="Shape 5"/>
          <p:cNvSpPr/>
          <p:nvPr/>
        </p:nvSpPr>
        <p:spPr>
          <a:xfrm>
            <a:off x="868680" y="2423160"/>
            <a:ext cx="164592" cy="164592"/>
          </a:xfrm>
          <a:prstGeom prst="ellipse">
            <a:avLst/>
          </a:prstGeom>
          <a:solidFill>
            <a:srgbClr val="F0993E"/>
          </a:solidFill>
          <a:ln w="12700">
            <a:solidFill>
              <a:srgbClr val="F0993E"/>
            </a:solidFill>
            <a:prstDash val="solid"/>
          </a:ln>
        </p:spPr>
        <p:txBody>
          <a:bodyPr/>
          <a:lstStyle/>
          <a:p>
            <a:endParaRPr lang="de-DE"/>
          </a:p>
        </p:txBody>
      </p:sp>
      <p:sp>
        <p:nvSpPr>
          <p:cNvPr id="8" name="Text 6"/>
          <p:cNvSpPr/>
          <p:nvPr/>
        </p:nvSpPr>
        <p:spPr>
          <a:xfrm>
            <a:off x="868680" y="2788920"/>
            <a:ext cx="3108960" cy="502920"/>
          </a:xfrm>
          <a:prstGeom prst="rect">
            <a:avLst/>
          </a:prstGeom>
          <a:noFill/>
          <a:ln/>
        </p:spPr>
        <p:txBody>
          <a:bodyPr wrap="square" lIns="0" tIns="0" rIns="0" bIns="0" rtlCol="0" anchor="t"/>
          <a:lstStyle/>
          <a:p>
            <a:pPr marL="0" indent="0">
              <a:buNone/>
            </a:pPr>
            <a:r>
              <a:rPr lang="en-US" sz="2000" b="1">
                <a:solidFill>
                  <a:srgbClr val="213547"/>
                </a:solidFill>
                <a:ea typeface="Calibri"/>
                <a:cs typeface="Calibri"/>
              </a:rPr>
              <a:t>Startseite</a:t>
            </a:r>
            <a:endParaRPr lang="en-US" sz="2000">
              <a:solidFill>
                <a:srgbClr val="000000"/>
              </a:solidFill>
              <a:ea typeface="Calibri"/>
              <a:cs typeface="Calibri"/>
            </a:endParaRPr>
          </a:p>
        </p:txBody>
      </p:sp>
      <p:sp>
        <p:nvSpPr>
          <p:cNvPr id="9" name="Text 7"/>
          <p:cNvSpPr/>
          <p:nvPr/>
        </p:nvSpPr>
        <p:spPr>
          <a:xfrm>
            <a:off x="868680" y="3383280"/>
            <a:ext cx="3108960" cy="2377440"/>
          </a:xfrm>
          <a:prstGeom prst="rect">
            <a:avLst/>
          </a:prstGeom>
          <a:noFill/>
          <a:ln/>
        </p:spPr>
        <p:txBody>
          <a:bodyPr wrap="square" lIns="0" tIns="0" rIns="0" bIns="0" rtlCol="0" anchor="t"/>
          <a:lstStyle/>
          <a:p>
            <a:pPr marL="285750" indent="-285750">
              <a:buFont typeface="Calibri,Sans-Serif"/>
              <a:buChar char="-"/>
            </a:pPr>
            <a:r>
              <a:rPr lang="en-US" sz="1400" err="1">
                <a:solidFill>
                  <a:srgbClr val="5A6A7A"/>
                </a:solidFill>
                <a:latin typeface="Calibri"/>
                <a:ea typeface="Calibri"/>
                <a:cs typeface="Calibri"/>
              </a:rPr>
              <a:t>Zeigt</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eine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klare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übersicht</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über</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verschiedene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Kurse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innerhalb</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definierter</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Kategorien</a:t>
            </a:r>
            <a:r>
              <a:rPr lang="en-US" sz="1400">
                <a:solidFill>
                  <a:srgbClr val="5A6A7A"/>
                </a:solidFill>
                <a:latin typeface="Calibri"/>
                <a:ea typeface="Calibri"/>
                <a:cs typeface="Calibri"/>
              </a:rPr>
              <a:t>.</a:t>
            </a:r>
          </a:p>
          <a:p>
            <a:pPr marL="285750" indent="-285750">
              <a:buFont typeface="Calibri,Sans-Serif"/>
              <a:buChar char="-"/>
            </a:pPr>
            <a:endParaRPr lang="en-US" sz="1400">
              <a:solidFill>
                <a:srgbClr val="5A6A7A"/>
              </a:solidFill>
              <a:latin typeface="Calibri"/>
              <a:ea typeface="Calibri"/>
              <a:cs typeface="Calibri"/>
            </a:endParaRPr>
          </a:p>
          <a:p>
            <a:pPr marL="285750" indent="-285750">
              <a:buFont typeface="Calibri,Sans-Serif"/>
              <a:buChar char="-"/>
            </a:pPr>
            <a:r>
              <a:rPr lang="en-US" sz="1400" err="1">
                <a:solidFill>
                  <a:srgbClr val="5A6A7A"/>
                </a:solidFill>
                <a:latin typeface="Calibri"/>
                <a:ea typeface="Calibri"/>
                <a:cs typeface="Calibri"/>
              </a:rPr>
              <a:t>Kurse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werden</a:t>
            </a:r>
            <a:r>
              <a:rPr lang="en-US" sz="1400">
                <a:solidFill>
                  <a:srgbClr val="5A6A7A"/>
                </a:solidFill>
                <a:latin typeface="Calibri"/>
                <a:ea typeface="Calibri"/>
                <a:cs typeface="Calibri"/>
              </a:rPr>
              <a:t> in </a:t>
            </a:r>
            <a:r>
              <a:rPr lang="en-US" sz="1400" err="1">
                <a:solidFill>
                  <a:srgbClr val="5A6A7A"/>
                </a:solidFill>
                <a:latin typeface="Calibri"/>
                <a:ea typeface="Calibri"/>
                <a:cs typeface="Calibri"/>
              </a:rPr>
              <a:t>einem</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Karousel</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bereitgestellt</a:t>
            </a:r>
            <a:r>
              <a:rPr lang="en-US" sz="1400">
                <a:solidFill>
                  <a:srgbClr val="5A6A7A"/>
                </a:solidFill>
                <a:latin typeface="Calibri"/>
                <a:ea typeface="Calibri"/>
                <a:cs typeface="Calibri"/>
              </a:rPr>
              <a:t> um dem </a:t>
            </a:r>
            <a:r>
              <a:rPr lang="en-US" sz="1400" err="1">
                <a:solidFill>
                  <a:srgbClr val="5A6A7A"/>
                </a:solidFill>
                <a:latin typeface="Calibri"/>
                <a:ea typeface="Calibri"/>
                <a:cs typeface="Calibri"/>
              </a:rPr>
              <a:t>Beutzer</a:t>
            </a:r>
            <a:r>
              <a:rPr lang="en-US" sz="1400">
                <a:solidFill>
                  <a:srgbClr val="5A6A7A"/>
                </a:solidFill>
                <a:latin typeface="Calibri"/>
                <a:ea typeface="Calibri"/>
                <a:cs typeface="Calibri"/>
              </a:rPr>
              <a:t> das </a:t>
            </a:r>
            <a:r>
              <a:rPr lang="en-US" sz="1400" err="1">
                <a:solidFill>
                  <a:srgbClr val="5A6A7A"/>
                </a:solidFill>
                <a:latin typeface="Calibri"/>
                <a:ea typeface="Calibri"/>
                <a:cs typeface="Calibri"/>
              </a:rPr>
              <a:t>Gefühl</a:t>
            </a:r>
            <a:r>
              <a:rPr lang="en-US" sz="1400">
                <a:solidFill>
                  <a:srgbClr val="5A6A7A"/>
                </a:solidFill>
                <a:latin typeface="Calibri"/>
                <a:ea typeface="Calibri"/>
                <a:cs typeface="Calibri"/>
              </a:rPr>
              <a:t> von "</a:t>
            </a:r>
            <a:r>
              <a:rPr lang="en-US" sz="1400" err="1">
                <a:solidFill>
                  <a:srgbClr val="5A6A7A"/>
                </a:solidFill>
                <a:latin typeface="Calibri"/>
                <a:ea typeface="Calibri"/>
                <a:cs typeface="Calibri"/>
              </a:rPr>
              <a:t>Endlosem</a:t>
            </a:r>
            <a:r>
              <a:rPr lang="en-US" sz="1400">
                <a:solidFill>
                  <a:srgbClr val="5A6A7A"/>
                </a:solidFill>
                <a:latin typeface="Calibri"/>
                <a:ea typeface="Calibri"/>
                <a:cs typeface="Calibri"/>
              </a:rPr>
              <a:t>" Content </a:t>
            </a:r>
            <a:r>
              <a:rPr lang="en-US" sz="1400" err="1">
                <a:solidFill>
                  <a:srgbClr val="5A6A7A"/>
                </a:solidFill>
                <a:latin typeface="Calibri"/>
                <a:ea typeface="Calibri"/>
                <a:cs typeface="Calibri"/>
              </a:rPr>
              <a:t>zu</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geben</a:t>
            </a:r>
            <a:endParaRPr lang="en-US" sz="1400">
              <a:solidFill>
                <a:srgbClr val="5A6A7A"/>
              </a:solidFill>
              <a:latin typeface="Calibri"/>
              <a:ea typeface="Calibri"/>
              <a:cs typeface="Calibri"/>
            </a:endParaRPr>
          </a:p>
          <a:p>
            <a:pPr marL="0" indent="0">
              <a:buNone/>
            </a:pPr>
            <a:endParaRPr lang="en-US" sz="1400">
              <a:solidFill>
                <a:srgbClr val="5A6A7A"/>
              </a:solidFill>
              <a:ea typeface="Calibri"/>
              <a:cs typeface="Calibri"/>
            </a:endParaRPr>
          </a:p>
        </p:txBody>
      </p:sp>
      <p:sp>
        <p:nvSpPr>
          <p:cNvPr id="10" name="Shape 8"/>
          <p:cNvSpPr/>
          <p:nvPr/>
        </p:nvSpPr>
        <p:spPr>
          <a:xfrm>
            <a:off x="44348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1" name="Shape 9"/>
          <p:cNvSpPr/>
          <p:nvPr/>
        </p:nvSpPr>
        <p:spPr>
          <a:xfrm>
            <a:off x="4754880" y="2423160"/>
            <a:ext cx="164592" cy="164592"/>
          </a:xfrm>
          <a:prstGeom prst="ellipse">
            <a:avLst/>
          </a:prstGeom>
          <a:solidFill>
            <a:srgbClr val="F0993E"/>
          </a:solidFill>
          <a:ln w="12700">
            <a:solidFill>
              <a:srgbClr val="F0993E"/>
            </a:solidFill>
            <a:prstDash val="solid"/>
          </a:ln>
        </p:spPr>
        <p:txBody>
          <a:bodyPr/>
          <a:lstStyle/>
          <a:p>
            <a:endParaRPr lang="de-DE"/>
          </a:p>
        </p:txBody>
      </p:sp>
      <p:sp>
        <p:nvSpPr>
          <p:cNvPr id="12" name="Text 10"/>
          <p:cNvSpPr/>
          <p:nvPr/>
        </p:nvSpPr>
        <p:spPr>
          <a:xfrm>
            <a:off x="4754880" y="2788920"/>
            <a:ext cx="3108960" cy="502920"/>
          </a:xfrm>
          <a:prstGeom prst="rect">
            <a:avLst/>
          </a:prstGeom>
          <a:noFill/>
          <a:ln/>
        </p:spPr>
        <p:txBody>
          <a:bodyPr wrap="square" lIns="0" tIns="0" rIns="0" bIns="0" rtlCol="0" anchor="t"/>
          <a:lstStyle/>
          <a:p>
            <a:pPr marL="0" indent="0">
              <a:buNone/>
            </a:pPr>
            <a:r>
              <a:rPr lang="en-US" sz="2000" b="1" err="1">
                <a:solidFill>
                  <a:srgbClr val="213547"/>
                </a:solidFill>
                <a:latin typeface="Calibri"/>
                <a:ea typeface="Calibri"/>
                <a:cs typeface="Calibri"/>
              </a:rPr>
              <a:t>Navigationsleiste</a:t>
            </a:r>
            <a:endParaRPr lang="en-US" err="1"/>
          </a:p>
        </p:txBody>
      </p:sp>
      <p:sp>
        <p:nvSpPr>
          <p:cNvPr id="13" name="Text 11"/>
          <p:cNvSpPr/>
          <p:nvPr/>
        </p:nvSpPr>
        <p:spPr>
          <a:xfrm>
            <a:off x="4754880" y="3383280"/>
            <a:ext cx="3108960" cy="2377440"/>
          </a:xfrm>
          <a:prstGeom prst="rect">
            <a:avLst/>
          </a:prstGeom>
          <a:noFill/>
          <a:ln/>
        </p:spPr>
        <p:txBody>
          <a:bodyPr wrap="square" lIns="0" tIns="0" rIns="0" bIns="0" rtlCol="0" anchor="t"/>
          <a:lstStyle/>
          <a:p>
            <a:pPr marL="285750" indent="-285750">
              <a:buFont typeface="Calibri,Sans-Serif"/>
              <a:buChar char="-"/>
            </a:pPr>
            <a:r>
              <a:rPr lang="en-US" sz="1200">
                <a:solidFill>
                  <a:srgbClr val="5A6A7A"/>
                </a:solidFill>
                <a:latin typeface="Calibri"/>
                <a:ea typeface="Calibri"/>
                <a:cs typeface="Calibri"/>
              </a:rPr>
              <a:t>Zeigt die </a:t>
            </a:r>
            <a:r>
              <a:rPr lang="en-US" sz="1200" err="1">
                <a:solidFill>
                  <a:srgbClr val="5A6A7A"/>
                </a:solidFill>
                <a:latin typeface="Calibri"/>
                <a:ea typeface="Calibri"/>
                <a:cs typeface="Calibri"/>
              </a:rPr>
              <a:t>wichtigsten</a:t>
            </a:r>
            <a:r>
              <a:rPr lang="en-US" sz="1200">
                <a:solidFill>
                  <a:srgbClr val="5A6A7A"/>
                </a:solidFill>
                <a:latin typeface="Calibri"/>
                <a:ea typeface="Calibri"/>
                <a:cs typeface="Calibri"/>
              </a:rPr>
              <a:t> </a:t>
            </a:r>
            <a:r>
              <a:rPr lang="en-US" sz="1200" err="1">
                <a:solidFill>
                  <a:srgbClr val="5A6A7A"/>
                </a:solidFill>
                <a:latin typeface="Calibri"/>
                <a:ea typeface="Calibri"/>
                <a:cs typeface="Calibri"/>
              </a:rPr>
              <a:t>Optionen</a:t>
            </a:r>
            <a:r>
              <a:rPr lang="en-US" sz="1200">
                <a:solidFill>
                  <a:srgbClr val="5A6A7A"/>
                </a:solidFill>
                <a:latin typeface="Calibri"/>
                <a:ea typeface="Calibri"/>
                <a:cs typeface="Calibri"/>
              </a:rPr>
              <a:t> und </a:t>
            </a:r>
            <a:r>
              <a:rPr lang="en-US" sz="1200" err="1">
                <a:solidFill>
                  <a:srgbClr val="5A6A7A"/>
                </a:solidFill>
                <a:latin typeface="Calibri"/>
                <a:ea typeface="Calibri"/>
                <a:cs typeface="Calibri"/>
              </a:rPr>
              <a:t>Informationenen</a:t>
            </a:r>
            <a:r>
              <a:rPr lang="en-US" sz="1200">
                <a:solidFill>
                  <a:srgbClr val="5A6A7A"/>
                </a:solidFill>
                <a:latin typeface="Calibri"/>
                <a:ea typeface="Calibri"/>
                <a:cs typeface="Calibri"/>
              </a:rPr>
              <a:t> in </a:t>
            </a:r>
            <a:r>
              <a:rPr lang="en-US" sz="1200" err="1">
                <a:solidFill>
                  <a:srgbClr val="5A6A7A"/>
                </a:solidFill>
                <a:latin typeface="Calibri"/>
                <a:ea typeface="Calibri"/>
                <a:cs typeface="Calibri"/>
              </a:rPr>
              <a:t>einer</a:t>
            </a:r>
            <a:r>
              <a:rPr lang="en-US" sz="1200">
                <a:solidFill>
                  <a:srgbClr val="5A6A7A"/>
                </a:solidFill>
                <a:latin typeface="Calibri"/>
                <a:ea typeface="Calibri"/>
                <a:cs typeface="Calibri"/>
              </a:rPr>
              <a:t> </a:t>
            </a:r>
            <a:r>
              <a:rPr lang="en-US" sz="1200" err="1">
                <a:solidFill>
                  <a:srgbClr val="5A6A7A"/>
                </a:solidFill>
                <a:latin typeface="Calibri"/>
                <a:ea typeface="Calibri"/>
                <a:cs typeface="Calibri"/>
              </a:rPr>
              <a:t>geordneten</a:t>
            </a:r>
            <a:r>
              <a:rPr lang="en-US" sz="1200">
                <a:solidFill>
                  <a:srgbClr val="5A6A7A"/>
                </a:solidFill>
                <a:latin typeface="Calibri"/>
                <a:ea typeface="Calibri"/>
                <a:cs typeface="Calibri"/>
              </a:rPr>
              <a:t> </a:t>
            </a:r>
            <a:r>
              <a:rPr lang="en-US" sz="1200" err="1">
                <a:solidFill>
                  <a:srgbClr val="5A6A7A"/>
                </a:solidFill>
                <a:latin typeface="Calibri"/>
                <a:ea typeface="Calibri"/>
                <a:cs typeface="Calibri"/>
              </a:rPr>
              <a:t>Reihnfolge</a:t>
            </a:r>
          </a:p>
          <a:p>
            <a:pPr marL="285750" indent="-285750">
              <a:buFont typeface="Calibri,Sans-Serif"/>
              <a:buChar char="-"/>
            </a:pPr>
            <a:endParaRPr lang="en-US" sz="1200">
              <a:solidFill>
                <a:srgbClr val="5A6A7A"/>
              </a:solidFill>
              <a:latin typeface="Calibri"/>
              <a:ea typeface="Calibri"/>
              <a:cs typeface="Calibri"/>
            </a:endParaRPr>
          </a:p>
          <a:p>
            <a:pPr marL="285750" indent="-285750">
              <a:buFont typeface="Calibri,Sans-Serif"/>
              <a:buChar char="-"/>
            </a:pPr>
            <a:r>
              <a:rPr lang="en-US" sz="1200">
                <a:solidFill>
                  <a:srgbClr val="5A6A7A"/>
                </a:solidFill>
                <a:latin typeface="Calibri"/>
                <a:ea typeface="Calibri"/>
                <a:cs typeface="Calibri"/>
              </a:rPr>
              <a:t>Website-Logo</a:t>
            </a:r>
          </a:p>
          <a:p>
            <a:pPr marL="285750" indent="-285750">
              <a:buFont typeface="Calibri,Sans-Serif"/>
              <a:buChar char="-"/>
            </a:pPr>
            <a:endParaRPr lang="en-US" sz="1200">
              <a:solidFill>
                <a:srgbClr val="5A6A7A"/>
              </a:solidFill>
              <a:latin typeface="Calibri"/>
              <a:ea typeface="Calibri"/>
              <a:cs typeface="Calibri"/>
            </a:endParaRPr>
          </a:p>
          <a:p>
            <a:pPr marL="285750" indent="-285750">
              <a:buFont typeface="Calibri,Sans-Serif"/>
              <a:buChar char="-"/>
            </a:pPr>
            <a:r>
              <a:rPr lang="en-US" sz="1200">
                <a:solidFill>
                  <a:srgbClr val="5A6A7A"/>
                </a:solidFill>
                <a:latin typeface="Calibri"/>
                <a:ea typeface="Calibri"/>
                <a:cs typeface="Calibri"/>
              </a:rPr>
              <a:t>Zeigt den </a:t>
            </a:r>
            <a:r>
              <a:rPr lang="en-US" sz="1200" err="1">
                <a:solidFill>
                  <a:srgbClr val="5A6A7A"/>
                </a:solidFill>
                <a:latin typeface="Calibri"/>
                <a:ea typeface="Calibri"/>
                <a:cs typeface="Calibri"/>
              </a:rPr>
              <a:t>Benutzer</a:t>
            </a:r>
            <a:r>
              <a:rPr lang="en-US" sz="1200">
                <a:solidFill>
                  <a:srgbClr val="5A6A7A"/>
                </a:solidFill>
                <a:latin typeface="Calibri"/>
                <a:ea typeface="Calibri"/>
                <a:cs typeface="Calibri"/>
              </a:rPr>
              <a:t> und Währungsstand</a:t>
            </a:r>
          </a:p>
          <a:p>
            <a:pPr marL="285750" indent="-285750">
              <a:buFont typeface="Calibri,Sans-Serif"/>
              <a:buChar char="-"/>
            </a:pPr>
            <a:endParaRPr lang="en-US" sz="1200">
              <a:solidFill>
                <a:srgbClr val="5A6A7A"/>
              </a:solidFill>
              <a:latin typeface="Calibri"/>
              <a:ea typeface="Calibri"/>
              <a:cs typeface="Calibri"/>
            </a:endParaRPr>
          </a:p>
          <a:p>
            <a:pPr marL="285750" indent="-285750">
              <a:buFont typeface="Calibri,Sans-Serif"/>
              <a:buChar char="-"/>
            </a:pPr>
            <a:r>
              <a:rPr lang="en-US" sz="1200">
                <a:solidFill>
                  <a:srgbClr val="5A6A7A"/>
                </a:solidFill>
                <a:latin typeface="Calibri"/>
                <a:ea typeface="Calibri"/>
                <a:cs typeface="Calibri"/>
              </a:rPr>
              <a:t>Klar </a:t>
            </a:r>
            <a:r>
              <a:rPr lang="en-US" sz="1200" err="1">
                <a:solidFill>
                  <a:srgbClr val="5A6A7A"/>
                </a:solidFill>
                <a:latin typeface="Calibri"/>
                <a:ea typeface="Calibri"/>
                <a:cs typeface="Calibri"/>
              </a:rPr>
              <a:t>definierte</a:t>
            </a:r>
            <a:r>
              <a:rPr lang="en-US" sz="1200">
                <a:solidFill>
                  <a:srgbClr val="5A6A7A"/>
                </a:solidFill>
                <a:latin typeface="Calibri"/>
                <a:ea typeface="Calibri"/>
                <a:cs typeface="Calibri"/>
              </a:rPr>
              <a:t> </a:t>
            </a:r>
            <a:r>
              <a:rPr lang="en-US" sz="1200" err="1">
                <a:solidFill>
                  <a:srgbClr val="5A6A7A"/>
                </a:solidFill>
                <a:latin typeface="Calibri"/>
                <a:ea typeface="Calibri"/>
                <a:cs typeface="Calibri"/>
              </a:rPr>
              <a:t>Suchleiste</a:t>
            </a:r>
          </a:p>
          <a:p>
            <a:pPr marL="285750" indent="-285750">
              <a:buFont typeface="Calibri,Sans-Serif"/>
              <a:buChar char="-"/>
            </a:pPr>
            <a:endParaRPr lang="en-US" sz="1200">
              <a:solidFill>
                <a:srgbClr val="5A6A7A"/>
              </a:solidFill>
              <a:latin typeface="Calibri"/>
              <a:ea typeface="Calibri"/>
              <a:cs typeface="Calibri"/>
            </a:endParaRPr>
          </a:p>
          <a:p>
            <a:pPr marL="285750" indent="-285750">
              <a:buFont typeface="Calibri,Sans-Serif"/>
              <a:buChar char="-"/>
            </a:pPr>
            <a:r>
              <a:rPr lang="en-US" sz="1200">
                <a:solidFill>
                  <a:srgbClr val="5A6A7A"/>
                </a:solidFill>
                <a:latin typeface="Calibri"/>
                <a:ea typeface="Calibri"/>
                <a:cs typeface="Calibri"/>
              </a:rPr>
              <a:t>Theme-Toggle</a:t>
            </a:r>
          </a:p>
          <a:p>
            <a:endParaRPr lang="en-US" sz="1400">
              <a:solidFill>
                <a:srgbClr val="5A6A7A"/>
              </a:solidFill>
              <a:latin typeface="Calibri"/>
              <a:ea typeface="Calibri"/>
              <a:cs typeface="Calibri"/>
            </a:endParaRPr>
          </a:p>
          <a:p>
            <a:pPr marL="0" indent="0">
              <a:buNone/>
            </a:pPr>
            <a:endParaRPr lang="en-US" sz="1400">
              <a:solidFill>
                <a:srgbClr val="5A6A7A"/>
              </a:solidFill>
              <a:ea typeface="Calibri"/>
              <a:cs typeface="Calibri"/>
            </a:endParaRPr>
          </a:p>
        </p:txBody>
      </p:sp>
      <p:sp>
        <p:nvSpPr>
          <p:cNvPr id="14" name="Shape 12"/>
          <p:cNvSpPr/>
          <p:nvPr/>
        </p:nvSpPr>
        <p:spPr>
          <a:xfrm>
            <a:off x="83210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5" name="Shape 13"/>
          <p:cNvSpPr/>
          <p:nvPr/>
        </p:nvSpPr>
        <p:spPr>
          <a:xfrm>
            <a:off x="8641080" y="2423160"/>
            <a:ext cx="164592" cy="164592"/>
          </a:xfrm>
          <a:prstGeom prst="ellipse">
            <a:avLst/>
          </a:prstGeom>
          <a:solidFill>
            <a:srgbClr val="F0993E"/>
          </a:solidFill>
          <a:ln w="12700">
            <a:solidFill>
              <a:srgbClr val="F0993E"/>
            </a:solidFill>
            <a:prstDash val="solid"/>
          </a:ln>
        </p:spPr>
        <p:txBody>
          <a:bodyPr/>
          <a:lstStyle/>
          <a:p>
            <a:endParaRPr lang="de-DE"/>
          </a:p>
        </p:txBody>
      </p:sp>
      <p:sp>
        <p:nvSpPr>
          <p:cNvPr id="16" name="Text 14"/>
          <p:cNvSpPr/>
          <p:nvPr/>
        </p:nvSpPr>
        <p:spPr>
          <a:xfrm>
            <a:off x="8641080" y="2788920"/>
            <a:ext cx="3108960" cy="502920"/>
          </a:xfrm>
          <a:prstGeom prst="rect">
            <a:avLst/>
          </a:prstGeom>
          <a:noFill/>
          <a:ln/>
        </p:spPr>
        <p:txBody>
          <a:bodyPr wrap="square" lIns="0" tIns="0" rIns="0" bIns="0" rtlCol="0" anchor="t"/>
          <a:lstStyle/>
          <a:p>
            <a:r>
              <a:rPr lang="en-US" sz="2000" b="1">
                <a:solidFill>
                  <a:srgbClr val="213547"/>
                </a:solidFill>
                <a:latin typeface="Calibri"/>
                <a:ea typeface="Calibri"/>
                <a:cs typeface="Calibri"/>
              </a:rPr>
              <a:t>Themes</a:t>
            </a:r>
            <a:endParaRPr lang="en-US"/>
          </a:p>
        </p:txBody>
      </p:sp>
      <p:sp>
        <p:nvSpPr>
          <p:cNvPr id="17" name="Text 15"/>
          <p:cNvSpPr/>
          <p:nvPr/>
        </p:nvSpPr>
        <p:spPr>
          <a:xfrm>
            <a:off x="8641080" y="3383280"/>
            <a:ext cx="3108960" cy="2377440"/>
          </a:xfrm>
          <a:prstGeom prst="rect">
            <a:avLst/>
          </a:prstGeom>
          <a:noFill/>
          <a:ln/>
        </p:spPr>
        <p:txBody>
          <a:bodyPr wrap="square" lIns="0" tIns="0" rIns="0" bIns="0" rtlCol="0" anchor="t"/>
          <a:lstStyle/>
          <a:p>
            <a:r>
              <a:rPr lang="en-US" sz="1400">
                <a:solidFill>
                  <a:srgbClr val="5A6A7A"/>
                </a:solidFill>
                <a:ea typeface="Calibri"/>
                <a:cs typeface="Calibri"/>
              </a:rPr>
              <a:t>Das Frontend </a:t>
            </a:r>
            <a:r>
              <a:rPr lang="en-US" sz="1400" err="1">
                <a:solidFill>
                  <a:srgbClr val="5A6A7A"/>
                </a:solidFill>
                <a:ea typeface="Calibri"/>
                <a:cs typeface="Calibri"/>
              </a:rPr>
              <a:t>kann</a:t>
            </a:r>
            <a:r>
              <a:rPr lang="en-US" sz="1400">
                <a:solidFill>
                  <a:srgbClr val="5A6A7A"/>
                </a:solidFill>
                <a:ea typeface="Calibri"/>
                <a:cs typeface="Calibri"/>
              </a:rPr>
              <a:t> auf </a:t>
            </a:r>
            <a:r>
              <a:rPr lang="en-US" sz="1400" err="1">
                <a:solidFill>
                  <a:srgbClr val="5A6A7A"/>
                </a:solidFill>
                <a:ea typeface="Calibri"/>
                <a:cs typeface="Calibri"/>
              </a:rPr>
              <a:t>Knopfdruck</a:t>
            </a:r>
            <a:r>
              <a:rPr lang="en-US" sz="1400">
                <a:solidFill>
                  <a:srgbClr val="5A6A7A"/>
                </a:solidFill>
                <a:ea typeface="Calibri"/>
                <a:cs typeface="Calibri"/>
              </a:rPr>
              <a:t> von </a:t>
            </a:r>
            <a:r>
              <a:rPr lang="en-US" sz="1400" err="1">
                <a:solidFill>
                  <a:srgbClr val="5A6A7A"/>
                </a:solidFill>
                <a:ea typeface="Calibri"/>
                <a:cs typeface="Calibri"/>
              </a:rPr>
              <a:t>einer</a:t>
            </a:r>
            <a:r>
              <a:rPr lang="en-US" sz="1400">
                <a:solidFill>
                  <a:srgbClr val="5A6A7A"/>
                </a:solidFill>
                <a:ea typeface="Calibri"/>
                <a:cs typeface="Calibri"/>
              </a:rPr>
              <a:t> </a:t>
            </a:r>
            <a:r>
              <a:rPr lang="en-US" sz="1400" err="1">
                <a:solidFill>
                  <a:srgbClr val="5A6A7A"/>
                </a:solidFill>
                <a:ea typeface="Calibri"/>
                <a:cs typeface="Calibri"/>
              </a:rPr>
              <a:t>hellen</a:t>
            </a:r>
            <a:r>
              <a:rPr lang="en-US" sz="1400">
                <a:solidFill>
                  <a:srgbClr val="5A6A7A"/>
                </a:solidFill>
                <a:ea typeface="Calibri"/>
                <a:cs typeface="Calibri"/>
              </a:rPr>
              <a:t> </a:t>
            </a:r>
            <a:r>
              <a:rPr lang="en-US" sz="1400" err="1">
                <a:solidFill>
                  <a:srgbClr val="5A6A7A"/>
                </a:solidFill>
                <a:ea typeface="Calibri"/>
                <a:cs typeface="Calibri"/>
              </a:rPr>
              <a:t>Anzeige</a:t>
            </a:r>
            <a:r>
              <a:rPr lang="en-US" sz="1400">
                <a:solidFill>
                  <a:srgbClr val="5A6A7A"/>
                </a:solidFill>
                <a:ea typeface="Calibri"/>
                <a:cs typeface="Calibri"/>
              </a:rPr>
              <a:t> in </a:t>
            </a:r>
            <a:r>
              <a:rPr lang="en-US" sz="1400" err="1">
                <a:solidFill>
                  <a:srgbClr val="5A6A7A"/>
                </a:solidFill>
                <a:ea typeface="Calibri"/>
                <a:cs typeface="Calibri"/>
              </a:rPr>
              <a:t>eine</a:t>
            </a:r>
            <a:r>
              <a:rPr lang="en-US" sz="1400">
                <a:solidFill>
                  <a:srgbClr val="5A6A7A"/>
                </a:solidFill>
                <a:ea typeface="Calibri"/>
                <a:cs typeface="Calibri"/>
              </a:rPr>
              <a:t> </a:t>
            </a:r>
            <a:r>
              <a:rPr lang="en-US" sz="1400" err="1">
                <a:solidFill>
                  <a:srgbClr val="5A6A7A"/>
                </a:solidFill>
                <a:ea typeface="Calibri"/>
                <a:cs typeface="Calibri"/>
              </a:rPr>
              <a:t>augenschonende</a:t>
            </a:r>
            <a:r>
              <a:rPr lang="en-US" sz="1400">
                <a:solidFill>
                  <a:srgbClr val="5A6A7A"/>
                </a:solidFill>
                <a:ea typeface="Calibri"/>
                <a:cs typeface="Calibri"/>
              </a:rPr>
              <a:t> </a:t>
            </a:r>
            <a:r>
              <a:rPr lang="en-US" sz="1400" err="1">
                <a:solidFill>
                  <a:srgbClr val="5A6A7A"/>
                </a:solidFill>
                <a:ea typeface="Calibri"/>
                <a:cs typeface="Calibri"/>
              </a:rPr>
              <a:t>dunklere</a:t>
            </a:r>
            <a:r>
              <a:rPr lang="en-US" sz="1400">
                <a:solidFill>
                  <a:srgbClr val="5A6A7A"/>
                </a:solidFill>
                <a:ea typeface="Calibri"/>
                <a:cs typeface="Calibri"/>
              </a:rPr>
              <a:t> </a:t>
            </a:r>
            <a:r>
              <a:rPr lang="en-US" sz="1400" err="1">
                <a:solidFill>
                  <a:srgbClr val="5A6A7A"/>
                </a:solidFill>
                <a:ea typeface="Calibri"/>
                <a:cs typeface="Calibri"/>
              </a:rPr>
              <a:t>Anzeige</a:t>
            </a:r>
            <a:r>
              <a:rPr lang="en-US" sz="1400">
                <a:solidFill>
                  <a:srgbClr val="5A6A7A"/>
                </a:solidFill>
                <a:ea typeface="Calibri"/>
                <a:cs typeface="Calibri"/>
              </a:rPr>
              <a:t> </a:t>
            </a:r>
            <a:r>
              <a:rPr lang="en-US" sz="1400" err="1">
                <a:solidFill>
                  <a:srgbClr val="5A6A7A"/>
                </a:solidFill>
                <a:ea typeface="Calibri"/>
                <a:cs typeface="Calibri"/>
              </a:rPr>
              <a:t>umgewandelt</a:t>
            </a:r>
            <a:r>
              <a:rPr lang="en-US" sz="1400">
                <a:solidFill>
                  <a:srgbClr val="5A6A7A"/>
                </a:solidFill>
                <a:ea typeface="Calibri"/>
                <a:cs typeface="Calibri"/>
              </a:rPr>
              <a:t> </a:t>
            </a:r>
            <a:r>
              <a:rPr lang="en-US" sz="1400" err="1">
                <a:solidFill>
                  <a:srgbClr val="5A6A7A"/>
                </a:solidFill>
                <a:ea typeface="Calibri"/>
                <a:cs typeface="Calibri"/>
              </a:rPr>
              <a:t>werden</a:t>
            </a:r>
            <a:r>
              <a:rPr lang="en-US" sz="1400">
                <a:solidFill>
                  <a:srgbClr val="5A6A7A"/>
                </a:solidFill>
                <a:ea typeface="Calibri"/>
                <a:cs typeface="Calibri"/>
              </a:rPr>
              <a:t>.</a:t>
            </a:r>
          </a:p>
        </p:txBody>
      </p:sp>
      <p:sp>
        <p:nvSpPr>
          <p:cNvPr id="18" name="Shape 16"/>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19" name="Text 17"/>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0" name="Text 18"/>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5 / 16</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9F8A2D08-44C9-5FEB-69C7-588C58D1773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223C537-CAD6-13E8-8033-7CF814848C01}"/>
              </a:ext>
            </a:extLst>
          </p:cNvPr>
          <p:cNvSpPr/>
          <p:nvPr/>
        </p:nvSpPr>
        <p:spPr>
          <a:xfrm>
            <a:off x="548640" y="502920"/>
            <a:ext cx="164592" cy="164592"/>
          </a:xfrm>
          <a:prstGeom prst="ellipse">
            <a:avLst/>
          </a:prstGeom>
          <a:solidFill>
            <a:srgbClr val="F0993E"/>
          </a:solidFill>
          <a:ln w="12700">
            <a:solidFill>
              <a:srgbClr val="F0993E"/>
            </a:solidFill>
            <a:prstDash val="solid"/>
          </a:ln>
        </p:spPr>
        <p:txBody>
          <a:bodyPr/>
          <a:lstStyle/>
          <a:p>
            <a:endParaRPr lang="de-DE"/>
          </a:p>
        </p:txBody>
      </p:sp>
      <p:sp>
        <p:nvSpPr>
          <p:cNvPr id="3" name="Text 1">
            <a:extLst>
              <a:ext uri="{FF2B5EF4-FFF2-40B4-BE49-F238E27FC236}">
                <a16:creationId xmlns:a16="http://schemas.microsoft.com/office/drawing/2014/main" id="{2265C8F9-DF81-99BC-3C76-F50AACC869B4}"/>
              </a:ext>
            </a:extLst>
          </p:cNvPr>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F0993E"/>
                </a:solidFill>
                <a:latin typeface="Calibri" pitchFamily="34" charset="0"/>
                <a:ea typeface="Calibri" pitchFamily="34" charset="-122"/>
                <a:cs typeface="Calibri" pitchFamily="34" charset="-120"/>
              </a:rPr>
              <a:t>FRONTEND</a:t>
            </a:r>
            <a:endParaRPr lang="en-US" sz="1100"/>
          </a:p>
        </p:txBody>
      </p:sp>
      <p:sp>
        <p:nvSpPr>
          <p:cNvPr id="4" name="Text 2">
            <a:extLst>
              <a:ext uri="{FF2B5EF4-FFF2-40B4-BE49-F238E27FC236}">
                <a16:creationId xmlns:a16="http://schemas.microsoft.com/office/drawing/2014/main" id="{1A1C14BF-C368-F06D-3EB1-DB567B3D5AF6}"/>
              </a:ext>
            </a:extLst>
          </p:cNvPr>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a:ea typeface="Calibri"/>
                <a:cs typeface="Calibri"/>
              </a:rPr>
              <a:t>Sammy</a:t>
            </a:r>
            <a:endParaRPr lang="en-US" sz="1100"/>
          </a:p>
        </p:txBody>
      </p:sp>
      <p:sp>
        <p:nvSpPr>
          <p:cNvPr id="5" name="Text 3">
            <a:extLst>
              <a:ext uri="{FF2B5EF4-FFF2-40B4-BE49-F238E27FC236}">
                <a16:creationId xmlns:a16="http://schemas.microsoft.com/office/drawing/2014/main" id="{D39DD76D-B647-2F1E-F096-FE2C03A0D8F7}"/>
              </a:ext>
            </a:extLst>
          </p:cNvPr>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Was sehen die Nutzer</a:t>
            </a:r>
            <a:endParaRPr lang="en-US" sz="4000"/>
          </a:p>
        </p:txBody>
      </p:sp>
      <p:sp>
        <p:nvSpPr>
          <p:cNvPr id="6" name="Shape 4">
            <a:extLst>
              <a:ext uri="{FF2B5EF4-FFF2-40B4-BE49-F238E27FC236}">
                <a16:creationId xmlns:a16="http://schemas.microsoft.com/office/drawing/2014/main" id="{75E33DAB-4853-E781-C400-F7B86824F2D0}"/>
              </a:ext>
            </a:extLst>
          </p:cNvPr>
          <p:cNvSpPr/>
          <p:nvPr/>
        </p:nvSpPr>
        <p:spPr>
          <a:xfrm>
            <a:off x="7850336"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7" name="Shape 5">
            <a:extLst>
              <a:ext uri="{FF2B5EF4-FFF2-40B4-BE49-F238E27FC236}">
                <a16:creationId xmlns:a16="http://schemas.microsoft.com/office/drawing/2014/main" id="{B6E365CF-7F68-0351-F89D-358003C9ECD8}"/>
              </a:ext>
            </a:extLst>
          </p:cNvPr>
          <p:cNvSpPr/>
          <p:nvPr/>
        </p:nvSpPr>
        <p:spPr>
          <a:xfrm>
            <a:off x="8170376" y="2423160"/>
            <a:ext cx="164592" cy="164592"/>
          </a:xfrm>
          <a:prstGeom prst="ellipse">
            <a:avLst/>
          </a:prstGeom>
          <a:solidFill>
            <a:srgbClr val="F0993E"/>
          </a:solidFill>
          <a:ln w="12700">
            <a:solidFill>
              <a:srgbClr val="F0993E"/>
            </a:solidFill>
            <a:prstDash val="solid"/>
          </a:ln>
        </p:spPr>
        <p:txBody>
          <a:bodyPr/>
          <a:lstStyle/>
          <a:p>
            <a:endParaRPr lang="de-DE"/>
          </a:p>
        </p:txBody>
      </p:sp>
      <p:sp>
        <p:nvSpPr>
          <p:cNvPr id="8" name="Text 6">
            <a:extLst>
              <a:ext uri="{FF2B5EF4-FFF2-40B4-BE49-F238E27FC236}">
                <a16:creationId xmlns:a16="http://schemas.microsoft.com/office/drawing/2014/main" id="{CDBEC0DA-926B-64A8-647A-03C4BB6927E6}"/>
              </a:ext>
            </a:extLst>
          </p:cNvPr>
          <p:cNvSpPr/>
          <p:nvPr/>
        </p:nvSpPr>
        <p:spPr>
          <a:xfrm>
            <a:off x="8170376" y="2788920"/>
            <a:ext cx="3108960" cy="502920"/>
          </a:xfrm>
          <a:prstGeom prst="rect">
            <a:avLst/>
          </a:prstGeom>
          <a:noFill/>
          <a:ln/>
        </p:spPr>
        <p:txBody>
          <a:bodyPr wrap="square" lIns="0" tIns="0" rIns="0" bIns="0" rtlCol="0" anchor="t"/>
          <a:lstStyle/>
          <a:p>
            <a:pPr marL="0" indent="0">
              <a:buNone/>
            </a:pPr>
            <a:r>
              <a:rPr lang="en-US" sz="2000" b="1">
                <a:solidFill>
                  <a:srgbClr val="213547"/>
                </a:solidFill>
                <a:ea typeface="Calibri"/>
                <a:cs typeface="Calibri"/>
              </a:rPr>
              <a:t>Startseite</a:t>
            </a:r>
            <a:endParaRPr lang="en-US" sz="2000">
              <a:solidFill>
                <a:srgbClr val="000000"/>
              </a:solidFill>
              <a:ea typeface="Calibri"/>
              <a:cs typeface="Calibri"/>
            </a:endParaRPr>
          </a:p>
        </p:txBody>
      </p:sp>
      <p:sp>
        <p:nvSpPr>
          <p:cNvPr id="9" name="Text 7">
            <a:extLst>
              <a:ext uri="{FF2B5EF4-FFF2-40B4-BE49-F238E27FC236}">
                <a16:creationId xmlns:a16="http://schemas.microsoft.com/office/drawing/2014/main" id="{FDAB7BC0-01C9-9787-A4C3-D839438C85E6}"/>
              </a:ext>
            </a:extLst>
          </p:cNvPr>
          <p:cNvSpPr/>
          <p:nvPr/>
        </p:nvSpPr>
        <p:spPr>
          <a:xfrm>
            <a:off x="8170376" y="3383280"/>
            <a:ext cx="3108960" cy="2377440"/>
          </a:xfrm>
          <a:prstGeom prst="rect">
            <a:avLst/>
          </a:prstGeom>
          <a:noFill/>
          <a:ln/>
        </p:spPr>
        <p:txBody>
          <a:bodyPr wrap="square" lIns="0" tIns="0" rIns="0" bIns="0" rtlCol="0" anchor="t"/>
          <a:lstStyle/>
          <a:p>
            <a:pPr marL="285750" indent="-285750">
              <a:buFont typeface="Calibri"/>
              <a:buChar char="-"/>
            </a:pPr>
            <a:r>
              <a:rPr lang="en-US" sz="1400" err="1">
                <a:solidFill>
                  <a:srgbClr val="5A6A7A"/>
                </a:solidFill>
                <a:latin typeface="Calibri"/>
                <a:ea typeface="Calibri"/>
                <a:cs typeface="Calibri"/>
              </a:rPr>
              <a:t>Zeigt</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eine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klare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übersicht</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über</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verschiedene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Kurse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innerhalb</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definierter</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Kategorien</a:t>
            </a:r>
            <a:r>
              <a:rPr lang="en-US" sz="1400">
                <a:solidFill>
                  <a:srgbClr val="5A6A7A"/>
                </a:solidFill>
                <a:latin typeface="Calibri"/>
                <a:ea typeface="Calibri"/>
                <a:cs typeface="Calibri"/>
              </a:rPr>
              <a:t>.</a:t>
            </a:r>
          </a:p>
          <a:p>
            <a:pPr marL="285750" indent="-285750">
              <a:buFont typeface="Calibri"/>
              <a:buChar char="-"/>
            </a:pPr>
            <a:endParaRPr lang="en-US" sz="1400">
              <a:solidFill>
                <a:srgbClr val="5A6A7A"/>
              </a:solidFill>
              <a:latin typeface="Calibri"/>
              <a:ea typeface="Calibri"/>
              <a:cs typeface="Calibri"/>
            </a:endParaRPr>
          </a:p>
          <a:p>
            <a:pPr marL="285750" indent="-285750">
              <a:buFont typeface="Calibri"/>
              <a:buChar char="-"/>
            </a:pPr>
            <a:r>
              <a:rPr lang="en-US" sz="1400" err="1">
                <a:solidFill>
                  <a:srgbClr val="5A6A7A"/>
                </a:solidFill>
                <a:latin typeface="Calibri"/>
                <a:ea typeface="Calibri"/>
                <a:cs typeface="Calibri"/>
              </a:rPr>
              <a:t>Kurse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werden</a:t>
            </a:r>
            <a:r>
              <a:rPr lang="en-US" sz="1400">
                <a:solidFill>
                  <a:srgbClr val="5A6A7A"/>
                </a:solidFill>
                <a:latin typeface="Calibri"/>
                <a:ea typeface="Calibri"/>
                <a:cs typeface="Calibri"/>
              </a:rPr>
              <a:t> in </a:t>
            </a:r>
            <a:r>
              <a:rPr lang="en-US" sz="1400" err="1">
                <a:solidFill>
                  <a:srgbClr val="5A6A7A"/>
                </a:solidFill>
                <a:latin typeface="Calibri"/>
                <a:ea typeface="Calibri"/>
                <a:cs typeface="Calibri"/>
              </a:rPr>
              <a:t>einem</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Karousel</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bereitgestellt</a:t>
            </a:r>
            <a:r>
              <a:rPr lang="en-US" sz="1400">
                <a:solidFill>
                  <a:srgbClr val="5A6A7A"/>
                </a:solidFill>
                <a:latin typeface="Calibri"/>
                <a:ea typeface="Calibri"/>
                <a:cs typeface="Calibri"/>
              </a:rPr>
              <a:t> um dem </a:t>
            </a:r>
            <a:r>
              <a:rPr lang="en-US" sz="1400" err="1">
                <a:solidFill>
                  <a:srgbClr val="5A6A7A"/>
                </a:solidFill>
                <a:latin typeface="Calibri"/>
                <a:ea typeface="Calibri"/>
                <a:cs typeface="Calibri"/>
              </a:rPr>
              <a:t>Beutzer</a:t>
            </a:r>
            <a:r>
              <a:rPr lang="en-US" sz="1400">
                <a:solidFill>
                  <a:srgbClr val="5A6A7A"/>
                </a:solidFill>
                <a:latin typeface="Calibri"/>
                <a:ea typeface="Calibri"/>
                <a:cs typeface="Calibri"/>
              </a:rPr>
              <a:t> das </a:t>
            </a:r>
            <a:r>
              <a:rPr lang="en-US" sz="1400" err="1">
                <a:solidFill>
                  <a:srgbClr val="5A6A7A"/>
                </a:solidFill>
                <a:latin typeface="Calibri"/>
                <a:ea typeface="Calibri"/>
                <a:cs typeface="Calibri"/>
              </a:rPr>
              <a:t>Gefühl</a:t>
            </a:r>
            <a:r>
              <a:rPr lang="en-US" sz="1400">
                <a:solidFill>
                  <a:srgbClr val="5A6A7A"/>
                </a:solidFill>
                <a:latin typeface="Calibri"/>
                <a:ea typeface="Calibri"/>
                <a:cs typeface="Calibri"/>
              </a:rPr>
              <a:t> von "</a:t>
            </a:r>
            <a:r>
              <a:rPr lang="en-US" sz="1400" err="1">
                <a:solidFill>
                  <a:srgbClr val="5A6A7A"/>
                </a:solidFill>
                <a:latin typeface="Calibri"/>
                <a:ea typeface="Calibri"/>
                <a:cs typeface="Calibri"/>
              </a:rPr>
              <a:t>Endlosem</a:t>
            </a:r>
            <a:r>
              <a:rPr lang="en-US" sz="1400">
                <a:solidFill>
                  <a:srgbClr val="5A6A7A"/>
                </a:solidFill>
                <a:latin typeface="Calibri"/>
                <a:ea typeface="Calibri"/>
                <a:cs typeface="Calibri"/>
              </a:rPr>
              <a:t>" Content </a:t>
            </a:r>
            <a:r>
              <a:rPr lang="en-US" sz="1400" err="1">
                <a:solidFill>
                  <a:srgbClr val="5A6A7A"/>
                </a:solidFill>
                <a:latin typeface="Calibri"/>
                <a:ea typeface="Calibri"/>
                <a:cs typeface="Calibri"/>
              </a:rPr>
              <a:t>zu</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geben</a:t>
            </a:r>
          </a:p>
        </p:txBody>
      </p:sp>
      <p:sp>
        <p:nvSpPr>
          <p:cNvPr id="18" name="Shape 16">
            <a:extLst>
              <a:ext uri="{FF2B5EF4-FFF2-40B4-BE49-F238E27FC236}">
                <a16:creationId xmlns:a16="http://schemas.microsoft.com/office/drawing/2014/main" id="{9C7DA51E-876B-E64C-3C87-C4362E86A706}"/>
              </a:ext>
            </a:extLst>
          </p:cNvPr>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19" name="Text 17">
            <a:extLst>
              <a:ext uri="{FF2B5EF4-FFF2-40B4-BE49-F238E27FC236}">
                <a16:creationId xmlns:a16="http://schemas.microsoft.com/office/drawing/2014/main" id="{32C74BCB-0FAB-2BFA-5C06-093D0971F25E}"/>
              </a:ext>
            </a:extLst>
          </p:cNvPr>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0" name="Text 18">
            <a:extLst>
              <a:ext uri="{FF2B5EF4-FFF2-40B4-BE49-F238E27FC236}">
                <a16:creationId xmlns:a16="http://schemas.microsoft.com/office/drawing/2014/main" id="{E85EBE1D-0487-A7F1-BEA2-EACDC4E7E18D}"/>
              </a:ext>
            </a:extLst>
          </p:cNvPr>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5 / 16</a:t>
            </a:r>
            <a:endParaRPr lang="en-US" sz="1000"/>
          </a:p>
        </p:txBody>
      </p:sp>
      <p:pic>
        <p:nvPicPr>
          <p:cNvPr id="22" name="Picture 21" descr="A screenshot of a computer&#10;&#10;AI-generated content may be incorrect.">
            <a:extLst>
              <a:ext uri="{FF2B5EF4-FFF2-40B4-BE49-F238E27FC236}">
                <a16:creationId xmlns:a16="http://schemas.microsoft.com/office/drawing/2014/main" id="{8FA31A30-626D-A048-348E-C8ED1E645030}"/>
              </a:ext>
            </a:extLst>
          </p:cNvPr>
          <p:cNvPicPr>
            <a:picLocks noChangeAspect="1"/>
          </p:cNvPicPr>
          <p:nvPr/>
        </p:nvPicPr>
        <p:blipFill>
          <a:blip r:embed="rId3"/>
          <a:stretch>
            <a:fillRect/>
          </a:stretch>
        </p:blipFill>
        <p:spPr>
          <a:xfrm>
            <a:off x="260430" y="2106881"/>
            <a:ext cx="7349925" cy="3830644"/>
          </a:xfrm>
          <a:prstGeom prst="rect">
            <a:avLst/>
          </a:prstGeom>
          <a:ln>
            <a:solidFill>
              <a:schemeClr val="bg1">
                <a:lumMod val="75000"/>
              </a:schemeClr>
            </a:solidFill>
          </a:ln>
        </p:spPr>
      </p:pic>
    </p:spTree>
    <p:extLst>
      <p:ext uri="{BB962C8B-B14F-4D97-AF65-F5344CB8AC3E}">
        <p14:creationId xmlns:p14="http://schemas.microsoft.com/office/powerpoint/2010/main" val="3951311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AE33EA7A-0CCB-02AF-1877-0C96FC532F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799A440-41D2-5C91-D130-8DC77744E1C4}"/>
              </a:ext>
            </a:extLst>
          </p:cNvPr>
          <p:cNvSpPr/>
          <p:nvPr/>
        </p:nvSpPr>
        <p:spPr>
          <a:xfrm>
            <a:off x="548640" y="502920"/>
            <a:ext cx="164592" cy="164592"/>
          </a:xfrm>
          <a:prstGeom prst="ellipse">
            <a:avLst/>
          </a:prstGeom>
          <a:solidFill>
            <a:srgbClr val="F0993E"/>
          </a:solidFill>
          <a:ln w="12700">
            <a:solidFill>
              <a:srgbClr val="F0993E"/>
            </a:solidFill>
            <a:prstDash val="solid"/>
          </a:ln>
        </p:spPr>
        <p:txBody>
          <a:bodyPr/>
          <a:lstStyle/>
          <a:p>
            <a:endParaRPr lang="de-DE"/>
          </a:p>
        </p:txBody>
      </p:sp>
      <p:sp>
        <p:nvSpPr>
          <p:cNvPr id="3" name="Text 1">
            <a:extLst>
              <a:ext uri="{FF2B5EF4-FFF2-40B4-BE49-F238E27FC236}">
                <a16:creationId xmlns:a16="http://schemas.microsoft.com/office/drawing/2014/main" id="{6CD28507-78CF-29CF-27C2-7ADBAD6269CA}"/>
              </a:ext>
            </a:extLst>
          </p:cNvPr>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F0993E"/>
                </a:solidFill>
                <a:latin typeface="Calibri" pitchFamily="34" charset="0"/>
                <a:ea typeface="Calibri" pitchFamily="34" charset="-122"/>
                <a:cs typeface="Calibri" pitchFamily="34" charset="-120"/>
              </a:rPr>
              <a:t>FRONTEND</a:t>
            </a:r>
            <a:endParaRPr lang="en-US" sz="1100"/>
          </a:p>
        </p:txBody>
      </p:sp>
      <p:sp>
        <p:nvSpPr>
          <p:cNvPr id="4" name="Text 2">
            <a:extLst>
              <a:ext uri="{FF2B5EF4-FFF2-40B4-BE49-F238E27FC236}">
                <a16:creationId xmlns:a16="http://schemas.microsoft.com/office/drawing/2014/main" id="{8023593E-C540-38F8-FF47-39FD3239B914}"/>
              </a:ext>
            </a:extLst>
          </p:cNvPr>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a:ea typeface="Calibri"/>
                <a:cs typeface="Calibri"/>
              </a:rPr>
              <a:t>Sammy</a:t>
            </a:r>
            <a:endParaRPr lang="en-US" sz="1100"/>
          </a:p>
        </p:txBody>
      </p:sp>
      <p:sp>
        <p:nvSpPr>
          <p:cNvPr id="5" name="Text 3">
            <a:extLst>
              <a:ext uri="{FF2B5EF4-FFF2-40B4-BE49-F238E27FC236}">
                <a16:creationId xmlns:a16="http://schemas.microsoft.com/office/drawing/2014/main" id="{3F83B7A1-E015-0EC4-F5C4-543182E0A132}"/>
              </a:ext>
            </a:extLst>
          </p:cNvPr>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Was sehen die Nutzer</a:t>
            </a:r>
            <a:endParaRPr lang="en-US" sz="4000"/>
          </a:p>
        </p:txBody>
      </p:sp>
      <p:sp>
        <p:nvSpPr>
          <p:cNvPr id="6" name="Shape 4">
            <a:extLst>
              <a:ext uri="{FF2B5EF4-FFF2-40B4-BE49-F238E27FC236}">
                <a16:creationId xmlns:a16="http://schemas.microsoft.com/office/drawing/2014/main" id="{210E850D-C4F0-CF17-D1D1-09FC3A18A15A}"/>
              </a:ext>
            </a:extLst>
          </p:cNvPr>
          <p:cNvSpPr/>
          <p:nvPr/>
        </p:nvSpPr>
        <p:spPr>
          <a:xfrm>
            <a:off x="5486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7" name="Shape 5">
            <a:extLst>
              <a:ext uri="{FF2B5EF4-FFF2-40B4-BE49-F238E27FC236}">
                <a16:creationId xmlns:a16="http://schemas.microsoft.com/office/drawing/2014/main" id="{CF591233-0B85-AC7A-6010-607F55B5ECD4}"/>
              </a:ext>
            </a:extLst>
          </p:cNvPr>
          <p:cNvSpPr/>
          <p:nvPr/>
        </p:nvSpPr>
        <p:spPr>
          <a:xfrm>
            <a:off x="868680" y="2423160"/>
            <a:ext cx="164592" cy="164592"/>
          </a:xfrm>
          <a:prstGeom prst="ellipse">
            <a:avLst/>
          </a:prstGeom>
          <a:solidFill>
            <a:srgbClr val="F0993E"/>
          </a:solidFill>
          <a:ln w="12700">
            <a:solidFill>
              <a:srgbClr val="F0993E"/>
            </a:solidFill>
            <a:prstDash val="solid"/>
          </a:ln>
        </p:spPr>
        <p:txBody>
          <a:bodyPr/>
          <a:lstStyle/>
          <a:p>
            <a:endParaRPr lang="de-DE"/>
          </a:p>
        </p:txBody>
      </p:sp>
      <p:sp>
        <p:nvSpPr>
          <p:cNvPr id="8" name="Text 6">
            <a:extLst>
              <a:ext uri="{FF2B5EF4-FFF2-40B4-BE49-F238E27FC236}">
                <a16:creationId xmlns:a16="http://schemas.microsoft.com/office/drawing/2014/main" id="{C8650DE0-2F39-2734-D47A-D487D9729E45}"/>
              </a:ext>
            </a:extLst>
          </p:cNvPr>
          <p:cNvSpPr/>
          <p:nvPr/>
        </p:nvSpPr>
        <p:spPr>
          <a:xfrm>
            <a:off x="868680" y="2788920"/>
            <a:ext cx="3108960" cy="502920"/>
          </a:xfrm>
          <a:prstGeom prst="rect">
            <a:avLst/>
          </a:prstGeom>
          <a:noFill/>
          <a:ln/>
        </p:spPr>
        <p:txBody>
          <a:bodyPr wrap="square" lIns="0" tIns="0" rIns="0" bIns="0" rtlCol="0" anchor="t"/>
          <a:lstStyle/>
          <a:p>
            <a:pPr marL="0" indent="0">
              <a:buNone/>
            </a:pPr>
            <a:r>
              <a:rPr lang="en-US" sz="2000" b="1">
                <a:solidFill>
                  <a:srgbClr val="213547"/>
                </a:solidFill>
                <a:ea typeface="Calibri"/>
                <a:cs typeface="Calibri"/>
              </a:rPr>
              <a:t>Startseite</a:t>
            </a:r>
            <a:endParaRPr lang="en-US" sz="2000">
              <a:solidFill>
                <a:srgbClr val="000000"/>
              </a:solidFill>
              <a:ea typeface="Calibri"/>
              <a:cs typeface="Calibri"/>
            </a:endParaRPr>
          </a:p>
        </p:txBody>
      </p:sp>
      <p:sp>
        <p:nvSpPr>
          <p:cNvPr id="9" name="Text 7">
            <a:extLst>
              <a:ext uri="{FF2B5EF4-FFF2-40B4-BE49-F238E27FC236}">
                <a16:creationId xmlns:a16="http://schemas.microsoft.com/office/drawing/2014/main" id="{8F7CFA2A-457E-FF34-B9F3-4544CECF6E1C}"/>
              </a:ext>
            </a:extLst>
          </p:cNvPr>
          <p:cNvSpPr/>
          <p:nvPr/>
        </p:nvSpPr>
        <p:spPr>
          <a:xfrm>
            <a:off x="868680" y="3383280"/>
            <a:ext cx="3108960" cy="2377440"/>
          </a:xfrm>
          <a:prstGeom prst="rect">
            <a:avLst/>
          </a:prstGeom>
          <a:noFill/>
          <a:ln/>
        </p:spPr>
        <p:txBody>
          <a:bodyPr wrap="square" lIns="0" tIns="0" rIns="0" bIns="0" rtlCol="0" anchor="t"/>
          <a:lstStyle/>
          <a:p>
            <a:pPr marL="285750" indent="-285750">
              <a:buFont typeface="Calibri,Sans-Serif"/>
              <a:buChar char="-"/>
            </a:pPr>
            <a:r>
              <a:rPr lang="en-US" sz="1400" err="1">
                <a:solidFill>
                  <a:srgbClr val="5A6A7A"/>
                </a:solidFill>
                <a:latin typeface="Calibri"/>
                <a:ea typeface="Calibri"/>
                <a:cs typeface="Calibri"/>
              </a:rPr>
              <a:t>Zeigt</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eine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klare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übersicht</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über</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verschiedene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Kurse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innerhalb</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definierter</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Kategorien</a:t>
            </a:r>
            <a:r>
              <a:rPr lang="en-US" sz="1400">
                <a:solidFill>
                  <a:srgbClr val="5A6A7A"/>
                </a:solidFill>
                <a:latin typeface="Calibri"/>
                <a:ea typeface="Calibri"/>
                <a:cs typeface="Calibri"/>
              </a:rPr>
              <a:t>.</a:t>
            </a:r>
          </a:p>
          <a:p>
            <a:pPr marL="285750" indent="-285750">
              <a:buFont typeface="Calibri,Sans-Serif"/>
              <a:buChar char="-"/>
            </a:pPr>
            <a:endParaRPr lang="en-US" sz="1400">
              <a:solidFill>
                <a:srgbClr val="5A6A7A"/>
              </a:solidFill>
              <a:latin typeface="Calibri"/>
              <a:ea typeface="Calibri"/>
              <a:cs typeface="Calibri"/>
            </a:endParaRPr>
          </a:p>
          <a:p>
            <a:pPr marL="285750" indent="-285750">
              <a:buFont typeface="Calibri,Sans-Serif"/>
              <a:buChar char="-"/>
            </a:pPr>
            <a:r>
              <a:rPr lang="en-US" sz="1400" err="1">
                <a:solidFill>
                  <a:srgbClr val="5A6A7A"/>
                </a:solidFill>
                <a:latin typeface="Calibri"/>
                <a:ea typeface="Calibri"/>
                <a:cs typeface="Calibri"/>
              </a:rPr>
              <a:t>Kurse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werden</a:t>
            </a:r>
            <a:r>
              <a:rPr lang="en-US" sz="1400">
                <a:solidFill>
                  <a:srgbClr val="5A6A7A"/>
                </a:solidFill>
                <a:latin typeface="Calibri"/>
                <a:ea typeface="Calibri"/>
                <a:cs typeface="Calibri"/>
              </a:rPr>
              <a:t> in </a:t>
            </a:r>
            <a:r>
              <a:rPr lang="en-US" sz="1400" err="1">
                <a:solidFill>
                  <a:srgbClr val="5A6A7A"/>
                </a:solidFill>
                <a:latin typeface="Calibri"/>
                <a:ea typeface="Calibri"/>
                <a:cs typeface="Calibri"/>
              </a:rPr>
              <a:t>einem</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Karousel</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bereitgestellt</a:t>
            </a:r>
            <a:r>
              <a:rPr lang="en-US" sz="1400">
                <a:solidFill>
                  <a:srgbClr val="5A6A7A"/>
                </a:solidFill>
                <a:latin typeface="Calibri"/>
                <a:ea typeface="Calibri"/>
                <a:cs typeface="Calibri"/>
              </a:rPr>
              <a:t> um dem </a:t>
            </a:r>
            <a:r>
              <a:rPr lang="en-US" sz="1400" err="1">
                <a:solidFill>
                  <a:srgbClr val="5A6A7A"/>
                </a:solidFill>
                <a:latin typeface="Calibri"/>
                <a:ea typeface="Calibri"/>
                <a:cs typeface="Calibri"/>
              </a:rPr>
              <a:t>Beutzer</a:t>
            </a:r>
            <a:r>
              <a:rPr lang="en-US" sz="1400">
                <a:solidFill>
                  <a:srgbClr val="5A6A7A"/>
                </a:solidFill>
                <a:latin typeface="Calibri"/>
                <a:ea typeface="Calibri"/>
                <a:cs typeface="Calibri"/>
              </a:rPr>
              <a:t> das </a:t>
            </a:r>
            <a:r>
              <a:rPr lang="en-US" sz="1400" err="1">
                <a:solidFill>
                  <a:srgbClr val="5A6A7A"/>
                </a:solidFill>
                <a:latin typeface="Calibri"/>
                <a:ea typeface="Calibri"/>
                <a:cs typeface="Calibri"/>
              </a:rPr>
              <a:t>Gefühl</a:t>
            </a:r>
            <a:r>
              <a:rPr lang="en-US" sz="1400">
                <a:solidFill>
                  <a:srgbClr val="5A6A7A"/>
                </a:solidFill>
                <a:latin typeface="Calibri"/>
                <a:ea typeface="Calibri"/>
                <a:cs typeface="Calibri"/>
              </a:rPr>
              <a:t> von "</a:t>
            </a:r>
            <a:r>
              <a:rPr lang="en-US" sz="1400" err="1">
                <a:solidFill>
                  <a:srgbClr val="5A6A7A"/>
                </a:solidFill>
                <a:latin typeface="Calibri"/>
                <a:ea typeface="Calibri"/>
                <a:cs typeface="Calibri"/>
              </a:rPr>
              <a:t>Endlosem</a:t>
            </a:r>
            <a:r>
              <a:rPr lang="en-US" sz="1400">
                <a:solidFill>
                  <a:srgbClr val="5A6A7A"/>
                </a:solidFill>
                <a:latin typeface="Calibri"/>
                <a:ea typeface="Calibri"/>
                <a:cs typeface="Calibri"/>
              </a:rPr>
              <a:t>" Content </a:t>
            </a:r>
            <a:r>
              <a:rPr lang="en-US" sz="1400" err="1">
                <a:solidFill>
                  <a:srgbClr val="5A6A7A"/>
                </a:solidFill>
                <a:latin typeface="Calibri"/>
                <a:ea typeface="Calibri"/>
                <a:cs typeface="Calibri"/>
              </a:rPr>
              <a:t>zu</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geben</a:t>
            </a:r>
          </a:p>
          <a:p>
            <a:endParaRPr lang="en-US" sz="1400">
              <a:solidFill>
                <a:srgbClr val="5A6A7A"/>
              </a:solidFill>
              <a:latin typeface="Calibri"/>
              <a:ea typeface="Calibri"/>
              <a:cs typeface="Calibri"/>
            </a:endParaRPr>
          </a:p>
          <a:p>
            <a:pPr marL="0" indent="0">
              <a:buNone/>
            </a:pPr>
            <a:endParaRPr lang="en-US" sz="1400">
              <a:solidFill>
                <a:srgbClr val="5A6A7A"/>
              </a:solidFill>
              <a:ea typeface="Calibri"/>
              <a:cs typeface="Calibri"/>
            </a:endParaRPr>
          </a:p>
        </p:txBody>
      </p:sp>
      <p:sp>
        <p:nvSpPr>
          <p:cNvPr id="10" name="Shape 8">
            <a:extLst>
              <a:ext uri="{FF2B5EF4-FFF2-40B4-BE49-F238E27FC236}">
                <a16:creationId xmlns:a16="http://schemas.microsoft.com/office/drawing/2014/main" id="{E185871A-8E08-4776-19C5-34686857ECE9}"/>
              </a:ext>
            </a:extLst>
          </p:cNvPr>
          <p:cNvSpPr/>
          <p:nvPr/>
        </p:nvSpPr>
        <p:spPr>
          <a:xfrm>
            <a:off x="44348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1" name="Shape 9">
            <a:extLst>
              <a:ext uri="{FF2B5EF4-FFF2-40B4-BE49-F238E27FC236}">
                <a16:creationId xmlns:a16="http://schemas.microsoft.com/office/drawing/2014/main" id="{BB7E8742-D8AF-D71A-F0CD-C519A218EF28}"/>
              </a:ext>
            </a:extLst>
          </p:cNvPr>
          <p:cNvSpPr/>
          <p:nvPr/>
        </p:nvSpPr>
        <p:spPr>
          <a:xfrm>
            <a:off x="4754880" y="2423160"/>
            <a:ext cx="164592" cy="164592"/>
          </a:xfrm>
          <a:prstGeom prst="ellipse">
            <a:avLst/>
          </a:prstGeom>
          <a:solidFill>
            <a:srgbClr val="F0993E"/>
          </a:solidFill>
          <a:ln w="12700">
            <a:solidFill>
              <a:srgbClr val="F0993E"/>
            </a:solidFill>
            <a:prstDash val="solid"/>
          </a:ln>
        </p:spPr>
        <p:txBody>
          <a:bodyPr/>
          <a:lstStyle/>
          <a:p>
            <a:endParaRPr lang="de-DE"/>
          </a:p>
        </p:txBody>
      </p:sp>
      <p:sp>
        <p:nvSpPr>
          <p:cNvPr id="12" name="Text 10">
            <a:extLst>
              <a:ext uri="{FF2B5EF4-FFF2-40B4-BE49-F238E27FC236}">
                <a16:creationId xmlns:a16="http://schemas.microsoft.com/office/drawing/2014/main" id="{A9DBFDD4-BCE1-44BD-6F19-43ED40309D3B}"/>
              </a:ext>
            </a:extLst>
          </p:cNvPr>
          <p:cNvSpPr/>
          <p:nvPr/>
        </p:nvSpPr>
        <p:spPr>
          <a:xfrm>
            <a:off x="4754880" y="2788920"/>
            <a:ext cx="3108960" cy="502920"/>
          </a:xfrm>
          <a:prstGeom prst="rect">
            <a:avLst/>
          </a:prstGeom>
          <a:noFill/>
          <a:ln/>
        </p:spPr>
        <p:txBody>
          <a:bodyPr wrap="square" lIns="0" tIns="0" rIns="0" bIns="0" rtlCol="0" anchor="t"/>
          <a:lstStyle/>
          <a:p>
            <a:r>
              <a:rPr lang="en-US" sz="2000" b="1" err="1">
                <a:solidFill>
                  <a:srgbClr val="213547"/>
                </a:solidFill>
                <a:latin typeface="Calibri"/>
                <a:ea typeface="Calibri"/>
                <a:cs typeface="Calibri"/>
              </a:rPr>
              <a:t>Navigationsleiste</a:t>
            </a:r>
            <a:endParaRPr lang="en-US" sz="2000" err="1">
              <a:solidFill>
                <a:srgbClr val="213547"/>
              </a:solidFill>
              <a:latin typeface="Calibri"/>
              <a:ea typeface="Calibri"/>
              <a:cs typeface="Calibri"/>
            </a:endParaRPr>
          </a:p>
          <a:p>
            <a:pPr marL="0" indent="0">
              <a:buNone/>
            </a:pPr>
            <a:endParaRPr lang="en-US" sz="2000" b="1">
              <a:solidFill>
                <a:srgbClr val="213547"/>
              </a:solidFill>
              <a:ea typeface="Calibri"/>
              <a:cs typeface="Calibri"/>
            </a:endParaRPr>
          </a:p>
        </p:txBody>
      </p:sp>
      <p:sp>
        <p:nvSpPr>
          <p:cNvPr id="13" name="Text 11">
            <a:extLst>
              <a:ext uri="{FF2B5EF4-FFF2-40B4-BE49-F238E27FC236}">
                <a16:creationId xmlns:a16="http://schemas.microsoft.com/office/drawing/2014/main" id="{BC84C8CB-F085-3268-9762-952D31C0F122}"/>
              </a:ext>
            </a:extLst>
          </p:cNvPr>
          <p:cNvSpPr/>
          <p:nvPr/>
        </p:nvSpPr>
        <p:spPr>
          <a:xfrm>
            <a:off x="4754880" y="3383280"/>
            <a:ext cx="3108960" cy="2377440"/>
          </a:xfrm>
          <a:prstGeom prst="rect">
            <a:avLst/>
          </a:prstGeom>
          <a:noFill/>
          <a:ln/>
        </p:spPr>
        <p:txBody>
          <a:bodyPr wrap="square" lIns="0" tIns="0" rIns="0" bIns="0" rtlCol="0" anchor="t"/>
          <a:lstStyle/>
          <a:p>
            <a:pPr marL="285750" indent="-285750">
              <a:buFont typeface="Calibri,Sans-Serif"/>
              <a:buChar char="-"/>
            </a:pPr>
            <a:r>
              <a:rPr lang="en-US" sz="1200">
                <a:solidFill>
                  <a:srgbClr val="5A6A7A"/>
                </a:solidFill>
                <a:latin typeface="Calibri"/>
                <a:ea typeface="Calibri"/>
                <a:cs typeface="Calibri"/>
              </a:rPr>
              <a:t>Zeigt die </a:t>
            </a:r>
            <a:r>
              <a:rPr lang="en-US" sz="1200" err="1">
                <a:solidFill>
                  <a:srgbClr val="5A6A7A"/>
                </a:solidFill>
                <a:latin typeface="Calibri"/>
                <a:ea typeface="Calibri"/>
                <a:cs typeface="Calibri"/>
              </a:rPr>
              <a:t>wichtigsten</a:t>
            </a:r>
            <a:r>
              <a:rPr lang="en-US" sz="1200">
                <a:solidFill>
                  <a:srgbClr val="5A6A7A"/>
                </a:solidFill>
                <a:latin typeface="Calibri"/>
                <a:ea typeface="Calibri"/>
                <a:cs typeface="Calibri"/>
              </a:rPr>
              <a:t> </a:t>
            </a:r>
            <a:r>
              <a:rPr lang="en-US" sz="1200" err="1">
                <a:solidFill>
                  <a:srgbClr val="5A6A7A"/>
                </a:solidFill>
                <a:latin typeface="Calibri"/>
                <a:ea typeface="Calibri"/>
                <a:cs typeface="Calibri"/>
              </a:rPr>
              <a:t>Optionen</a:t>
            </a:r>
            <a:r>
              <a:rPr lang="en-US" sz="1200">
                <a:solidFill>
                  <a:srgbClr val="5A6A7A"/>
                </a:solidFill>
                <a:latin typeface="Calibri"/>
                <a:ea typeface="Calibri"/>
                <a:cs typeface="Calibri"/>
              </a:rPr>
              <a:t> und </a:t>
            </a:r>
            <a:r>
              <a:rPr lang="en-US" sz="1200" err="1">
                <a:solidFill>
                  <a:srgbClr val="5A6A7A"/>
                </a:solidFill>
                <a:latin typeface="Calibri"/>
                <a:ea typeface="Calibri"/>
                <a:cs typeface="Calibri"/>
              </a:rPr>
              <a:t>Informationenen</a:t>
            </a:r>
            <a:r>
              <a:rPr lang="en-US" sz="1200">
                <a:solidFill>
                  <a:srgbClr val="5A6A7A"/>
                </a:solidFill>
                <a:latin typeface="Calibri"/>
                <a:ea typeface="Calibri"/>
                <a:cs typeface="Calibri"/>
              </a:rPr>
              <a:t> in </a:t>
            </a:r>
            <a:r>
              <a:rPr lang="en-US" sz="1200" err="1">
                <a:solidFill>
                  <a:srgbClr val="5A6A7A"/>
                </a:solidFill>
                <a:latin typeface="Calibri"/>
                <a:ea typeface="Calibri"/>
                <a:cs typeface="Calibri"/>
              </a:rPr>
              <a:t>einer</a:t>
            </a:r>
            <a:r>
              <a:rPr lang="en-US" sz="1200">
                <a:solidFill>
                  <a:srgbClr val="5A6A7A"/>
                </a:solidFill>
                <a:latin typeface="Calibri"/>
                <a:ea typeface="Calibri"/>
                <a:cs typeface="Calibri"/>
              </a:rPr>
              <a:t> </a:t>
            </a:r>
            <a:r>
              <a:rPr lang="en-US" sz="1200" err="1">
                <a:solidFill>
                  <a:srgbClr val="5A6A7A"/>
                </a:solidFill>
                <a:latin typeface="Calibri"/>
                <a:ea typeface="Calibri"/>
                <a:cs typeface="Calibri"/>
              </a:rPr>
              <a:t>geordneten</a:t>
            </a:r>
            <a:r>
              <a:rPr lang="en-US" sz="1200">
                <a:solidFill>
                  <a:srgbClr val="5A6A7A"/>
                </a:solidFill>
                <a:latin typeface="Calibri"/>
                <a:ea typeface="Calibri"/>
                <a:cs typeface="Calibri"/>
              </a:rPr>
              <a:t> </a:t>
            </a:r>
            <a:r>
              <a:rPr lang="en-US" sz="1200" err="1">
                <a:solidFill>
                  <a:srgbClr val="5A6A7A"/>
                </a:solidFill>
                <a:latin typeface="Calibri"/>
                <a:ea typeface="Calibri"/>
                <a:cs typeface="Calibri"/>
              </a:rPr>
              <a:t>Reihnfolge</a:t>
            </a:r>
          </a:p>
          <a:p>
            <a:pPr marL="285750" indent="-285750">
              <a:buFont typeface="Calibri,Sans-Serif"/>
              <a:buChar char="-"/>
            </a:pPr>
            <a:endParaRPr lang="en-US" sz="1200">
              <a:solidFill>
                <a:srgbClr val="5A6A7A"/>
              </a:solidFill>
              <a:latin typeface="Calibri"/>
              <a:ea typeface="Calibri"/>
              <a:cs typeface="Calibri"/>
            </a:endParaRPr>
          </a:p>
          <a:p>
            <a:pPr marL="285750" indent="-285750">
              <a:buFont typeface="Calibri,Sans-Serif"/>
              <a:buChar char="-"/>
            </a:pPr>
            <a:r>
              <a:rPr lang="en-US" sz="1200">
                <a:solidFill>
                  <a:srgbClr val="5A6A7A"/>
                </a:solidFill>
                <a:latin typeface="Calibri"/>
                <a:ea typeface="Calibri"/>
                <a:cs typeface="Calibri"/>
              </a:rPr>
              <a:t>Website-Logo</a:t>
            </a:r>
          </a:p>
          <a:p>
            <a:pPr marL="285750" indent="-285750">
              <a:buFont typeface="Calibri,Sans-Serif"/>
              <a:buChar char="-"/>
            </a:pPr>
            <a:endParaRPr lang="en-US" sz="1200">
              <a:solidFill>
                <a:srgbClr val="5A6A7A"/>
              </a:solidFill>
              <a:latin typeface="Calibri"/>
              <a:ea typeface="Calibri"/>
              <a:cs typeface="Calibri"/>
            </a:endParaRPr>
          </a:p>
          <a:p>
            <a:pPr marL="285750" indent="-285750">
              <a:buFont typeface="Calibri,Sans-Serif"/>
              <a:buChar char="-"/>
            </a:pPr>
            <a:r>
              <a:rPr lang="en-US" sz="1200">
                <a:solidFill>
                  <a:srgbClr val="5A6A7A"/>
                </a:solidFill>
                <a:latin typeface="Calibri"/>
                <a:ea typeface="Calibri"/>
                <a:cs typeface="Calibri"/>
              </a:rPr>
              <a:t>Zeigt den </a:t>
            </a:r>
            <a:r>
              <a:rPr lang="en-US" sz="1200" err="1">
                <a:solidFill>
                  <a:srgbClr val="5A6A7A"/>
                </a:solidFill>
                <a:latin typeface="Calibri"/>
                <a:ea typeface="Calibri"/>
                <a:cs typeface="Calibri"/>
              </a:rPr>
              <a:t>Benutzer</a:t>
            </a:r>
            <a:r>
              <a:rPr lang="en-US" sz="1200">
                <a:solidFill>
                  <a:srgbClr val="5A6A7A"/>
                </a:solidFill>
                <a:latin typeface="Calibri"/>
                <a:ea typeface="Calibri"/>
                <a:cs typeface="Calibri"/>
              </a:rPr>
              <a:t> und </a:t>
            </a:r>
            <a:r>
              <a:rPr lang="en-US" sz="1200" err="1">
                <a:solidFill>
                  <a:srgbClr val="5A6A7A"/>
                </a:solidFill>
                <a:latin typeface="Calibri"/>
                <a:ea typeface="Calibri"/>
                <a:cs typeface="Calibri"/>
              </a:rPr>
              <a:t>Währungsstand</a:t>
            </a:r>
          </a:p>
          <a:p>
            <a:pPr marL="285750" indent="-285750">
              <a:buFont typeface="Calibri,Sans-Serif"/>
              <a:buChar char="-"/>
            </a:pPr>
            <a:endParaRPr lang="en-US" sz="1200">
              <a:solidFill>
                <a:srgbClr val="5A6A7A"/>
              </a:solidFill>
              <a:latin typeface="Calibri"/>
              <a:ea typeface="Calibri"/>
              <a:cs typeface="Calibri"/>
            </a:endParaRPr>
          </a:p>
          <a:p>
            <a:pPr marL="285750" indent="-285750">
              <a:buFont typeface="Calibri,Sans-Serif"/>
              <a:buChar char="-"/>
            </a:pPr>
            <a:r>
              <a:rPr lang="en-US" sz="1200">
                <a:solidFill>
                  <a:srgbClr val="5A6A7A"/>
                </a:solidFill>
                <a:latin typeface="Calibri"/>
                <a:ea typeface="Calibri"/>
                <a:cs typeface="Calibri"/>
              </a:rPr>
              <a:t>Klar </a:t>
            </a:r>
            <a:r>
              <a:rPr lang="en-US" sz="1200" err="1">
                <a:solidFill>
                  <a:srgbClr val="5A6A7A"/>
                </a:solidFill>
                <a:latin typeface="Calibri"/>
                <a:ea typeface="Calibri"/>
                <a:cs typeface="Calibri"/>
              </a:rPr>
              <a:t>definierte</a:t>
            </a:r>
            <a:r>
              <a:rPr lang="en-US" sz="1200">
                <a:solidFill>
                  <a:srgbClr val="5A6A7A"/>
                </a:solidFill>
                <a:latin typeface="Calibri"/>
                <a:ea typeface="Calibri"/>
                <a:cs typeface="Calibri"/>
              </a:rPr>
              <a:t> </a:t>
            </a:r>
            <a:r>
              <a:rPr lang="en-US" sz="1200" err="1">
                <a:solidFill>
                  <a:srgbClr val="5A6A7A"/>
                </a:solidFill>
                <a:latin typeface="Calibri"/>
                <a:ea typeface="Calibri"/>
                <a:cs typeface="Calibri"/>
              </a:rPr>
              <a:t>Suchleiste</a:t>
            </a:r>
          </a:p>
          <a:p>
            <a:pPr marL="285750" indent="-285750">
              <a:buFont typeface="Calibri,Sans-Serif"/>
              <a:buChar char="-"/>
            </a:pPr>
            <a:endParaRPr lang="en-US" sz="1200">
              <a:solidFill>
                <a:srgbClr val="5A6A7A"/>
              </a:solidFill>
              <a:latin typeface="Calibri"/>
              <a:ea typeface="Calibri"/>
              <a:cs typeface="Calibri"/>
            </a:endParaRPr>
          </a:p>
          <a:p>
            <a:pPr marL="285750" indent="-285750">
              <a:buFont typeface="Calibri,Sans-Serif"/>
              <a:buChar char="-"/>
            </a:pPr>
            <a:r>
              <a:rPr lang="en-US" sz="1200">
                <a:solidFill>
                  <a:srgbClr val="5A6A7A"/>
                </a:solidFill>
                <a:latin typeface="Calibri"/>
                <a:ea typeface="Calibri"/>
                <a:cs typeface="Calibri"/>
              </a:rPr>
              <a:t>Theme-Toggle</a:t>
            </a:r>
          </a:p>
          <a:p>
            <a:pPr marL="0" indent="0">
              <a:buNone/>
            </a:pPr>
            <a:endParaRPr lang="en-US" sz="1400">
              <a:solidFill>
                <a:srgbClr val="5A6A7A"/>
              </a:solidFill>
              <a:ea typeface="Calibri"/>
              <a:cs typeface="Calibri"/>
            </a:endParaRPr>
          </a:p>
        </p:txBody>
      </p:sp>
      <p:sp>
        <p:nvSpPr>
          <p:cNvPr id="14" name="Shape 12">
            <a:extLst>
              <a:ext uri="{FF2B5EF4-FFF2-40B4-BE49-F238E27FC236}">
                <a16:creationId xmlns:a16="http://schemas.microsoft.com/office/drawing/2014/main" id="{9DA4F950-F613-9DED-5679-064ECDDC8DCA}"/>
              </a:ext>
            </a:extLst>
          </p:cNvPr>
          <p:cNvSpPr/>
          <p:nvPr/>
        </p:nvSpPr>
        <p:spPr>
          <a:xfrm>
            <a:off x="83210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5" name="Shape 13">
            <a:extLst>
              <a:ext uri="{FF2B5EF4-FFF2-40B4-BE49-F238E27FC236}">
                <a16:creationId xmlns:a16="http://schemas.microsoft.com/office/drawing/2014/main" id="{50785D67-DCEB-6F88-ABEE-1EF541CC869E}"/>
              </a:ext>
            </a:extLst>
          </p:cNvPr>
          <p:cNvSpPr/>
          <p:nvPr/>
        </p:nvSpPr>
        <p:spPr>
          <a:xfrm>
            <a:off x="8641080" y="2423160"/>
            <a:ext cx="164592" cy="164592"/>
          </a:xfrm>
          <a:prstGeom prst="ellipse">
            <a:avLst/>
          </a:prstGeom>
          <a:solidFill>
            <a:srgbClr val="F0993E"/>
          </a:solidFill>
          <a:ln w="12700">
            <a:solidFill>
              <a:srgbClr val="F0993E"/>
            </a:solidFill>
            <a:prstDash val="solid"/>
          </a:ln>
        </p:spPr>
        <p:txBody>
          <a:bodyPr/>
          <a:lstStyle/>
          <a:p>
            <a:endParaRPr lang="de-DE"/>
          </a:p>
        </p:txBody>
      </p:sp>
      <p:sp>
        <p:nvSpPr>
          <p:cNvPr id="16" name="Text 14">
            <a:extLst>
              <a:ext uri="{FF2B5EF4-FFF2-40B4-BE49-F238E27FC236}">
                <a16:creationId xmlns:a16="http://schemas.microsoft.com/office/drawing/2014/main" id="{6FC71AE9-245F-F82C-2011-CAFE71CAFFD2}"/>
              </a:ext>
            </a:extLst>
          </p:cNvPr>
          <p:cNvSpPr/>
          <p:nvPr/>
        </p:nvSpPr>
        <p:spPr>
          <a:xfrm>
            <a:off x="8641080"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a:ea typeface="Calibri"/>
                <a:cs typeface="Calibri"/>
              </a:rPr>
              <a:t>Themes</a:t>
            </a:r>
            <a:endParaRPr lang="en-US"/>
          </a:p>
        </p:txBody>
      </p:sp>
      <p:sp>
        <p:nvSpPr>
          <p:cNvPr id="17" name="Text 15">
            <a:extLst>
              <a:ext uri="{FF2B5EF4-FFF2-40B4-BE49-F238E27FC236}">
                <a16:creationId xmlns:a16="http://schemas.microsoft.com/office/drawing/2014/main" id="{F2C545F5-68D6-17BE-96DA-3FB2F0D0AEB7}"/>
              </a:ext>
            </a:extLst>
          </p:cNvPr>
          <p:cNvSpPr/>
          <p:nvPr/>
        </p:nvSpPr>
        <p:spPr>
          <a:xfrm>
            <a:off x="8641080" y="3383280"/>
            <a:ext cx="3108960" cy="2377440"/>
          </a:xfrm>
          <a:prstGeom prst="rect">
            <a:avLst/>
          </a:prstGeom>
          <a:noFill/>
          <a:ln/>
        </p:spPr>
        <p:txBody>
          <a:bodyPr wrap="square" lIns="0" tIns="0" rIns="0" bIns="0" rtlCol="0" anchor="t"/>
          <a:lstStyle/>
          <a:p>
            <a:r>
              <a:rPr lang="en-US" sz="1400">
                <a:solidFill>
                  <a:srgbClr val="5A6A7A"/>
                </a:solidFill>
                <a:ea typeface="+mn-lt"/>
                <a:cs typeface="+mn-lt"/>
              </a:rPr>
              <a:t>Das Frontend </a:t>
            </a:r>
            <a:r>
              <a:rPr lang="en-US" sz="1400" err="1">
                <a:solidFill>
                  <a:srgbClr val="5A6A7A"/>
                </a:solidFill>
                <a:ea typeface="+mn-lt"/>
                <a:cs typeface="+mn-lt"/>
              </a:rPr>
              <a:t>kann</a:t>
            </a:r>
            <a:r>
              <a:rPr lang="en-US" sz="1400">
                <a:solidFill>
                  <a:srgbClr val="5A6A7A"/>
                </a:solidFill>
                <a:ea typeface="+mn-lt"/>
                <a:cs typeface="+mn-lt"/>
              </a:rPr>
              <a:t> auf </a:t>
            </a:r>
            <a:r>
              <a:rPr lang="en-US" sz="1400" err="1">
                <a:solidFill>
                  <a:srgbClr val="5A6A7A"/>
                </a:solidFill>
                <a:ea typeface="+mn-lt"/>
                <a:cs typeface="+mn-lt"/>
              </a:rPr>
              <a:t>Knopfdruck</a:t>
            </a:r>
            <a:r>
              <a:rPr lang="en-US" sz="1400">
                <a:solidFill>
                  <a:srgbClr val="5A6A7A"/>
                </a:solidFill>
                <a:ea typeface="+mn-lt"/>
                <a:cs typeface="+mn-lt"/>
              </a:rPr>
              <a:t> von </a:t>
            </a:r>
            <a:r>
              <a:rPr lang="en-US" sz="1400" err="1">
                <a:solidFill>
                  <a:srgbClr val="5A6A7A"/>
                </a:solidFill>
                <a:ea typeface="+mn-lt"/>
                <a:cs typeface="+mn-lt"/>
              </a:rPr>
              <a:t>einer</a:t>
            </a:r>
            <a:r>
              <a:rPr lang="en-US" sz="1400">
                <a:solidFill>
                  <a:srgbClr val="5A6A7A"/>
                </a:solidFill>
                <a:ea typeface="+mn-lt"/>
                <a:cs typeface="+mn-lt"/>
              </a:rPr>
              <a:t> </a:t>
            </a:r>
            <a:r>
              <a:rPr lang="en-US" sz="1400" err="1">
                <a:solidFill>
                  <a:srgbClr val="5A6A7A"/>
                </a:solidFill>
                <a:ea typeface="+mn-lt"/>
                <a:cs typeface="+mn-lt"/>
              </a:rPr>
              <a:t>hellen</a:t>
            </a:r>
            <a:r>
              <a:rPr lang="en-US" sz="1400">
                <a:solidFill>
                  <a:srgbClr val="5A6A7A"/>
                </a:solidFill>
                <a:ea typeface="+mn-lt"/>
                <a:cs typeface="+mn-lt"/>
              </a:rPr>
              <a:t> </a:t>
            </a:r>
            <a:r>
              <a:rPr lang="en-US" sz="1400" err="1">
                <a:solidFill>
                  <a:srgbClr val="5A6A7A"/>
                </a:solidFill>
                <a:ea typeface="+mn-lt"/>
                <a:cs typeface="+mn-lt"/>
              </a:rPr>
              <a:t>Anzeige</a:t>
            </a:r>
            <a:r>
              <a:rPr lang="en-US" sz="1400">
                <a:solidFill>
                  <a:srgbClr val="5A6A7A"/>
                </a:solidFill>
                <a:ea typeface="+mn-lt"/>
                <a:cs typeface="+mn-lt"/>
              </a:rPr>
              <a:t> in </a:t>
            </a:r>
            <a:r>
              <a:rPr lang="en-US" sz="1400" err="1">
                <a:solidFill>
                  <a:srgbClr val="5A6A7A"/>
                </a:solidFill>
                <a:ea typeface="+mn-lt"/>
                <a:cs typeface="+mn-lt"/>
              </a:rPr>
              <a:t>eine</a:t>
            </a:r>
            <a:r>
              <a:rPr lang="en-US" sz="1400">
                <a:solidFill>
                  <a:srgbClr val="5A6A7A"/>
                </a:solidFill>
                <a:ea typeface="+mn-lt"/>
                <a:cs typeface="+mn-lt"/>
              </a:rPr>
              <a:t> </a:t>
            </a:r>
            <a:r>
              <a:rPr lang="en-US" sz="1400" err="1">
                <a:solidFill>
                  <a:srgbClr val="5A6A7A"/>
                </a:solidFill>
                <a:ea typeface="+mn-lt"/>
                <a:cs typeface="+mn-lt"/>
              </a:rPr>
              <a:t>augenschonende</a:t>
            </a:r>
            <a:r>
              <a:rPr lang="en-US" sz="1400">
                <a:solidFill>
                  <a:srgbClr val="5A6A7A"/>
                </a:solidFill>
                <a:ea typeface="+mn-lt"/>
                <a:cs typeface="+mn-lt"/>
              </a:rPr>
              <a:t> </a:t>
            </a:r>
            <a:r>
              <a:rPr lang="en-US" sz="1400" err="1">
                <a:solidFill>
                  <a:srgbClr val="5A6A7A"/>
                </a:solidFill>
                <a:ea typeface="+mn-lt"/>
                <a:cs typeface="+mn-lt"/>
              </a:rPr>
              <a:t>dunklere</a:t>
            </a:r>
            <a:r>
              <a:rPr lang="en-US" sz="1400">
                <a:solidFill>
                  <a:srgbClr val="5A6A7A"/>
                </a:solidFill>
                <a:ea typeface="+mn-lt"/>
                <a:cs typeface="+mn-lt"/>
              </a:rPr>
              <a:t> </a:t>
            </a:r>
            <a:r>
              <a:rPr lang="en-US" sz="1400" err="1">
                <a:solidFill>
                  <a:srgbClr val="5A6A7A"/>
                </a:solidFill>
                <a:ea typeface="+mn-lt"/>
                <a:cs typeface="+mn-lt"/>
              </a:rPr>
              <a:t>Anzeige</a:t>
            </a:r>
            <a:r>
              <a:rPr lang="en-US" sz="1400">
                <a:solidFill>
                  <a:srgbClr val="5A6A7A"/>
                </a:solidFill>
                <a:ea typeface="+mn-lt"/>
                <a:cs typeface="+mn-lt"/>
              </a:rPr>
              <a:t> </a:t>
            </a:r>
            <a:r>
              <a:rPr lang="en-US" sz="1400" err="1">
                <a:solidFill>
                  <a:srgbClr val="5A6A7A"/>
                </a:solidFill>
                <a:ea typeface="+mn-lt"/>
                <a:cs typeface="+mn-lt"/>
              </a:rPr>
              <a:t>umgewandelt</a:t>
            </a:r>
            <a:r>
              <a:rPr lang="en-US" sz="1400">
                <a:solidFill>
                  <a:srgbClr val="5A6A7A"/>
                </a:solidFill>
                <a:ea typeface="+mn-lt"/>
                <a:cs typeface="+mn-lt"/>
              </a:rPr>
              <a:t> </a:t>
            </a:r>
            <a:r>
              <a:rPr lang="en-US" sz="1400" err="1">
                <a:solidFill>
                  <a:srgbClr val="5A6A7A"/>
                </a:solidFill>
                <a:ea typeface="+mn-lt"/>
                <a:cs typeface="+mn-lt"/>
              </a:rPr>
              <a:t>werden</a:t>
            </a:r>
            <a:r>
              <a:rPr lang="en-US" sz="1400">
                <a:solidFill>
                  <a:srgbClr val="5A6A7A"/>
                </a:solidFill>
                <a:ea typeface="+mn-lt"/>
                <a:cs typeface="+mn-lt"/>
              </a:rPr>
              <a:t>.</a:t>
            </a:r>
          </a:p>
          <a:p>
            <a:endParaRPr lang="en-US" sz="1400">
              <a:solidFill>
                <a:srgbClr val="5A6A7A"/>
              </a:solidFill>
              <a:ea typeface="Calibri"/>
              <a:cs typeface="Calibri"/>
            </a:endParaRPr>
          </a:p>
        </p:txBody>
      </p:sp>
      <p:sp>
        <p:nvSpPr>
          <p:cNvPr id="18" name="Shape 16">
            <a:extLst>
              <a:ext uri="{FF2B5EF4-FFF2-40B4-BE49-F238E27FC236}">
                <a16:creationId xmlns:a16="http://schemas.microsoft.com/office/drawing/2014/main" id="{D5AEDD51-C6A2-D3FD-54B4-09FDD9165ABC}"/>
              </a:ext>
            </a:extLst>
          </p:cNvPr>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19" name="Text 17">
            <a:extLst>
              <a:ext uri="{FF2B5EF4-FFF2-40B4-BE49-F238E27FC236}">
                <a16:creationId xmlns:a16="http://schemas.microsoft.com/office/drawing/2014/main" id="{A559B4F4-6A15-6841-A3CE-F115FE25BD85}"/>
              </a:ext>
            </a:extLst>
          </p:cNvPr>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0" name="Text 18">
            <a:extLst>
              <a:ext uri="{FF2B5EF4-FFF2-40B4-BE49-F238E27FC236}">
                <a16:creationId xmlns:a16="http://schemas.microsoft.com/office/drawing/2014/main" id="{E2E883A0-07E0-69B1-04ED-DCCB5FE994A2}"/>
              </a:ext>
            </a:extLst>
          </p:cNvPr>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5 / 16</a:t>
            </a:r>
            <a:endParaRPr lang="en-US" sz="1000"/>
          </a:p>
        </p:txBody>
      </p:sp>
    </p:spTree>
    <p:extLst>
      <p:ext uri="{BB962C8B-B14F-4D97-AF65-F5344CB8AC3E}">
        <p14:creationId xmlns:p14="http://schemas.microsoft.com/office/powerpoint/2010/main" val="1219211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B7C904D9-1CD0-7DBC-9154-A23C5BD667A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2A0B70E-ABF0-09C2-FA17-60B3FC4E38FB}"/>
              </a:ext>
            </a:extLst>
          </p:cNvPr>
          <p:cNvSpPr/>
          <p:nvPr/>
        </p:nvSpPr>
        <p:spPr>
          <a:xfrm>
            <a:off x="548640" y="502920"/>
            <a:ext cx="164592" cy="164592"/>
          </a:xfrm>
          <a:prstGeom prst="ellipse">
            <a:avLst/>
          </a:prstGeom>
          <a:solidFill>
            <a:srgbClr val="F0993E"/>
          </a:solidFill>
          <a:ln w="12700">
            <a:solidFill>
              <a:srgbClr val="F0993E"/>
            </a:solidFill>
            <a:prstDash val="solid"/>
          </a:ln>
        </p:spPr>
        <p:txBody>
          <a:bodyPr/>
          <a:lstStyle/>
          <a:p>
            <a:endParaRPr lang="de-DE"/>
          </a:p>
        </p:txBody>
      </p:sp>
      <p:sp>
        <p:nvSpPr>
          <p:cNvPr id="3" name="Text 1">
            <a:extLst>
              <a:ext uri="{FF2B5EF4-FFF2-40B4-BE49-F238E27FC236}">
                <a16:creationId xmlns:a16="http://schemas.microsoft.com/office/drawing/2014/main" id="{3D716102-C764-F145-582F-50291149B3BC}"/>
              </a:ext>
            </a:extLst>
          </p:cNvPr>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F0993E"/>
                </a:solidFill>
                <a:latin typeface="Calibri" pitchFamily="34" charset="0"/>
                <a:ea typeface="Calibri" pitchFamily="34" charset="-122"/>
                <a:cs typeface="Calibri" pitchFamily="34" charset="-120"/>
              </a:rPr>
              <a:t>FRONTEND</a:t>
            </a:r>
            <a:endParaRPr lang="en-US" sz="1100"/>
          </a:p>
        </p:txBody>
      </p:sp>
      <p:sp>
        <p:nvSpPr>
          <p:cNvPr id="4" name="Text 2">
            <a:extLst>
              <a:ext uri="{FF2B5EF4-FFF2-40B4-BE49-F238E27FC236}">
                <a16:creationId xmlns:a16="http://schemas.microsoft.com/office/drawing/2014/main" id="{9A5577B5-968E-DC2D-CA5A-9C74AD5BEEA9}"/>
              </a:ext>
            </a:extLst>
          </p:cNvPr>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a:ea typeface="Calibri"/>
                <a:cs typeface="Calibri"/>
              </a:rPr>
              <a:t>Sammy</a:t>
            </a:r>
            <a:endParaRPr lang="en-US"/>
          </a:p>
        </p:txBody>
      </p:sp>
      <p:sp>
        <p:nvSpPr>
          <p:cNvPr id="5" name="Text 3">
            <a:extLst>
              <a:ext uri="{FF2B5EF4-FFF2-40B4-BE49-F238E27FC236}">
                <a16:creationId xmlns:a16="http://schemas.microsoft.com/office/drawing/2014/main" id="{63CFD08C-B96A-18B5-5069-4560178FCE52}"/>
              </a:ext>
            </a:extLst>
          </p:cNvPr>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Was sehen die Nutzer</a:t>
            </a:r>
            <a:endParaRPr lang="en-US" sz="4000"/>
          </a:p>
        </p:txBody>
      </p:sp>
      <p:sp>
        <p:nvSpPr>
          <p:cNvPr id="10" name="Shape 8">
            <a:extLst>
              <a:ext uri="{FF2B5EF4-FFF2-40B4-BE49-F238E27FC236}">
                <a16:creationId xmlns:a16="http://schemas.microsoft.com/office/drawing/2014/main" id="{E19A8184-8676-97B6-5C12-9F9D4C9E1754}"/>
              </a:ext>
            </a:extLst>
          </p:cNvPr>
          <p:cNvSpPr/>
          <p:nvPr/>
        </p:nvSpPr>
        <p:spPr>
          <a:xfrm>
            <a:off x="525879"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1" name="Shape 9">
            <a:extLst>
              <a:ext uri="{FF2B5EF4-FFF2-40B4-BE49-F238E27FC236}">
                <a16:creationId xmlns:a16="http://schemas.microsoft.com/office/drawing/2014/main" id="{C9E2E28B-1C44-3ADD-3507-30984FF3EAD7}"/>
              </a:ext>
            </a:extLst>
          </p:cNvPr>
          <p:cNvSpPr/>
          <p:nvPr/>
        </p:nvSpPr>
        <p:spPr>
          <a:xfrm>
            <a:off x="845919" y="2423160"/>
            <a:ext cx="164592" cy="164592"/>
          </a:xfrm>
          <a:prstGeom prst="ellipse">
            <a:avLst/>
          </a:prstGeom>
          <a:solidFill>
            <a:srgbClr val="F0993E"/>
          </a:solidFill>
          <a:ln w="12700">
            <a:solidFill>
              <a:srgbClr val="F0993E"/>
            </a:solidFill>
            <a:prstDash val="solid"/>
          </a:ln>
        </p:spPr>
        <p:txBody>
          <a:bodyPr/>
          <a:lstStyle/>
          <a:p>
            <a:endParaRPr lang="de-DE"/>
          </a:p>
        </p:txBody>
      </p:sp>
      <p:sp>
        <p:nvSpPr>
          <p:cNvPr id="12" name="Text 10">
            <a:extLst>
              <a:ext uri="{FF2B5EF4-FFF2-40B4-BE49-F238E27FC236}">
                <a16:creationId xmlns:a16="http://schemas.microsoft.com/office/drawing/2014/main" id="{A9330FF7-8B7D-6B8B-CD06-290F519C00A2}"/>
              </a:ext>
            </a:extLst>
          </p:cNvPr>
          <p:cNvSpPr/>
          <p:nvPr/>
        </p:nvSpPr>
        <p:spPr>
          <a:xfrm>
            <a:off x="845919" y="2788920"/>
            <a:ext cx="3108960" cy="502920"/>
          </a:xfrm>
          <a:prstGeom prst="rect">
            <a:avLst/>
          </a:prstGeom>
          <a:noFill/>
          <a:ln/>
        </p:spPr>
        <p:txBody>
          <a:bodyPr wrap="square" lIns="0" tIns="0" rIns="0" bIns="0" rtlCol="0" anchor="t"/>
          <a:lstStyle/>
          <a:p>
            <a:pPr marL="0" indent="0">
              <a:buNone/>
            </a:pPr>
            <a:r>
              <a:rPr lang="en-US" sz="2000" b="1" err="1">
                <a:solidFill>
                  <a:srgbClr val="213547"/>
                </a:solidFill>
                <a:ea typeface="Calibri"/>
                <a:cs typeface="Calibri"/>
              </a:rPr>
              <a:t>Navigationsleiste</a:t>
            </a:r>
          </a:p>
        </p:txBody>
      </p:sp>
      <p:sp>
        <p:nvSpPr>
          <p:cNvPr id="13" name="Text 11">
            <a:extLst>
              <a:ext uri="{FF2B5EF4-FFF2-40B4-BE49-F238E27FC236}">
                <a16:creationId xmlns:a16="http://schemas.microsoft.com/office/drawing/2014/main" id="{A3CDCA99-6193-4356-BD7D-2DB59E37AA51}"/>
              </a:ext>
            </a:extLst>
          </p:cNvPr>
          <p:cNvSpPr/>
          <p:nvPr/>
        </p:nvSpPr>
        <p:spPr>
          <a:xfrm>
            <a:off x="845919" y="3383280"/>
            <a:ext cx="3108960" cy="2377440"/>
          </a:xfrm>
          <a:prstGeom prst="rect">
            <a:avLst/>
          </a:prstGeom>
          <a:noFill/>
          <a:ln/>
        </p:spPr>
        <p:txBody>
          <a:bodyPr wrap="square" lIns="0" tIns="0" rIns="0" bIns="0" rtlCol="0" anchor="t"/>
          <a:lstStyle/>
          <a:p>
            <a:pPr marL="285750" indent="-285750">
              <a:buFont typeface="Calibri"/>
              <a:buChar char="-"/>
            </a:pPr>
            <a:r>
              <a:rPr lang="en-US" sz="1200">
                <a:solidFill>
                  <a:srgbClr val="5A6A7A"/>
                </a:solidFill>
                <a:ea typeface="Calibri"/>
                <a:cs typeface="Calibri"/>
              </a:rPr>
              <a:t>Zeigt die </a:t>
            </a:r>
            <a:r>
              <a:rPr lang="en-US" sz="1200" err="1">
                <a:solidFill>
                  <a:srgbClr val="5A6A7A"/>
                </a:solidFill>
                <a:ea typeface="Calibri"/>
                <a:cs typeface="Calibri"/>
              </a:rPr>
              <a:t>wichtigsten</a:t>
            </a:r>
            <a:r>
              <a:rPr lang="en-US" sz="1200">
                <a:solidFill>
                  <a:srgbClr val="5A6A7A"/>
                </a:solidFill>
                <a:ea typeface="Calibri"/>
                <a:cs typeface="Calibri"/>
              </a:rPr>
              <a:t> </a:t>
            </a:r>
            <a:r>
              <a:rPr lang="en-US" sz="1200" err="1">
                <a:solidFill>
                  <a:srgbClr val="5A6A7A"/>
                </a:solidFill>
                <a:ea typeface="Calibri"/>
                <a:cs typeface="Calibri"/>
              </a:rPr>
              <a:t>Optionen</a:t>
            </a:r>
            <a:r>
              <a:rPr lang="en-US" sz="1200">
                <a:solidFill>
                  <a:srgbClr val="5A6A7A"/>
                </a:solidFill>
                <a:ea typeface="Calibri"/>
                <a:cs typeface="Calibri"/>
              </a:rPr>
              <a:t> und </a:t>
            </a:r>
            <a:r>
              <a:rPr lang="en-US" sz="1200" err="1">
                <a:solidFill>
                  <a:srgbClr val="5A6A7A"/>
                </a:solidFill>
                <a:ea typeface="Calibri"/>
                <a:cs typeface="Calibri"/>
              </a:rPr>
              <a:t>Informationenen</a:t>
            </a:r>
            <a:r>
              <a:rPr lang="en-US" sz="1200">
                <a:solidFill>
                  <a:srgbClr val="5A6A7A"/>
                </a:solidFill>
                <a:ea typeface="Calibri"/>
                <a:cs typeface="Calibri"/>
              </a:rPr>
              <a:t> in </a:t>
            </a:r>
            <a:r>
              <a:rPr lang="en-US" sz="1200" err="1">
                <a:solidFill>
                  <a:srgbClr val="5A6A7A"/>
                </a:solidFill>
                <a:ea typeface="Calibri"/>
                <a:cs typeface="Calibri"/>
              </a:rPr>
              <a:t>einer</a:t>
            </a:r>
            <a:r>
              <a:rPr lang="en-US" sz="1200">
                <a:solidFill>
                  <a:srgbClr val="5A6A7A"/>
                </a:solidFill>
                <a:ea typeface="Calibri"/>
                <a:cs typeface="Calibri"/>
              </a:rPr>
              <a:t> </a:t>
            </a:r>
            <a:r>
              <a:rPr lang="en-US" sz="1200" err="1">
                <a:solidFill>
                  <a:srgbClr val="5A6A7A"/>
                </a:solidFill>
                <a:ea typeface="Calibri"/>
                <a:cs typeface="Calibri"/>
              </a:rPr>
              <a:t>geordneten</a:t>
            </a:r>
            <a:r>
              <a:rPr lang="en-US" sz="1200">
                <a:solidFill>
                  <a:srgbClr val="5A6A7A"/>
                </a:solidFill>
                <a:ea typeface="Calibri"/>
                <a:cs typeface="Calibri"/>
              </a:rPr>
              <a:t> </a:t>
            </a:r>
            <a:r>
              <a:rPr lang="en-US" sz="1200" err="1">
                <a:solidFill>
                  <a:srgbClr val="5A6A7A"/>
                </a:solidFill>
                <a:ea typeface="Calibri"/>
                <a:cs typeface="Calibri"/>
              </a:rPr>
              <a:t>Reihnfolge</a:t>
            </a:r>
            <a:endParaRPr lang="en-US" sz="1200">
              <a:solidFill>
                <a:srgbClr val="5A6A7A"/>
              </a:solidFill>
              <a:ea typeface="Calibri"/>
              <a:cs typeface="Calibri"/>
            </a:endParaRPr>
          </a:p>
          <a:p>
            <a:pPr marL="285750" indent="-285750">
              <a:buFont typeface="Calibri"/>
              <a:buChar char="-"/>
            </a:pPr>
            <a:endParaRPr lang="en-US" sz="1200">
              <a:solidFill>
                <a:srgbClr val="5A6A7A"/>
              </a:solidFill>
              <a:ea typeface="Calibri"/>
              <a:cs typeface="Calibri"/>
            </a:endParaRPr>
          </a:p>
          <a:p>
            <a:pPr marL="285750" indent="-285750">
              <a:buFont typeface="Calibri"/>
              <a:buChar char="-"/>
            </a:pPr>
            <a:r>
              <a:rPr lang="en-US" sz="1200">
                <a:solidFill>
                  <a:srgbClr val="5A6A7A"/>
                </a:solidFill>
                <a:ea typeface="Calibri"/>
                <a:cs typeface="Calibri"/>
              </a:rPr>
              <a:t>Website-Logo</a:t>
            </a:r>
          </a:p>
          <a:p>
            <a:pPr marL="285750" indent="-285750">
              <a:buFont typeface="Calibri"/>
              <a:buChar char="-"/>
            </a:pPr>
            <a:endParaRPr lang="en-US" sz="1200">
              <a:solidFill>
                <a:srgbClr val="5A6A7A"/>
              </a:solidFill>
              <a:ea typeface="Calibri"/>
              <a:cs typeface="Calibri"/>
            </a:endParaRPr>
          </a:p>
          <a:p>
            <a:pPr marL="285750" indent="-285750">
              <a:buFont typeface="Calibri"/>
              <a:buChar char="-"/>
            </a:pPr>
            <a:r>
              <a:rPr lang="en-US" sz="1200">
                <a:solidFill>
                  <a:srgbClr val="5A6A7A"/>
                </a:solidFill>
                <a:ea typeface="Calibri"/>
                <a:cs typeface="Calibri"/>
              </a:rPr>
              <a:t>Zeigt den </a:t>
            </a:r>
            <a:r>
              <a:rPr lang="en-US" sz="1200" err="1">
                <a:solidFill>
                  <a:srgbClr val="5A6A7A"/>
                </a:solidFill>
                <a:ea typeface="Calibri"/>
                <a:cs typeface="Calibri"/>
              </a:rPr>
              <a:t>Benutzer</a:t>
            </a:r>
            <a:r>
              <a:rPr lang="en-US" sz="1200">
                <a:solidFill>
                  <a:srgbClr val="5A6A7A"/>
                </a:solidFill>
                <a:ea typeface="Calibri"/>
                <a:cs typeface="Calibri"/>
              </a:rPr>
              <a:t> und </a:t>
            </a:r>
            <a:r>
              <a:rPr lang="en-US" sz="1200" err="1">
                <a:solidFill>
                  <a:srgbClr val="5A6A7A"/>
                </a:solidFill>
                <a:ea typeface="Calibri"/>
                <a:cs typeface="Calibri"/>
              </a:rPr>
              <a:t>Währungsstand</a:t>
            </a:r>
            <a:endParaRPr lang="en-US" sz="1200">
              <a:solidFill>
                <a:srgbClr val="5A6A7A"/>
              </a:solidFill>
              <a:ea typeface="Calibri"/>
              <a:cs typeface="Calibri"/>
            </a:endParaRPr>
          </a:p>
          <a:p>
            <a:pPr marL="285750" indent="-285750">
              <a:buFont typeface="Calibri"/>
              <a:buChar char="-"/>
            </a:pPr>
            <a:endParaRPr lang="en-US" sz="1200">
              <a:solidFill>
                <a:srgbClr val="5A6A7A"/>
              </a:solidFill>
              <a:ea typeface="Calibri"/>
              <a:cs typeface="Calibri"/>
            </a:endParaRPr>
          </a:p>
          <a:p>
            <a:pPr marL="285750" indent="-285750">
              <a:buFont typeface="Calibri"/>
              <a:buChar char="-"/>
            </a:pPr>
            <a:r>
              <a:rPr lang="en-US" sz="1200">
                <a:solidFill>
                  <a:srgbClr val="5A6A7A"/>
                </a:solidFill>
                <a:ea typeface="Calibri"/>
                <a:cs typeface="Calibri"/>
              </a:rPr>
              <a:t>Klar </a:t>
            </a:r>
            <a:r>
              <a:rPr lang="en-US" sz="1200" err="1">
                <a:solidFill>
                  <a:srgbClr val="5A6A7A"/>
                </a:solidFill>
                <a:ea typeface="Calibri"/>
                <a:cs typeface="Calibri"/>
              </a:rPr>
              <a:t>definierte</a:t>
            </a:r>
            <a:r>
              <a:rPr lang="en-US" sz="1200">
                <a:solidFill>
                  <a:srgbClr val="5A6A7A"/>
                </a:solidFill>
                <a:ea typeface="Calibri"/>
                <a:cs typeface="Calibri"/>
              </a:rPr>
              <a:t> </a:t>
            </a:r>
            <a:r>
              <a:rPr lang="en-US" sz="1200" err="1">
                <a:solidFill>
                  <a:srgbClr val="5A6A7A"/>
                </a:solidFill>
                <a:ea typeface="Calibri"/>
                <a:cs typeface="Calibri"/>
              </a:rPr>
              <a:t>Suchleiste</a:t>
            </a:r>
            <a:endParaRPr lang="en-US" sz="1200">
              <a:solidFill>
                <a:srgbClr val="5A6A7A"/>
              </a:solidFill>
              <a:ea typeface="Calibri"/>
              <a:cs typeface="Calibri"/>
            </a:endParaRPr>
          </a:p>
          <a:p>
            <a:pPr marL="285750" indent="-285750">
              <a:buFont typeface="Calibri"/>
              <a:buChar char="-"/>
            </a:pPr>
            <a:endParaRPr lang="en-US" sz="1200">
              <a:solidFill>
                <a:srgbClr val="5A6A7A"/>
              </a:solidFill>
              <a:ea typeface="Calibri"/>
              <a:cs typeface="Calibri"/>
            </a:endParaRPr>
          </a:p>
          <a:p>
            <a:pPr marL="285750" indent="-285750">
              <a:buFont typeface="Calibri"/>
              <a:buChar char="-"/>
            </a:pPr>
            <a:r>
              <a:rPr lang="en-US" sz="1200">
                <a:solidFill>
                  <a:srgbClr val="5A6A7A"/>
                </a:solidFill>
                <a:ea typeface="Calibri"/>
                <a:cs typeface="Calibri"/>
              </a:rPr>
              <a:t>Theme-Toggle</a:t>
            </a:r>
          </a:p>
        </p:txBody>
      </p:sp>
      <p:sp>
        <p:nvSpPr>
          <p:cNvPr id="18" name="Shape 16">
            <a:extLst>
              <a:ext uri="{FF2B5EF4-FFF2-40B4-BE49-F238E27FC236}">
                <a16:creationId xmlns:a16="http://schemas.microsoft.com/office/drawing/2014/main" id="{66B29A00-8AC5-51A5-B0A9-F724BF15E1CD}"/>
              </a:ext>
            </a:extLst>
          </p:cNvPr>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19" name="Text 17">
            <a:extLst>
              <a:ext uri="{FF2B5EF4-FFF2-40B4-BE49-F238E27FC236}">
                <a16:creationId xmlns:a16="http://schemas.microsoft.com/office/drawing/2014/main" id="{365DAF18-EFAA-976E-28BD-7387EA7B17EB}"/>
              </a:ext>
            </a:extLst>
          </p:cNvPr>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0" name="Text 18">
            <a:extLst>
              <a:ext uri="{FF2B5EF4-FFF2-40B4-BE49-F238E27FC236}">
                <a16:creationId xmlns:a16="http://schemas.microsoft.com/office/drawing/2014/main" id="{A99FD6F4-CD4F-2F6D-842F-7739FA4D2A1F}"/>
              </a:ext>
            </a:extLst>
          </p:cNvPr>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5 / 16</a:t>
            </a:r>
            <a:endParaRPr lang="en-US" sz="1000"/>
          </a:p>
        </p:txBody>
      </p:sp>
      <p:pic>
        <p:nvPicPr>
          <p:cNvPr id="21" name="Picture 20" descr="A white rectangular object with black border&#10;&#10;AI-generated content may be incorrect.">
            <a:extLst>
              <a:ext uri="{FF2B5EF4-FFF2-40B4-BE49-F238E27FC236}">
                <a16:creationId xmlns:a16="http://schemas.microsoft.com/office/drawing/2014/main" id="{AA14E619-8C02-E7D9-D047-A162967C5209}"/>
              </a:ext>
            </a:extLst>
          </p:cNvPr>
          <p:cNvPicPr>
            <a:picLocks noChangeAspect="1"/>
          </p:cNvPicPr>
          <p:nvPr/>
        </p:nvPicPr>
        <p:blipFill>
          <a:blip r:embed="rId3"/>
          <a:stretch>
            <a:fillRect/>
          </a:stretch>
        </p:blipFill>
        <p:spPr>
          <a:xfrm>
            <a:off x="4315227" y="2141784"/>
            <a:ext cx="7296419" cy="728462"/>
          </a:xfrm>
          <a:prstGeom prst="rect">
            <a:avLst/>
          </a:prstGeom>
          <a:ln>
            <a:solidFill>
              <a:schemeClr val="bg1">
                <a:lumMod val="75000"/>
              </a:schemeClr>
            </a:solidFill>
          </a:ln>
        </p:spPr>
      </p:pic>
    </p:spTree>
    <p:extLst>
      <p:ext uri="{BB962C8B-B14F-4D97-AF65-F5344CB8AC3E}">
        <p14:creationId xmlns:p14="http://schemas.microsoft.com/office/powerpoint/2010/main" val="8154579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64C9BEC0-995F-521C-0D36-EF6AE1DE60D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3BBC8C-A9B8-0417-8F4E-B9B9733AFA7E}"/>
              </a:ext>
            </a:extLst>
          </p:cNvPr>
          <p:cNvSpPr/>
          <p:nvPr/>
        </p:nvSpPr>
        <p:spPr>
          <a:xfrm>
            <a:off x="548640" y="502920"/>
            <a:ext cx="164592" cy="164592"/>
          </a:xfrm>
          <a:prstGeom prst="ellipse">
            <a:avLst/>
          </a:prstGeom>
          <a:solidFill>
            <a:srgbClr val="F0993E"/>
          </a:solidFill>
          <a:ln w="12700">
            <a:solidFill>
              <a:srgbClr val="F0993E"/>
            </a:solidFill>
            <a:prstDash val="solid"/>
          </a:ln>
        </p:spPr>
        <p:txBody>
          <a:bodyPr/>
          <a:lstStyle/>
          <a:p>
            <a:endParaRPr lang="de-DE"/>
          </a:p>
        </p:txBody>
      </p:sp>
      <p:sp>
        <p:nvSpPr>
          <p:cNvPr id="3" name="Text 1">
            <a:extLst>
              <a:ext uri="{FF2B5EF4-FFF2-40B4-BE49-F238E27FC236}">
                <a16:creationId xmlns:a16="http://schemas.microsoft.com/office/drawing/2014/main" id="{938081B5-AD2D-6DBD-25E3-6D19EA9B6D1C}"/>
              </a:ext>
            </a:extLst>
          </p:cNvPr>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F0993E"/>
                </a:solidFill>
                <a:latin typeface="Calibri" pitchFamily="34" charset="0"/>
                <a:ea typeface="Calibri" pitchFamily="34" charset="-122"/>
                <a:cs typeface="Calibri" pitchFamily="34" charset="-120"/>
              </a:rPr>
              <a:t>FRONTEND</a:t>
            </a:r>
            <a:endParaRPr lang="en-US" sz="1100"/>
          </a:p>
        </p:txBody>
      </p:sp>
      <p:sp>
        <p:nvSpPr>
          <p:cNvPr id="4" name="Text 2">
            <a:extLst>
              <a:ext uri="{FF2B5EF4-FFF2-40B4-BE49-F238E27FC236}">
                <a16:creationId xmlns:a16="http://schemas.microsoft.com/office/drawing/2014/main" id="{8BE554B6-DB2E-5865-C3A0-E6864052EAAA}"/>
              </a:ext>
            </a:extLst>
          </p:cNvPr>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a:ea typeface="Calibri"/>
                <a:cs typeface="Calibri"/>
              </a:rPr>
              <a:t>Sammy</a:t>
            </a:r>
            <a:endParaRPr lang="en-US" sz="1100"/>
          </a:p>
        </p:txBody>
      </p:sp>
      <p:sp>
        <p:nvSpPr>
          <p:cNvPr id="5" name="Text 3">
            <a:extLst>
              <a:ext uri="{FF2B5EF4-FFF2-40B4-BE49-F238E27FC236}">
                <a16:creationId xmlns:a16="http://schemas.microsoft.com/office/drawing/2014/main" id="{8216F494-B53A-F0BE-616E-EE4C8A162DBA}"/>
              </a:ext>
            </a:extLst>
          </p:cNvPr>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Was sehen die Nutzer</a:t>
            </a:r>
            <a:endParaRPr lang="en-US" sz="4000"/>
          </a:p>
        </p:txBody>
      </p:sp>
      <p:sp>
        <p:nvSpPr>
          <p:cNvPr id="6" name="Shape 4">
            <a:extLst>
              <a:ext uri="{FF2B5EF4-FFF2-40B4-BE49-F238E27FC236}">
                <a16:creationId xmlns:a16="http://schemas.microsoft.com/office/drawing/2014/main" id="{84109A71-7E25-B876-1691-45CF91A5F07B}"/>
              </a:ext>
            </a:extLst>
          </p:cNvPr>
          <p:cNvSpPr/>
          <p:nvPr/>
        </p:nvSpPr>
        <p:spPr>
          <a:xfrm>
            <a:off x="5486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7" name="Shape 5">
            <a:extLst>
              <a:ext uri="{FF2B5EF4-FFF2-40B4-BE49-F238E27FC236}">
                <a16:creationId xmlns:a16="http://schemas.microsoft.com/office/drawing/2014/main" id="{DCE9F5E3-534C-2060-E735-40F95149A875}"/>
              </a:ext>
            </a:extLst>
          </p:cNvPr>
          <p:cNvSpPr/>
          <p:nvPr/>
        </p:nvSpPr>
        <p:spPr>
          <a:xfrm>
            <a:off x="868680" y="2423160"/>
            <a:ext cx="164592" cy="164592"/>
          </a:xfrm>
          <a:prstGeom prst="ellipse">
            <a:avLst/>
          </a:prstGeom>
          <a:solidFill>
            <a:srgbClr val="F0993E"/>
          </a:solidFill>
          <a:ln w="12700">
            <a:solidFill>
              <a:srgbClr val="F0993E"/>
            </a:solidFill>
            <a:prstDash val="solid"/>
          </a:ln>
        </p:spPr>
        <p:txBody>
          <a:bodyPr/>
          <a:lstStyle/>
          <a:p>
            <a:endParaRPr lang="de-DE"/>
          </a:p>
        </p:txBody>
      </p:sp>
      <p:sp>
        <p:nvSpPr>
          <p:cNvPr id="8" name="Text 6">
            <a:extLst>
              <a:ext uri="{FF2B5EF4-FFF2-40B4-BE49-F238E27FC236}">
                <a16:creationId xmlns:a16="http://schemas.microsoft.com/office/drawing/2014/main" id="{CE92B1F3-3046-F2D9-C302-22D30469C286}"/>
              </a:ext>
            </a:extLst>
          </p:cNvPr>
          <p:cNvSpPr/>
          <p:nvPr/>
        </p:nvSpPr>
        <p:spPr>
          <a:xfrm>
            <a:off x="868680" y="2788920"/>
            <a:ext cx="3108960" cy="502920"/>
          </a:xfrm>
          <a:prstGeom prst="rect">
            <a:avLst/>
          </a:prstGeom>
          <a:noFill/>
          <a:ln/>
        </p:spPr>
        <p:txBody>
          <a:bodyPr wrap="square" lIns="0" tIns="0" rIns="0" bIns="0" rtlCol="0" anchor="t"/>
          <a:lstStyle/>
          <a:p>
            <a:pPr marL="0" indent="0">
              <a:buNone/>
            </a:pPr>
            <a:r>
              <a:rPr lang="en-US" sz="2000" b="1">
                <a:solidFill>
                  <a:srgbClr val="213547"/>
                </a:solidFill>
                <a:ea typeface="Calibri"/>
                <a:cs typeface="Calibri"/>
              </a:rPr>
              <a:t>Startseite</a:t>
            </a:r>
            <a:endParaRPr lang="en-US" sz="2000">
              <a:solidFill>
                <a:srgbClr val="000000"/>
              </a:solidFill>
              <a:ea typeface="Calibri"/>
              <a:cs typeface="Calibri"/>
            </a:endParaRPr>
          </a:p>
        </p:txBody>
      </p:sp>
      <p:sp>
        <p:nvSpPr>
          <p:cNvPr id="9" name="Text 7">
            <a:extLst>
              <a:ext uri="{FF2B5EF4-FFF2-40B4-BE49-F238E27FC236}">
                <a16:creationId xmlns:a16="http://schemas.microsoft.com/office/drawing/2014/main" id="{493A6F24-0479-66FD-7E26-93D28BFCCFAD}"/>
              </a:ext>
            </a:extLst>
          </p:cNvPr>
          <p:cNvSpPr/>
          <p:nvPr/>
        </p:nvSpPr>
        <p:spPr>
          <a:xfrm>
            <a:off x="868680" y="3383280"/>
            <a:ext cx="3108960" cy="2377440"/>
          </a:xfrm>
          <a:prstGeom prst="rect">
            <a:avLst/>
          </a:prstGeom>
          <a:noFill/>
          <a:ln/>
        </p:spPr>
        <p:txBody>
          <a:bodyPr wrap="square" lIns="0" tIns="0" rIns="0" bIns="0" rtlCol="0" anchor="t"/>
          <a:lstStyle/>
          <a:p>
            <a:pPr marL="285750" indent="-285750">
              <a:buFont typeface="Calibri,Sans-Serif"/>
              <a:buChar char="-"/>
            </a:pPr>
            <a:r>
              <a:rPr lang="en-US" sz="1400" err="1">
                <a:solidFill>
                  <a:srgbClr val="5A6A7A"/>
                </a:solidFill>
                <a:latin typeface="Calibri"/>
                <a:ea typeface="Calibri"/>
                <a:cs typeface="Calibri"/>
              </a:rPr>
              <a:t>Zeigt</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eine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klare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übersicht</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über</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verschiedene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Kurse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innerhalb</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definierter</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Kategorien</a:t>
            </a:r>
            <a:r>
              <a:rPr lang="en-US" sz="1400">
                <a:solidFill>
                  <a:srgbClr val="5A6A7A"/>
                </a:solidFill>
                <a:latin typeface="Calibri"/>
                <a:ea typeface="Calibri"/>
                <a:cs typeface="Calibri"/>
              </a:rPr>
              <a:t>.</a:t>
            </a:r>
          </a:p>
          <a:p>
            <a:pPr marL="285750" indent="-285750">
              <a:buFont typeface="Calibri,Sans-Serif"/>
              <a:buChar char="-"/>
            </a:pPr>
            <a:endParaRPr lang="en-US" sz="1400">
              <a:solidFill>
                <a:srgbClr val="5A6A7A"/>
              </a:solidFill>
              <a:latin typeface="Calibri"/>
              <a:ea typeface="Calibri"/>
              <a:cs typeface="Calibri"/>
            </a:endParaRPr>
          </a:p>
          <a:p>
            <a:pPr marL="285750" indent="-285750">
              <a:buFont typeface="Calibri,Sans-Serif"/>
              <a:buChar char="-"/>
            </a:pPr>
            <a:r>
              <a:rPr lang="en-US" sz="1400" err="1">
                <a:solidFill>
                  <a:srgbClr val="5A6A7A"/>
                </a:solidFill>
                <a:latin typeface="Calibri"/>
                <a:ea typeface="Calibri"/>
                <a:cs typeface="Calibri"/>
              </a:rPr>
              <a:t>Kurse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werden</a:t>
            </a:r>
            <a:r>
              <a:rPr lang="en-US" sz="1400">
                <a:solidFill>
                  <a:srgbClr val="5A6A7A"/>
                </a:solidFill>
                <a:latin typeface="Calibri"/>
                <a:ea typeface="Calibri"/>
                <a:cs typeface="Calibri"/>
              </a:rPr>
              <a:t> in </a:t>
            </a:r>
            <a:r>
              <a:rPr lang="en-US" sz="1400" err="1">
                <a:solidFill>
                  <a:srgbClr val="5A6A7A"/>
                </a:solidFill>
                <a:latin typeface="Calibri"/>
                <a:ea typeface="Calibri"/>
                <a:cs typeface="Calibri"/>
              </a:rPr>
              <a:t>einem</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Karousel</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bereitgestellt</a:t>
            </a:r>
            <a:r>
              <a:rPr lang="en-US" sz="1400">
                <a:solidFill>
                  <a:srgbClr val="5A6A7A"/>
                </a:solidFill>
                <a:latin typeface="Calibri"/>
                <a:ea typeface="Calibri"/>
                <a:cs typeface="Calibri"/>
              </a:rPr>
              <a:t> um dem </a:t>
            </a:r>
            <a:r>
              <a:rPr lang="en-US" sz="1400" err="1">
                <a:solidFill>
                  <a:srgbClr val="5A6A7A"/>
                </a:solidFill>
                <a:latin typeface="Calibri"/>
                <a:ea typeface="Calibri"/>
                <a:cs typeface="Calibri"/>
              </a:rPr>
              <a:t>Beutzer</a:t>
            </a:r>
            <a:r>
              <a:rPr lang="en-US" sz="1400">
                <a:solidFill>
                  <a:srgbClr val="5A6A7A"/>
                </a:solidFill>
                <a:latin typeface="Calibri"/>
                <a:ea typeface="Calibri"/>
                <a:cs typeface="Calibri"/>
              </a:rPr>
              <a:t> das </a:t>
            </a:r>
            <a:r>
              <a:rPr lang="en-US" sz="1400" err="1">
                <a:solidFill>
                  <a:srgbClr val="5A6A7A"/>
                </a:solidFill>
                <a:latin typeface="Calibri"/>
                <a:ea typeface="Calibri"/>
                <a:cs typeface="Calibri"/>
              </a:rPr>
              <a:t>Gefühl</a:t>
            </a:r>
            <a:r>
              <a:rPr lang="en-US" sz="1400">
                <a:solidFill>
                  <a:srgbClr val="5A6A7A"/>
                </a:solidFill>
                <a:latin typeface="Calibri"/>
                <a:ea typeface="Calibri"/>
                <a:cs typeface="Calibri"/>
              </a:rPr>
              <a:t> von "</a:t>
            </a:r>
            <a:r>
              <a:rPr lang="en-US" sz="1400" err="1">
                <a:solidFill>
                  <a:srgbClr val="5A6A7A"/>
                </a:solidFill>
                <a:latin typeface="Calibri"/>
                <a:ea typeface="Calibri"/>
                <a:cs typeface="Calibri"/>
              </a:rPr>
              <a:t>Endlosem</a:t>
            </a:r>
            <a:r>
              <a:rPr lang="en-US" sz="1400">
                <a:solidFill>
                  <a:srgbClr val="5A6A7A"/>
                </a:solidFill>
                <a:latin typeface="Calibri"/>
                <a:ea typeface="Calibri"/>
                <a:cs typeface="Calibri"/>
              </a:rPr>
              <a:t>" Content </a:t>
            </a:r>
            <a:r>
              <a:rPr lang="en-US" sz="1400" err="1">
                <a:solidFill>
                  <a:srgbClr val="5A6A7A"/>
                </a:solidFill>
                <a:latin typeface="Calibri"/>
                <a:ea typeface="Calibri"/>
                <a:cs typeface="Calibri"/>
              </a:rPr>
              <a:t>zu</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geben</a:t>
            </a:r>
            <a:endParaRPr lang="en-US" sz="1400">
              <a:solidFill>
                <a:srgbClr val="5A6A7A"/>
              </a:solidFill>
              <a:latin typeface="Calibri"/>
              <a:ea typeface="Calibri"/>
              <a:cs typeface="Calibri"/>
            </a:endParaRPr>
          </a:p>
          <a:p>
            <a:endParaRPr lang="en-US" sz="1400">
              <a:solidFill>
                <a:srgbClr val="5A6A7A"/>
              </a:solidFill>
              <a:latin typeface="Calibri"/>
              <a:ea typeface="Calibri"/>
              <a:cs typeface="Calibri"/>
            </a:endParaRPr>
          </a:p>
          <a:p>
            <a:pPr marL="0" indent="0">
              <a:buNone/>
            </a:pPr>
            <a:endParaRPr lang="en-US" sz="1400">
              <a:solidFill>
                <a:srgbClr val="5A6A7A"/>
              </a:solidFill>
              <a:ea typeface="Calibri"/>
              <a:cs typeface="Calibri"/>
            </a:endParaRPr>
          </a:p>
        </p:txBody>
      </p:sp>
      <p:sp>
        <p:nvSpPr>
          <p:cNvPr id="10" name="Shape 8">
            <a:extLst>
              <a:ext uri="{FF2B5EF4-FFF2-40B4-BE49-F238E27FC236}">
                <a16:creationId xmlns:a16="http://schemas.microsoft.com/office/drawing/2014/main" id="{A55F1E4D-5A9C-5AB8-5FD4-353DBA426DC1}"/>
              </a:ext>
            </a:extLst>
          </p:cNvPr>
          <p:cNvSpPr/>
          <p:nvPr/>
        </p:nvSpPr>
        <p:spPr>
          <a:xfrm>
            <a:off x="44348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1" name="Shape 9">
            <a:extLst>
              <a:ext uri="{FF2B5EF4-FFF2-40B4-BE49-F238E27FC236}">
                <a16:creationId xmlns:a16="http://schemas.microsoft.com/office/drawing/2014/main" id="{1226C630-B064-0783-3B36-ADC6F1E1C3AD}"/>
              </a:ext>
            </a:extLst>
          </p:cNvPr>
          <p:cNvSpPr/>
          <p:nvPr/>
        </p:nvSpPr>
        <p:spPr>
          <a:xfrm>
            <a:off x="4754880" y="2423160"/>
            <a:ext cx="164592" cy="164592"/>
          </a:xfrm>
          <a:prstGeom prst="ellipse">
            <a:avLst/>
          </a:prstGeom>
          <a:solidFill>
            <a:srgbClr val="F0993E"/>
          </a:solidFill>
          <a:ln w="12700">
            <a:solidFill>
              <a:srgbClr val="F0993E"/>
            </a:solidFill>
            <a:prstDash val="solid"/>
          </a:ln>
        </p:spPr>
        <p:txBody>
          <a:bodyPr/>
          <a:lstStyle/>
          <a:p>
            <a:endParaRPr lang="de-DE"/>
          </a:p>
        </p:txBody>
      </p:sp>
      <p:sp>
        <p:nvSpPr>
          <p:cNvPr id="12" name="Text 10">
            <a:extLst>
              <a:ext uri="{FF2B5EF4-FFF2-40B4-BE49-F238E27FC236}">
                <a16:creationId xmlns:a16="http://schemas.microsoft.com/office/drawing/2014/main" id="{4783775A-30BC-04CB-ED28-9C5B89679860}"/>
              </a:ext>
            </a:extLst>
          </p:cNvPr>
          <p:cNvSpPr/>
          <p:nvPr/>
        </p:nvSpPr>
        <p:spPr>
          <a:xfrm>
            <a:off x="4754880" y="2788920"/>
            <a:ext cx="3108960" cy="502920"/>
          </a:xfrm>
          <a:prstGeom prst="rect">
            <a:avLst/>
          </a:prstGeom>
          <a:noFill/>
          <a:ln/>
        </p:spPr>
        <p:txBody>
          <a:bodyPr wrap="square" lIns="0" tIns="0" rIns="0" bIns="0" rtlCol="0" anchor="t"/>
          <a:lstStyle/>
          <a:p>
            <a:r>
              <a:rPr lang="en-US" sz="2000" b="1" err="1">
                <a:solidFill>
                  <a:srgbClr val="213547"/>
                </a:solidFill>
                <a:latin typeface="Calibri"/>
                <a:ea typeface="Calibri"/>
                <a:cs typeface="Calibri"/>
              </a:rPr>
              <a:t>Navigationsleiste</a:t>
            </a:r>
            <a:endParaRPr lang="en-US" sz="2000" err="1">
              <a:solidFill>
                <a:srgbClr val="213547"/>
              </a:solidFill>
              <a:latin typeface="Calibri"/>
              <a:ea typeface="Calibri"/>
              <a:cs typeface="Calibri"/>
            </a:endParaRPr>
          </a:p>
          <a:p>
            <a:pPr marL="0" indent="0">
              <a:buNone/>
            </a:pPr>
            <a:endParaRPr lang="en-US" sz="2000" b="1">
              <a:solidFill>
                <a:srgbClr val="213547"/>
              </a:solidFill>
              <a:ea typeface="Calibri"/>
              <a:cs typeface="Calibri"/>
            </a:endParaRPr>
          </a:p>
        </p:txBody>
      </p:sp>
      <p:sp>
        <p:nvSpPr>
          <p:cNvPr id="13" name="Text 11">
            <a:extLst>
              <a:ext uri="{FF2B5EF4-FFF2-40B4-BE49-F238E27FC236}">
                <a16:creationId xmlns:a16="http://schemas.microsoft.com/office/drawing/2014/main" id="{9E3A4D95-27CF-3BB5-1984-D2DD9F7BFF3A}"/>
              </a:ext>
            </a:extLst>
          </p:cNvPr>
          <p:cNvSpPr/>
          <p:nvPr/>
        </p:nvSpPr>
        <p:spPr>
          <a:xfrm>
            <a:off x="4754880" y="3383280"/>
            <a:ext cx="3108960" cy="2377440"/>
          </a:xfrm>
          <a:prstGeom prst="rect">
            <a:avLst/>
          </a:prstGeom>
          <a:noFill/>
          <a:ln/>
        </p:spPr>
        <p:txBody>
          <a:bodyPr wrap="square" lIns="0" tIns="0" rIns="0" bIns="0" rtlCol="0" anchor="t"/>
          <a:lstStyle/>
          <a:p>
            <a:pPr marL="285750" indent="-285750">
              <a:buFont typeface="Calibri,Sans-Serif"/>
              <a:buChar char="-"/>
            </a:pPr>
            <a:r>
              <a:rPr lang="en-US" sz="1200">
                <a:solidFill>
                  <a:srgbClr val="5A6A7A"/>
                </a:solidFill>
                <a:latin typeface="Calibri"/>
                <a:ea typeface="Calibri"/>
                <a:cs typeface="Calibri"/>
              </a:rPr>
              <a:t>Zeigt die </a:t>
            </a:r>
            <a:r>
              <a:rPr lang="en-US" sz="1200" err="1">
                <a:solidFill>
                  <a:srgbClr val="5A6A7A"/>
                </a:solidFill>
                <a:latin typeface="Calibri"/>
                <a:ea typeface="Calibri"/>
                <a:cs typeface="Calibri"/>
              </a:rPr>
              <a:t>wichtigsten</a:t>
            </a:r>
            <a:r>
              <a:rPr lang="en-US" sz="1200">
                <a:solidFill>
                  <a:srgbClr val="5A6A7A"/>
                </a:solidFill>
                <a:latin typeface="Calibri"/>
                <a:ea typeface="Calibri"/>
                <a:cs typeface="Calibri"/>
              </a:rPr>
              <a:t> </a:t>
            </a:r>
            <a:r>
              <a:rPr lang="en-US" sz="1200" err="1">
                <a:solidFill>
                  <a:srgbClr val="5A6A7A"/>
                </a:solidFill>
                <a:latin typeface="Calibri"/>
                <a:ea typeface="Calibri"/>
                <a:cs typeface="Calibri"/>
              </a:rPr>
              <a:t>Optionen</a:t>
            </a:r>
            <a:r>
              <a:rPr lang="en-US" sz="1200">
                <a:solidFill>
                  <a:srgbClr val="5A6A7A"/>
                </a:solidFill>
                <a:latin typeface="Calibri"/>
                <a:ea typeface="Calibri"/>
                <a:cs typeface="Calibri"/>
              </a:rPr>
              <a:t> und </a:t>
            </a:r>
            <a:r>
              <a:rPr lang="en-US" sz="1200" err="1">
                <a:solidFill>
                  <a:srgbClr val="5A6A7A"/>
                </a:solidFill>
                <a:latin typeface="Calibri"/>
                <a:ea typeface="Calibri"/>
                <a:cs typeface="Calibri"/>
              </a:rPr>
              <a:t>Informationenen</a:t>
            </a:r>
            <a:r>
              <a:rPr lang="en-US" sz="1200">
                <a:solidFill>
                  <a:srgbClr val="5A6A7A"/>
                </a:solidFill>
                <a:latin typeface="Calibri"/>
                <a:ea typeface="Calibri"/>
                <a:cs typeface="Calibri"/>
              </a:rPr>
              <a:t> in </a:t>
            </a:r>
            <a:r>
              <a:rPr lang="en-US" sz="1200" err="1">
                <a:solidFill>
                  <a:srgbClr val="5A6A7A"/>
                </a:solidFill>
                <a:latin typeface="Calibri"/>
                <a:ea typeface="Calibri"/>
                <a:cs typeface="Calibri"/>
              </a:rPr>
              <a:t>einer</a:t>
            </a:r>
            <a:r>
              <a:rPr lang="en-US" sz="1200">
                <a:solidFill>
                  <a:srgbClr val="5A6A7A"/>
                </a:solidFill>
                <a:latin typeface="Calibri"/>
                <a:ea typeface="Calibri"/>
                <a:cs typeface="Calibri"/>
              </a:rPr>
              <a:t> </a:t>
            </a:r>
            <a:r>
              <a:rPr lang="en-US" sz="1200" err="1">
                <a:solidFill>
                  <a:srgbClr val="5A6A7A"/>
                </a:solidFill>
                <a:latin typeface="Calibri"/>
                <a:ea typeface="Calibri"/>
                <a:cs typeface="Calibri"/>
              </a:rPr>
              <a:t>geordneten</a:t>
            </a:r>
            <a:r>
              <a:rPr lang="en-US" sz="1200">
                <a:solidFill>
                  <a:srgbClr val="5A6A7A"/>
                </a:solidFill>
                <a:latin typeface="Calibri"/>
                <a:ea typeface="Calibri"/>
                <a:cs typeface="Calibri"/>
              </a:rPr>
              <a:t> </a:t>
            </a:r>
            <a:r>
              <a:rPr lang="en-US" sz="1200" err="1">
                <a:solidFill>
                  <a:srgbClr val="5A6A7A"/>
                </a:solidFill>
                <a:latin typeface="Calibri"/>
                <a:ea typeface="Calibri"/>
                <a:cs typeface="Calibri"/>
              </a:rPr>
              <a:t>Reihnfolge</a:t>
            </a:r>
          </a:p>
          <a:p>
            <a:pPr marL="285750" indent="-285750">
              <a:buFont typeface="Calibri,Sans-Serif"/>
              <a:buChar char="-"/>
            </a:pPr>
            <a:endParaRPr lang="en-US" sz="1200">
              <a:solidFill>
                <a:srgbClr val="5A6A7A"/>
              </a:solidFill>
              <a:latin typeface="Calibri"/>
              <a:ea typeface="Calibri"/>
              <a:cs typeface="Calibri"/>
            </a:endParaRPr>
          </a:p>
          <a:p>
            <a:pPr marL="285750" indent="-285750">
              <a:buFont typeface="Calibri,Sans-Serif"/>
              <a:buChar char="-"/>
            </a:pPr>
            <a:r>
              <a:rPr lang="en-US" sz="1200">
                <a:solidFill>
                  <a:srgbClr val="5A6A7A"/>
                </a:solidFill>
                <a:latin typeface="Calibri"/>
                <a:ea typeface="Calibri"/>
                <a:cs typeface="Calibri"/>
              </a:rPr>
              <a:t>Website-Logo</a:t>
            </a:r>
          </a:p>
          <a:p>
            <a:pPr marL="285750" indent="-285750">
              <a:buFont typeface="Calibri,Sans-Serif"/>
              <a:buChar char="-"/>
            </a:pPr>
            <a:endParaRPr lang="en-US" sz="1200">
              <a:solidFill>
                <a:srgbClr val="5A6A7A"/>
              </a:solidFill>
              <a:latin typeface="Calibri"/>
              <a:ea typeface="Calibri"/>
              <a:cs typeface="Calibri"/>
            </a:endParaRPr>
          </a:p>
          <a:p>
            <a:pPr marL="285750" indent="-285750">
              <a:buFont typeface="Calibri,Sans-Serif"/>
              <a:buChar char="-"/>
            </a:pPr>
            <a:r>
              <a:rPr lang="en-US" sz="1200">
                <a:solidFill>
                  <a:srgbClr val="5A6A7A"/>
                </a:solidFill>
                <a:latin typeface="Calibri"/>
                <a:ea typeface="Calibri"/>
                <a:cs typeface="Calibri"/>
              </a:rPr>
              <a:t>Zeigt den </a:t>
            </a:r>
            <a:r>
              <a:rPr lang="en-US" sz="1200" err="1">
                <a:solidFill>
                  <a:srgbClr val="5A6A7A"/>
                </a:solidFill>
                <a:latin typeface="Calibri"/>
                <a:ea typeface="Calibri"/>
                <a:cs typeface="Calibri"/>
              </a:rPr>
              <a:t>Benutzer</a:t>
            </a:r>
            <a:r>
              <a:rPr lang="en-US" sz="1200">
                <a:solidFill>
                  <a:srgbClr val="5A6A7A"/>
                </a:solidFill>
                <a:latin typeface="Calibri"/>
                <a:ea typeface="Calibri"/>
                <a:cs typeface="Calibri"/>
              </a:rPr>
              <a:t> und </a:t>
            </a:r>
            <a:r>
              <a:rPr lang="en-US" sz="1200" err="1">
                <a:solidFill>
                  <a:srgbClr val="5A6A7A"/>
                </a:solidFill>
                <a:latin typeface="Calibri"/>
                <a:ea typeface="Calibri"/>
                <a:cs typeface="Calibri"/>
              </a:rPr>
              <a:t>Währungsstand</a:t>
            </a:r>
            <a:endParaRPr lang="en-US" sz="1200">
              <a:solidFill>
                <a:srgbClr val="5A6A7A"/>
              </a:solidFill>
              <a:latin typeface="Calibri"/>
              <a:ea typeface="Calibri"/>
              <a:cs typeface="Calibri"/>
            </a:endParaRPr>
          </a:p>
          <a:p>
            <a:pPr marL="285750" indent="-285750">
              <a:buFont typeface="Calibri,Sans-Serif"/>
              <a:buChar char="-"/>
            </a:pPr>
            <a:endParaRPr lang="en-US" sz="1200">
              <a:solidFill>
                <a:srgbClr val="5A6A7A"/>
              </a:solidFill>
              <a:latin typeface="Calibri"/>
              <a:ea typeface="Calibri"/>
              <a:cs typeface="Calibri"/>
            </a:endParaRPr>
          </a:p>
          <a:p>
            <a:pPr marL="285750" indent="-285750">
              <a:buFont typeface="Calibri,Sans-Serif"/>
              <a:buChar char="-"/>
            </a:pPr>
            <a:r>
              <a:rPr lang="en-US" sz="1200">
                <a:solidFill>
                  <a:srgbClr val="5A6A7A"/>
                </a:solidFill>
                <a:latin typeface="Calibri"/>
                <a:ea typeface="Calibri"/>
                <a:cs typeface="Calibri"/>
              </a:rPr>
              <a:t>Klar </a:t>
            </a:r>
            <a:r>
              <a:rPr lang="en-US" sz="1200" err="1">
                <a:solidFill>
                  <a:srgbClr val="5A6A7A"/>
                </a:solidFill>
                <a:latin typeface="Calibri"/>
                <a:ea typeface="Calibri"/>
                <a:cs typeface="Calibri"/>
              </a:rPr>
              <a:t>definierte</a:t>
            </a:r>
            <a:r>
              <a:rPr lang="en-US" sz="1200">
                <a:solidFill>
                  <a:srgbClr val="5A6A7A"/>
                </a:solidFill>
                <a:latin typeface="Calibri"/>
                <a:ea typeface="Calibri"/>
                <a:cs typeface="Calibri"/>
              </a:rPr>
              <a:t> </a:t>
            </a:r>
            <a:r>
              <a:rPr lang="en-US" sz="1200" err="1">
                <a:solidFill>
                  <a:srgbClr val="5A6A7A"/>
                </a:solidFill>
                <a:latin typeface="Calibri"/>
                <a:ea typeface="Calibri"/>
                <a:cs typeface="Calibri"/>
              </a:rPr>
              <a:t>Suchleiste</a:t>
            </a:r>
            <a:endParaRPr lang="en-US" sz="1200">
              <a:solidFill>
                <a:srgbClr val="5A6A7A"/>
              </a:solidFill>
              <a:latin typeface="Calibri"/>
              <a:ea typeface="Calibri"/>
              <a:cs typeface="Calibri"/>
            </a:endParaRPr>
          </a:p>
          <a:p>
            <a:pPr marL="285750" indent="-285750">
              <a:buFont typeface="Calibri,Sans-Serif"/>
              <a:buChar char="-"/>
            </a:pPr>
            <a:endParaRPr lang="en-US" sz="1200">
              <a:solidFill>
                <a:srgbClr val="5A6A7A"/>
              </a:solidFill>
              <a:latin typeface="Calibri"/>
              <a:ea typeface="Calibri"/>
              <a:cs typeface="Calibri"/>
            </a:endParaRPr>
          </a:p>
          <a:p>
            <a:pPr marL="285750" indent="-285750">
              <a:buFont typeface="Calibri,Sans-Serif"/>
              <a:buChar char="-"/>
            </a:pPr>
            <a:r>
              <a:rPr lang="en-US" sz="1200">
                <a:solidFill>
                  <a:srgbClr val="5A6A7A"/>
                </a:solidFill>
                <a:latin typeface="Calibri"/>
                <a:ea typeface="Calibri"/>
                <a:cs typeface="Calibri"/>
              </a:rPr>
              <a:t>Theme-Toggle</a:t>
            </a:r>
          </a:p>
          <a:p>
            <a:pPr marL="0" indent="0">
              <a:buNone/>
            </a:pPr>
            <a:endParaRPr lang="en-US" sz="1400">
              <a:solidFill>
                <a:srgbClr val="5A6A7A"/>
              </a:solidFill>
              <a:ea typeface="Calibri"/>
              <a:cs typeface="Calibri"/>
            </a:endParaRPr>
          </a:p>
        </p:txBody>
      </p:sp>
      <p:sp>
        <p:nvSpPr>
          <p:cNvPr id="14" name="Shape 12">
            <a:extLst>
              <a:ext uri="{FF2B5EF4-FFF2-40B4-BE49-F238E27FC236}">
                <a16:creationId xmlns:a16="http://schemas.microsoft.com/office/drawing/2014/main" id="{7F49CB81-0ECE-DD10-41D5-AED0F9BC12A1}"/>
              </a:ext>
            </a:extLst>
          </p:cNvPr>
          <p:cNvSpPr/>
          <p:nvPr/>
        </p:nvSpPr>
        <p:spPr>
          <a:xfrm>
            <a:off x="83210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5" name="Shape 13">
            <a:extLst>
              <a:ext uri="{FF2B5EF4-FFF2-40B4-BE49-F238E27FC236}">
                <a16:creationId xmlns:a16="http://schemas.microsoft.com/office/drawing/2014/main" id="{49F2FD7D-66C0-E51D-EC3B-C6CC06EFB56D}"/>
              </a:ext>
            </a:extLst>
          </p:cNvPr>
          <p:cNvSpPr/>
          <p:nvPr/>
        </p:nvSpPr>
        <p:spPr>
          <a:xfrm>
            <a:off x="8641080" y="2423160"/>
            <a:ext cx="164592" cy="164592"/>
          </a:xfrm>
          <a:prstGeom prst="ellipse">
            <a:avLst/>
          </a:prstGeom>
          <a:solidFill>
            <a:srgbClr val="F0993E"/>
          </a:solidFill>
          <a:ln w="12700">
            <a:solidFill>
              <a:srgbClr val="F0993E"/>
            </a:solidFill>
            <a:prstDash val="solid"/>
          </a:ln>
        </p:spPr>
        <p:txBody>
          <a:bodyPr/>
          <a:lstStyle/>
          <a:p>
            <a:endParaRPr lang="de-DE"/>
          </a:p>
        </p:txBody>
      </p:sp>
      <p:sp>
        <p:nvSpPr>
          <p:cNvPr id="16" name="Text 14">
            <a:extLst>
              <a:ext uri="{FF2B5EF4-FFF2-40B4-BE49-F238E27FC236}">
                <a16:creationId xmlns:a16="http://schemas.microsoft.com/office/drawing/2014/main" id="{BA562EED-8625-58F9-1138-8F89011DFE0F}"/>
              </a:ext>
            </a:extLst>
          </p:cNvPr>
          <p:cNvSpPr/>
          <p:nvPr/>
        </p:nvSpPr>
        <p:spPr>
          <a:xfrm>
            <a:off x="8641080"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a:ea typeface="Calibri"/>
                <a:cs typeface="Calibri"/>
              </a:rPr>
              <a:t>Themes</a:t>
            </a:r>
            <a:endParaRPr lang="en-US"/>
          </a:p>
        </p:txBody>
      </p:sp>
      <p:sp>
        <p:nvSpPr>
          <p:cNvPr id="17" name="Text 15">
            <a:extLst>
              <a:ext uri="{FF2B5EF4-FFF2-40B4-BE49-F238E27FC236}">
                <a16:creationId xmlns:a16="http://schemas.microsoft.com/office/drawing/2014/main" id="{D8E3AB33-023B-843B-2253-43387E5B5918}"/>
              </a:ext>
            </a:extLst>
          </p:cNvPr>
          <p:cNvSpPr/>
          <p:nvPr/>
        </p:nvSpPr>
        <p:spPr>
          <a:xfrm>
            <a:off x="8641080" y="3383280"/>
            <a:ext cx="3108960" cy="2377440"/>
          </a:xfrm>
          <a:prstGeom prst="rect">
            <a:avLst/>
          </a:prstGeom>
          <a:noFill/>
          <a:ln/>
        </p:spPr>
        <p:txBody>
          <a:bodyPr wrap="square" lIns="0" tIns="0" rIns="0" bIns="0" rtlCol="0" anchor="t"/>
          <a:lstStyle/>
          <a:p>
            <a:r>
              <a:rPr lang="en-US" sz="1400">
                <a:solidFill>
                  <a:srgbClr val="5A6A7A"/>
                </a:solidFill>
                <a:ea typeface="+mn-lt"/>
                <a:cs typeface="+mn-lt"/>
              </a:rPr>
              <a:t>Das Frontend </a:t>
            </a:r>
            <a:r>
              <a:rPr lang="en-US" sz="1400" err="1">
                <a:solidFill>
                  <a:srgbClr val="5A6A7A"/>
                </a:solidFill>
                <a:ea typeface="+mn-lt"/>
                <a:cs typeface="+mn-lt"/>
              </a:rPr>
              <a:t>kann</a:t>
            </a:r>
            <a:r>
              <a:rPr lang="en-US" sz="1400">
                <a:solidFill>
                  <a:srgbClr val="5A6A7A"/>
                </a:solidFill>
                <a:ea typeface="+mn-lt"/>
                <a:cs typeface="+mn-lt"/>
              </a:rPr>
              <a:t> auf </a:t>
            </a:r>
            <a:r>
              <a:rPr lang="en-US" sz="1400" err="1">
                <a:solidFill>
                  <a:srgbClr val="5A6A7A"/>
                </a:solidFill>
                <a:ea typeface="+mn-lt"/>
                <a:cs typeface="+mn-lt"/>
              </a:rPr>
              <a:t>Knopfdruck</a:t>
            </a:r>
            <a:r>
              <a:rPr lang="en-US" sz="1400">
                <a:solidFill>
                  <a:srgbClr val="5A6A7A"/>
                </a:solidFill>
                <a:ea typeface="+mn-lt"/>
                <a:cs typeface="+mn-lt"/>
              </a:rPr>
              <a:t> von </a:t>
            </a:r>
            <a:r>
              <a:rPr lang="en-US" sz="1400" err="1">
                <a:solidFill>
                  <a:srgbClr val="5A6A7A"/>
                </a:solidFill>
                <a:ea typeface="+mn-lt"/>
                <a:cs typeface="+mn-lt"/>
              </a:rPr>
              <a:t>einer</a:t>
            </a:r>
            <a:r>
              <a:rPr lang="en-US" sz="1400">
                <a:solidFill>
                  <a:srgbClr val="5A6A7A"/>
                </a:solidFill>
                <a:ea typeface="+mn-lt"/>
                <a:cs typeface="+mn-lt"/>
              </a:rPr>
              <a:t> </a:t>
            </a:r>
            <a:r>
              <a:rPr lang="en-US" sz="1400" err="1">
                <a:solidFill>
                  <a:srgbClr val="5A6A7A"/>
                </a:solidFill>
                <a:ea typeface="+mn-lt"/>
                <a:cs typeface="+mn-lt"/>
              </a:rPr>
              <a:t>hellen</a:t>
            </a:r>
            <a:r>
              <a:rPr lang="en-US" sz="1400">
                <a:solidFill>
                  <a:srgbClr val="5A6A7A"/>
                </a:solidFill>
                <a:ea typeface="+mn-lt"/>
                <a:cs typeface="+mn-lt"/>
              </a:rPr>
              <a:t> </a:t>
            </a:r>
            <a:r>
              <a:rPr lang="en-US" sz="1400" err="1">
                <a:solidFill>
                  <a:srgbClr val="5A6A7A"/>
                </a:solidFill>
                <a:ea typeface="+mn-lt"/>
                <a:cs typeface="+mn-lt"/>
              </a:rPr>
              <a:t>Anzeige</a:t>
            </a:r>
            <a:r>
              <a:rPr lang="en-US" sz="1400">
                <a:solidFill>
                  <a:srgbClr val="5A6A7A"/>
                </a:solidFill>
                <a:ea typeface="+mn-lt"/>
                <a:cs typeface="+mn-lt"/>
              </a:rPr>
              <a:t> in </a:t>
            </a:r>
            <a:r>
              <a:rPr lang="en-US" sz="1400" err="1">
                <a:solidFill>
                  <a:srgbClr val="5A6A7A"/>
                </a:solidFill>
                <a:ea typeface="+mn-lt"/>
                <a:cs typeface="+mn-lt"/>
              </a:rPr>
              <a:t>eine</a:t>
            </a:r>
            <a:r>
              <a:rPr lang="en-US" sz="1400">
                <a:solidFill>
                  <a:srgbClr val="5A6A7A"/>
                </a:solidFill>
                <a:ea typeface="+mn-lt"/>
                <a:cs typeface="+mn-lt"/>
              </a:rPr>
              <a:t> </a:t>
            </a:r>
            <a:r>
              <a:rPr lang="en-US" sz="1400" err="1">
                <a:solidFill>
                  <a:srgbClr val="5A6A7A"/>
                </a:solidFill>
                <a:ea typeface="+mn-lt"/>
                <a:cs typeface="+mn-lt"/>
              </a:rPr>
              <a:t>augenschonende</a:t>
            </a:r>
            <a:r>
              <a:rPr lang="en-US" sz="1400">
                <a:solidFill>
                  <a:srgbClr val="5A6A7A"/>
                </a:solidFill>
                <a:ea typeface="+mn-lt"/>
                <a:cs typeface="+mn-lt"/>
              </a:rPr>
              <a:t> </a:t>
            </a:r>
            <a:r>
              <a:rPr lang="en-US" sz="1400" err="1">
                <a:solidFill>
                  <a:srgbClr val="5A6A7A"/>
                </a:solidFill>
                <a:ea typeface="+mn-lt"/>
                <a:cs typeface="+mn-lt"/>
              </a:rPr>
              <a:t>dunklere</a:t>
            </a:r>
            <a:r>
              <a:rPr lang="en-US" sz="1400">
                <a:solidFill>
                  <a:srgbClr val="5A6A7A"/>
                </a:solidFill>
                <a:ea typeface="+mn-lt"/>
                <a:cs typeface="+mn-lt"/>
              </a:rPr>
              <a:t> </a:t>
            </a:r>
            <a:r>
              <a:rPr lang="en-US" sz="1400" err="1">
                <a:solidFill>
                  <a:srgbClr val="5A6A7A"/>
                </a:solidFill>
                <a:ea typeface="+mn-lt"/>
                <a:cs typeface="+mn-lt"/>
              </a:rPr>
              <a:t>Anzeige</a:t>
            </a:r>
            <a:r>
              <a:rPr lang="en-US" sz="1400">
                <a:solidFill>
                  <a:srgbClr val="5A6A7A"/>
                </a:solidFill>
                <a:ea typeface="+mn-lt"/>
                <a:cs typeface="+mn-lt"/>
              </a:rPr>
              <a:t> </a:t>
            </a:r>
            <a:r>
              <a:rPr lang="en-US" sz="1400" err="1">
                <a:solidFill>
                  <a:srgbClr val="5A6A7A"/>
                </a:solidFill>
                <a:ea typeface="+mn-lt"/>
                <a:cs typeface="+mn-lt"/>
              </a:rPr>
              <a:t>umgewandelt</a:t>
            </a:r>
            <a:r>
              <a:rPr lang="en-US" sz="1400">
                <a:solidFill>
                  <a:srgbClr val="5A6A7A"/>
                </a:solidFill>
                <a:ea typeface="+mn-lt"/>
                <a:cs typeface="+mn-lt"/>
              </a:rPr>
              <a:t> </a:t>
            </a:r>
            <a:r>
              <a:rPr lang="en-US" sz="1400" err="1">
                <a:solidFill>
                  <a:srgbClr val="5A6A7A"/>
                </a:solidFill>
                <a:ea typeface="+mn-lt"/>
                <a:cs typeface="+mn-lt"/>
              </a:rPr>
              <a:t>werden</a:t>
            </a:r>
            <a:r>
              <a:rPr lang="en-US" sz="1400">
                <a:solidFill>
                  <a:srgbClr val="5A6A7A"/>
                </a:solidFill>
                <a:ea typeface="+mn-lt"/>
                <a:cs typeface="+mn-lt"/>
              </a:rPr>
              <a:t>.</a:t>
            </a:r>
          </a:p>
          <a:p>
            <a:endParaRPr lang="en-US" sz="1400">
              <a:solidFill>
                <a:srgbClr val="5A6A7A"/>
              </a:solidFill>
              <a:ea typeface="Calibri"/>
              <a:cs typeface="Calibri"/>
            </a:endParaRPr>
          </a:p>
        </p:txBody>
      </p:sp>
      <p:sp>
        <p:nvSpPr>
          <p:cNvPr id="18" name="Shape 16">
            <a:extLst>
              <a:ext uri="{FF2B5EF4-FFF2-40B4-BE49-F238E27FC236}">
                <a16:creationId xmlns:a16="http://schemas.microsoft.com/office/drawing/2014/main" id="{748EB292-6312-A3F9-2272-6DD4EDD45E0D}"/>
              </a:ext>
            </a:extLst>
          </p:cNvPr>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19" name="Text 17">
            <a:extLst>
              <a:ext uri="{FF2B5EF4-FFF2-40B4-BE49-F238E27FC236}">
                <a16:creationId xmlns:a16="http://schemas.microsoft.com/office/drawing/2014/main" id="{DBD509E1-791C-BE47-52F5-F9808C57C333}"/>
              </a:ext>
            </a:extLst>
          </p:cNvPr>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0" name="Text 18">
            <a:extLst>
              <a:ext uri="{FF2B5EF4-FFF2-40B4-BE49-F238E27FC236}">
                <a16:creationId xmlns:a16="http://schemas.microsoft.com/office/drawing/2014/main" id="{895397C9-36A3-94F8-78F3-92B23BA8A9B0}"/>
              </a:ext>
            </a:extLst>
          </p:cNvPr>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5 / 16</a:t>
            </a:r>
            <a:endParaRPr lang="en-US" sz="1000"/>
          </a:p>
        </p:txBody>
      </p:sp>
    </p:spTree>
    <p:extLst>
      <p:ext uri="{BB962C8B-B14F-4D97-AF65-F5344CB8AC3E}">
        <p14:creationId xmlns:p14="http://schemas.microsoft.com/office/powerpoint/2010/main" val="1742907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3CFDBC7D-799E-E18B-AE07-35A7034B745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2B7BE7B-A7CF-AF6C-8AD8-484F7DEFFB51}"/>
              </a:ext>
            </a:extLst>
          </p:cNvPr>
          <p:cNvSpPr/>
          <p:nvPr/>
        </p:nvSpPr>
        <p:spPr>
          <a:xfrm>
            <a:off x="548640" y="502920"/>
            <a:ext cx="164592" cy="164592"/>
          </a:xfrm>
          <a:prstGeom prst="ellipse">
            <a:avLst/>
          </a:prstGeom>
          <a:solidFill>
            <a:srgbClr val="F0993E"/>
          </a:solidFill>
          <a:ln w="12700">
            <a:solidFill>
              <a:srgbClr val="F0993E"/>
            </a:solidFill>
            <a:prstDash val="solid"/>
          </a:ln>
        </p:spPr>
        <p:txBody>
          <a:bodyPr/>
          <a:lstStyle/>
          <a:p>
            <a:endParaRPr lang="de-DE"/>
          </a:p>
        </p:txBody>
      </p:sp>
      <p:sp>
        <p:nvSpPr>
          <p:cNvPr id="3" name="Text 1">
            <a:extLst>
              <a:ext uri="{FF2B5EF4-FFF2-40B4-BE49-F238E27FC236}">
                <a16:creationId xmlns:a16="http://schemas.microsoft.com/office/drawing/2014/main" id="{9115425B-D119-92FE-65C3-C1451830AB21}"/>
              </a:ext>
            </a:extLst>
          </p:cNvPr>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F0993E"/>
                </a:solidFill>
                <a:latin typeface="Calibri" pitchFamily="34" charset="0"/>
                <a:ea typeface="Calibri" pitchFamily="34" charset="-122"/>
                <a:cs typeface="Calibri" pitchFamily="34" charset="-120"/>
              </a:rPr>
              <a:t>FRONTEND</a:t>
            </a:r>
            <a:endParaRPr lang="en-US" sz="1100"/>
          </a:p>
        </p:txBody>
      </p:sp>
      <p:sp>
        <p:nvSpPr>
          <p:cNvPr id="4" name="Text 2">
            <a:extLst>
              <a:ext uri="{FF2B5EF4-FFF2-40B4-BE49-F238E27FC236}">
                <a16:creationId xmlns:a16="http://schemas.microsoft.com/office/drawing/2014/main" id="{137087C3-A063-5EBB-5383-C23718946BB5}"/>
              </a:ext>
            </a:extLst>
          </p:cNvPr>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a:ea typeface="Calibri"/>
                <a:cs typeface="Calibri"/>
              </a:rPr>
              <a:t>Sammy</a:t>
            </a:r>
            <a:endParaRPr lang="en-US" sz="1100"/>
          </a:p>
        </p:txBody>
      </p:sp>
      <p:sp>
        <p:nvSpPr>
          <p:cNvPr id="5" name="Text 3">
            <a:extLst>
              <a:ext uri="{FF2B5EF4-FFF2-40B4-BE49-F238E27FC236}">
                <a16:creationId xmlns:a16="http://schemas.microsoft.com/office/drawing/2014/main" id="{7BB66CA9-3F3C-3745-70C0-96F13A0B79AF}"/>
              </a:ext>
            </a:extLst>
          </p:cNvPr>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Was sehen die Nutzer</a:t>
            </a:r>
            <a:endParaRPr lang="en-US" sz="4000"/>
          </a:p>
        </p:txBody>
      </p:sp>
      <p:sp>
        <p:nvSpPr>
          <p:cNvPr id="14" name="Shape 12">
            <a:extLst>
              <a:ext uri="{FF2B5EF4-FFF2-40B4-BE49-F238E27FC236}">
                <a16:creationId xmlns:a16="http://schemas.microsoft.com/office/drawing/2014/main" id="{A3613FF8-01DE-49ED-C44D-AFD490F3D2FB}"/>
              </a:ext>
            </a:extLst>
          </p:cNvPr>
          <p:cNvSpPr/>
          <p:nvPr/>
        </p:nvSpPr>
        <p:spPr>
          <a:xfrm>
            <a:off x="4264195"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5" name="Shape 13">
            <a:extLst>
              <a:ext uri="{FF2B5EF4-FFF2-40B4-BE49-F238E27FC236}">
                <a16:creationId xmlns:a16="http://schemas.microsoft.com/office/drawing/2014/main" id="{78B04B2C-4B6D-EE0F-55F0-02C610524974}"/>
              </a:ext>
            </a:extLst>
          </p:cNvPr>
          <p:cNvSpPr/>
          <p:nvPr/>
        </p:nvSpPr>
        <p:spPr>
          <a:xfrm>
            <a:off x="4584235" y="2423160"/>
            <a:ext cx="164592" cy="164592"/>
          </a:xfrm>
          <a:prstGeom prst="ellipse">
            <a:avLst/>
          </a:prstGeom>
          <a:solidFill>
            <a:srgbClr val="F0993E"/>
          </a:solidFill>
          <a:ln w="12700">
            <a:solidFill>
              <a:srgbClr val="F0993E"/>
            </a:solidFill>
            <a:prstDash val="solid"/>
          </a:ln>
        </p:spPr>
        <p:txBody>
          <a:bodyPr/>
          <a:lstStyle/>
          <a:p>
            <a:endParaRPr lang="de-DE"/>
          </a:p>
        </p:txBody>
      </p:sp>
      <p:sp>
        <p:nvSpPr>
          <p:cNvPr id="16" name="Text 14">
            <a:extLst>
              <a:ext uri="{FF2B5EF4-FFF2-40B4-BE49-F238E27FC236}">
                <a16:creationId xmlns:a16="http://schemas.microsoft.com/office/drawing/2014/main" id="{CEF185DA-A0C3-97BF-0210-3B237D055404}"/>
              </a:ext>
            </a:extLst>
          </p:cNvPr>
          <p:cNvSpPr/>
          <p:nvPr/>
        </p:nvSpPr>
        <p:spPr>
          <a:xfrm>
            <a:off x="4584235"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a:ea typeface="Calibri"/>
                <a:cs typeface="Calibri"/>
              </a:rPr>
              <a:t>Themes</a:t>
            </a:r>
            <a:endParaRPr lang="en-US"/>
          </a:p>
        </p:txBody>
      </p:sp>
      <p:sp>
        <p:nvSpPr>
          <p:cNvPr id="17" name="Text 15">
            <a:extLst>
              <a:ext uri="{FF2B5EF4-FFF2-40B4-BE49-F238E27FC236}">
                <a16:creationId xmlns:a16="http://schemas.microsoft.com/office/drawing/2014/main" id="{10002B56-E0B4-263E-B2CC-D02C92A85602}"/>
              </a:ext>
            </a:extLst>
          </p:cNvPr>
          <p:cNvSpPr/>
          <p:nvPr/>
        </p:nvSpPr>
        <p:spPr>
          <a:xfrm>
            <a:off x="4584235" y="3383280"/>
            <a:ext cx="3108960" cy="2377440"/>
          </a:xfrm>
          <a:prstGeom prst="rect">
            <a:avLst/>
          </a:prstGeom>
          <a:noFill/>
          <a:ln/>
        </p:spPr>
        <p:txBody>
          <a:bodyPr wrap="square" lIns="0" tIns="0" rIns="0" bIns="0" rtlCol="0" anchor="t"/>
          <a:lstStyle/>
          <a:p>
            <a:r>
              <a:rPr lang="en-US" sz="1400">
                <a:solidFill>
                  <a:srgbClr val="5A6A7A"/>
                </a:solidFill>
                <a:ea typeface="+mn-lt"/>
                <a:cs typeface="+mn-lt"/>
              </a:rPr>
              <a:t>Das Frontend </a:t>
            </a:r>
            <a:r>
              <a:rPr lang="en-US" sz="1400" err="1">
                <a:solidFill>
                  <a:srgbClr val="5A6A7A"/>
                </a:solidFill>
                <a:ea typeface="+mn-lt"/>
                <a:cs typeface="+mn-lt"/>
              </a:rPr>
              <a:t>kann</a:t>
            </a:r>
            <a:r>
              <a:rPr lang="en-US" sz="1400">
                <a:solidFill>
                  <a:srgbClr val="5A6A7A"/>
                </a:solidFill>
                <a:ea typeface="+mn-lt"/>
                <a:cs typeface="+mn-lt"/>
              </a:rPr>
              <a:t> auf </a:t>
            </a:r>
            <a:r>
              <a:rPr lang="en-US" sz="1400" err="1">
                <a:solidFill>
                  <a:srgbClr val="5A6A7A"/>
                </a:solidFill>
                <a:ea typeface="+mn-lt"/>
                <a:cs typeface="+mn-lt"/>
              </a:rPr>
              <a:t>Knopfdruck</a:t>
            </a:r>
            <a:r>
              <a:rPr lang="en-US" sz="1400">
                <a:solidFill>
                  <a:srgbClr val="5A6A7A"/>
                </a:solidFill>
                <a:ea typeface="+mn-lt"/>
                <a:cs typeface="+mn-lt"/>
              </a:rPr>
              <a:t> von </a:t>
            </a:r>
            <a:r>
              <a:rPr lang="en-US" sz="1400" err="1">
                <a:solidFill>
                  <a:srgbClr val="5A6A7A"/>
                </a:solidFill>
                <a:ea typeface="+mn-lt"/>
                <a:cs typeface="+mn-lt"/>
              </a:rPr>
              <a:t>einer</a:t>
            </a:r>
            <a:r>
              <a:rPr lang="en-US" sz="1400">
                <a:solidFill>
                  <a:srgbClr val="5A6A7A"/>
                </a:solidFill>
                <a:ea typeface="+mn-lt"/>
                <a:cs typeface="+mn-lt"/>
              </a:rPr>
              <a:t> </a:t>
            </a:r>
            <a:r>
              <a:rPr lang="en-US" sz="1400" err="1">
                <a:solidFill>
                  <a:srgbClr val="5A6A7A"/>
                </a:solidFill>
                <a:ea typeface="+mn-lt"/>
                <a:cs typeface="+mn-lt"/>
              </a:rPr>
              <a:t>hellen</a:t>
            </a:r>
            <a:r>
              <a:rPr lang="en-US" sz="1400">
                <a:solidFill>
                  <a:srgbClr val="5A6A7A"/>
                </a:solidFill>
                <a:ea typeface="+mn-lt"/>
                <a:cs typeface="+mn-lt"/>
              </a:rPr>
              <a:t> </a:t>
            </a:r>
            <a:r>
              <a:rPr lang="en-US" sz="1400" err="1">
                <a:solidFill>
                  <a:srgbClr val="5A6A7A"/>
                </a:solidFill>
                <a:ea typeface="+mn-lt"/>
                <a:cs typeface="+mn-lt"/>
              </a:rPr>
              <a:t>Anzeige</a:t>
            </a:r>
            <a:r>
              <a:rPr lang="en-US" sz="1400">
                <a:solidFill>
                  <a:srgbClr val="5A6A7A"/>
                </a:solidFill>
                <a:ea typeface="+mn-lt"/>
                <a:cs typeface="+mn-lt"/>
              </a:rPr>
              <a:t> in </a:t>
            </a:r>
            <a:r>
              <a:rPr lang="en-US" sz="1400" err="1">
                <a:solidFill>
                  <a:srgbClr val="5A6A7A"/>
                </a:solidFill>
                <a:ea typeface="+mn-lt"/>
                <a:cs typeface="+mn-lt"/>
              </a:rPr>
              <a:t>eine</a:t>
            </a:r>
            <a:r>
              <a:rPr lang="en-US" sz="1400">
                <a:solidFill>
                  <a:srgbClr val="5A6A7A"/>
                </a:solidFill>
                <a:ea typeface="+mn-lt"/>
                <a:cs typeface="+mn-lt"/>
              </a:rPr>
              <a:t> </a:t>
            </a:r>
            <a:r>
              <a:rPr lang="en-US" sz="1400" err="1">
                <a:solidFill>
                  <a:srgbClr val="5A6A7A"/>
                </a:solidFill>
                <a:ea typeface="+mn-lt"/>
                <a:cs typeface="+mn-lt"/>
              </a:rPr>
              <a:t>augenschonende</a:t>
            </a:r>
            <a:r>
              <a:rPr lang="en-US" sz="1400">
                <a:solidFill>
                  <a:srgbClr val="5A6A7A"/>
                </a:solidFill>
                <a:ea typeface="+mn-lt"/>
                <a:cs typeface="+mn-lt"/>
              </a:rPr>
              <a:t> </a:t>
            </a:r>
            <a:r>
              <a:rPr lang="en-US" sz="1400" err="1">
                <a:solidFill>
                  <a:srgbClr val="5A6A7A"/>
                </a:solidFill>
                <a:ea typeface="+mn-lt"/>
                <a:cs typeface="+mn-lt"/>
              </a:rPr>
              <a:t>dunklere</a:t>
            </a:r>
            <a:r>
              <a:rPr lang="en-US" sz="1400">
                <a:solidFill>
                  <a:srgbClr val="5A6A7A"/>
                </a:solidFill>
                <a:ea typeface="+mn-lt"/>
                <a:cs typeface="+mn-lt"/>
              </a:rPr>
              <a:t> </a:t>
            </a:r>
            <a:r>
              <a:rPr lang="en-US" sz="1400" err="1">
                <a:solidFill>
                  <a:srgbClr val="5A6A7A"/>
                </a:solidFill>
                <a:ea typeface="+mn-lt"/>
                <a:cs typeface="+mn-lt"/>
              </a:rPr>
              <a:t>Anzeige</a:t>
            </a:r>
            <a:r>
              <a:rPr lang="en-US" sz="1400">
                <a:solidFill>
                  <a:srgbClr val="5A6A7A"/>
                </a:solidFill>
                <a:ea typeface="+mn-lt"/>
                <a:cs typeface="+mn-lt"/>
              </a:rPr>
              <a:t> </a:t>
            </a:r>
            <a:r>
              <a:rPr lang="en-US" sz="1400" err="1">
                <a:solidFill>
                  <a:srgbClr val="5A6A7A"/>
                </a:solidFill>
                <a:ea typeface="+mn-lt"/>
                <a:cs typeface="+mn-lt"/>
              </a:rPr>
              <a:t>umgewandelt</a:t>
            </a:r>
            <a:r>
              <a:rPr lang="en-US" sz="1400">
                <a:solidFill>
                  <a:srgbClr val="5A6A7A"/>
                </a:solidFill>
                <a:ea typeface="+mn-lt"/>
                <a:cs typeface="+mn-lt"/>
              </a:rPr>
              <a:t> </a:t>
            </a:r>
            <a:r>
              <a:rPr lang="en-US" sz="1400" err="1">
                <a:solidFill>
                  <a:srgbClr val="5A6A7A"/>
                </a:solidFill>
                <a:ea typeface="+mn-lt"/>
                <a:cs typeface="+mn-lt"/>
              </a:rPr>
              <a:t>werden</a:t>
            </a:r>
            <a:r>
              <a:rPr lang="en-US" sz="1400">
                <a:solidFill>
                  <a:srgbClr val="5A6A7A"/>
                </a:solidFill>
                <a:ea typeface="+mn-lt"/>
                <a:cs typeface="+mn-lt"/>
              </a:rPr>
              <a:t>.</a:t>
            </a:r>
          </a:p>
          <a:p>
            <a:endParaRPr lang="en-US" sz="1400">
              <a:solidFill>
                <a:srgbClr val="5A6A7A"/>
              </a:solidFill>
              <a:ea typeface="Calibri"/>
              <a:cs typeface="Calibri"/>
            </a:endParaRPr>
          </a:p>
        </p:txBody>
      </p:sp>
      <p:sp>
        <p:nvSpPr>
          <p:cNvPr id="18" name="Shape 16">
            <a:extLst>
              <a:ext uri="{FF2B5EF4-FFF2-40B4-BE49-F238E27FC236}">
                <a16:creationId xmlns:a16="http://schemas.microsoft.com/office/drawing/2014/main" id="{82E6BA4C-C529-1EF8-4B95-A1DF483839D5}"/>
              </a:ext>
            </a:extLst>
          </p:cNvPr>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19" name="Text 17">
            <a:extLst>
              <a:ext uri="{FF2B5EF4-FFF2-40B4-BE49-F238E27FC236}">
                <a16:creationId xmlns:a16="http://schemas.microsoft.com/office/drawing/2014/main" id="{46CA7FB1-0D7D-3899-B4AE-57E61696986A}"/>
              </a:ext>
            </a:extLst>
          </p:cNvPr>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0" name="Text 18">
            <a:extLst>
              <a:ext uri="{FF2B5EF4-FFF2-40B4-BE49-F238E27FC236}">
                <a16:creationId xmlns:a16="http://schemas.microsoft.com/office/drawing/2014/main" id="{51FEFD80-4846-0415-B90B-4D6CF0A37D53}"/>
              </a:ext>
            </a:extLst>
          </p:cNvPr>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5 / 16</a:t>
            </a:r>
            <a:endParaRPr lang="en-US" sz="1000"/>
          </a:p>
        </p:txBody>
      </p:sp>
      <p:pic>
        <p:nvPicPr>
          <p:cNvPr id="21" name="Picture 20" descr="A screenshot of a computer&#10;&#10;AI-generated content may be incorrect.">
            <a:extLst>
              <a:ext uri="{FF2B5EF4-FFF2-40B4-BE49-F238E27FC236}">
                <a16:creationId xmlns:a16="http://schemas.microsoft.com/office/drawing/2014/main" id="{D42F9E19-D3CB-069B-916B-30147B66E5E9}"/>
              </a:ext>
            </a:extLst>
          </p:cNvPr>
          <p:cNvPicPr>
            <a:picLocks noChangeAspect="1"/>
          </p:cNvPicPr>
          <p:nvPr/>
        </p:nvPicPr>
        <p:blipFill>
          <a:blip r:embed="rId3"/>
          <a:stretch>
            <a:fillRect/>
          </a:stretch>
        </p:blipFill>
        <p:spPr>
          <a:xfrm>
            <a:off x="436338" y="2286000"/>
            <a:ext cx="3771212" cy="3464944"/>
          </a:xfrm>
          <a:prstGeom prst="rect">
            <a:avLst/>
          </a:prstGeom>
        </p:spPr>
      </p:pic>
      <p:pic>
        <p:nvPicPr>
          <p:cNvPr id="22" name="Picture 21" descr="A screenshot of a computer&#10;&#10;AI-generated content may be incorrect.">
            <a:extLst>
              <a:ext uri="{FF2B5EF4-FFF2-40B4-BE49-F238E27FC236}">
                <a16:creationId xmlns:a16="http://schemas.microsoft.com/office/drawing/2014/main" id="{5BD80B57-E6B6-0A8F-A5FF-005E7F792357}"/>
              </a:ext>
            </a:extLst>
          </p:cNvPr>
          <p:cNvPicPr>
            <a:picLocks noChangeAspect="1"/>
          </p:cNvPicPr>
          <p:nvPr/>
        </p:nvPicPr>
        <p:blipFill>
          <a:blip r:embed="rId4"/>
          <a:stretch>
            <a:fillRect/>
          </a:stretch>
        </p:blipFill>
        <p:spPr>
          <a:xfrm>
            <a:off x="8036560" y="2220750"/>
            <a:ext cx="3659035" cy="3598986"/>
          </a:xfrm>
          <a:prstGeom prst="rect">
            <a:avLst/>
          </a:prstGeom>
        </p:spPr>
      </p:pic>
    </p:spTree>
    <p:extLst>
      <p:ext uri="{BB962C8B-B14F-4D97-AF65-F5344CB8AC3E}">
        <p14:creationId xmlns:p14="http://schemas.microsoft.com/office/powerpoint/2010/main" val="2906586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ellipse">
            <a:avLst/>
          </a:prstGeom>
          <a:solidFill>
            <a:srgbClr val="F0993E"/>
          </a:solidFill>
          <a:ln w="12700">
            <a:solidFill>
              <a:srgbClr val="F0993E"/>
            </a:solidFill>
            <a:prstDash val="solid"/>
          </a:ln>
        </p:spPr>
        <p:txBody>
          <a:bodyPr/>
          <a:lstStyle/>
          <a:p>
            <a:endParaRPr lang="de-DE"/>
          </a:p>
        </p:txBody>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F0993E"/>
                </a:solidFill>
                <a:latin typeface="Calibri" pitchFamily="34" charset="0"/>
                <a:ea typeface="Calibri" pitchFamily="34" charset="-122"/>
                <a:cs typeface="Calibri" pitchFamily="34" charset="-120"/>
              </a:rPr>
              <a:t>FRONTEND</a:t>
            </a:r>
            <a:endParaRPr lang="en-US" sz="1100"/>
          </a:p>
        </p:txBody>
      </p:sp>
      <p:sp>
        <p:nvSpPr>
          <p:cNvPr id="4" name="Text 2"/>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a:ea typeface="Calibri"/>
                <a:cs typeface="Calibri"/>
              </a:rPr>
              <a:t>Sammy</a:t>
            </a:r>
            <a:endParaRPr lang="en-US" sz="1100"/>
          </a:p>
        </p:txBody>
      </p:sp>
      <p:sp>
        <p:nvSpPr>
          <p:cNvPr id="5" name="Text 3"/>
          <p:cNvSpPr/>
          <p:nvPr/>
        </p:nvSpPr>
        <p:spPr>
          <a:xfrm>
            <a:off x="548640" y="868680"/>
            <a:ext cx="11155680" cy="1097280"/>
          </a:xfrm>
          <a:prstGeom prst="rect">
            <a:avLst/>
          </a:prstGeom>
          <a:noFill/>
          <a:ln/>
        </p:spPr>
        <p:txBody>
          <a:bodyPr wrap="square" lIns="0" tIns="0" rIns="0" bIns="0" rtlCol="0" anchor="t"/>
          <a:lstStyle/>
          <a:p>
            <a:r>
              <a:rPr lang="en-US" sz="4000" b="1">
                <a:solidFill>
                  <a:srgbClr val="213547"/>
                </a:solidFill>
                <a:latin typeface="Calibri"/>
                <a:ea typeface="Calibri"/>
                <a:cs typeface="Calibri"/>
              </a:rPr>
              <a:t>Der Tech-Stack</a:t>
            </a:r>
            <a:endParaRPr lang="en-US"/>
          </a:p>
        </p:txBody>
      </p:sp>
      <p:sp>
        <p:nvSpPr>
          <p:cNvPr id="6" name="Shape 4"/>
          <p:cNvSpPr/>
          <p:nvPr/>
        </p:nvSpPr>
        <p:spPr>
          <a:xfrm>
            <a:off x="548640" y="2423160"/>
            <a:ext cx="201168" cy="201168"/>
          </a:xfrm>
          <a:prstGeom prst="ellipse">
            <a:avLst/>
          </a:prstGeom>
          <a:solidFill>
            <a:srgbClr val="F0993E"/>
          </a:solidFill>
          <a:ln w="12700">
            <a:solidFill>
              <a:srgbClr val="F0993E"/>
            </a:solidFill>
            <a:prstDash val="solid"/>
          </a:ln>
        </p:spPr>
        <p:txBody>
          <a:bodyPr/>
          <a:lstStyle/>
          <a:p>
            <a:endParaRPr lang="de-DE"/>
          </a:p>
        </p:txBody>
      </p:sp>
      <p:sp>
        <p:nvSpPr>
          <p:cNvPr id="7" name="Text 5"/>
          <p:cNvSpPr/>
          <p:nvPr/>
        </p:nvSpPr>
        <p:spPr>
          <a:xfrm>
            <a:off x="868680" y="2286000"/>
            <a:ext cx="3200400" cy="457200"/>
          </a:xfrm>
          <a:prstGeom prst="rect">
            <a:avLst/>
          </a:prstGeom>
          <a:noFill/>
          <a:ln/>
        </p:spPr>
        <p:txBody>
          <a:bodyPr wrap="square" lIns="0" tIns="0" rIns="0" bIns="0" rtlCol="0" anchor="ctr"/>
          <a:lstStyle/>
          <a:p>
            <a:pPr marL="0" indent="0">
              <a:buNone/>
            </a:pPr>
            <a:r>
              <a:rPr lang="en-US" sz="1800" b="1">
                <a:solidFill>
                  <a:srgbClr val="213547"/>
                </a:solidFill>
                <a:latin typeface="Calibri" pitchFamily="34" charset="0"/>
                <a:ea typeface="Calibri" pitchFamily="34" charset="-122"/>
                <a:cs typeface="Calibri" pitchFamily="34" charset="-120"/>
              </a:rPr>
              <a:t>React</a:t>
            </a:r>
            <a:endParaRPr lang="en-US" sz="1800"/>
          </a:p>
        </p:txBody>
      </p:sp>
      <p:sp>
        <p:nvSpPr>
          <p:cNvPr id="8" name="Text 6"/>
          <p:cNvSpPr/>
          <p:nvPr/>
        </p:nvSpPr>
        <p:spPr>
          <a:xfrm>
            <a:off x="4114800" y="2286000"/>
            <a:ext cx="7589520" cy="548640"/>
          </a:xfrm>
          <a:prstGeom prst="rect">
            <a:avLst/>
          </a:prstGeom>
          <a:noFill/>
          <a:ln/>
        </p:spPr>
        <p:txBody>
          <a:bodyPr wrap="square" lIns="0" tIns="0" rIns="0" bIns="0" rtlCol="0" anchor="t"/>
          <a:lstStyle/>
          <a:p>
            <a:r>
              <a:rPr lang="en-US" sz="1400">
                <a:solidFill>
                  <a:srgbClr val="5A6A7A"/>
                </a:solidFill>
                <a:latin typeface="Calibri"/>
                <a:ea typeface="Calibri"/>
                <a:cs typeface="Calibri"/>
              </a:rPr>
              <a:t>Ein UI-Framework </a:t>
            </a:r>
            <a:r>
              <a:rPr lang="en-US" sz="1400" err="1">
                <a:solidFill>
                  <a:srgbClr val="5A6A7A"/>
                </a:solidFill>
                <a:latin typeface="Calibri"/>
                <a:ea typeface="Calibri"/>
                <a:cs typeface="Calibri"/>
              </a:rPr>
              <a:t>bekannt</a:t>
            </a:r>
            <a:r>
              <a:rPr lang="en-US" sz="1400">
                <a:solidFill>
                  <a:srgbClr val="5A6A7A"/>
                </a:solidFill>
                <a:latin typeface="Calibri"/>
                <a:ea typeface="Calibri"/>
                <a:cs typeface="Calibri"/>
              </a:rPr>
              <a:t> für die </a:t>
            </a:r>
            <a:r>
              <a:rPr lang="en-US" sz="1400" err="1">
                <a:solidFill>
                  <a:srgbClr val="5A6A7A"/>
                </a:solidFill>
                <a:latin typeface="Calibri"/>
                <a:ea typeface="Calibri"/>
                <a:cs typeface="Calibri"/>
              </a:rPr>
              <a:t>einfache</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Handhabung</a:t>
            </a:r>
            <a:endParaRPr lang="en-US" err="1"/>
          </a:p>
        </p:txBody>
      </p:sp>
      <p:sp>
        <p:nvSpPr>
          <p:cNvPr id="9" name="Shape 7"/>
          <p:cNvSpPr/>
          <p:nvPr/>
        </p:nvSpPr>
        <p:spPr>
          <a:xfrm>
            <a:off x="548640" y="3246120"/>
            <a:ext cx="201168" cy="201168"/>
          </a:xfrm>
          <a:prstGeom prst="ellipse">
            <a:avLst/>
          </a:prstGeom>
          <a:solidFill>
            <a:srgbClr val="F0993E"/>
          </a:solidFill>
          <a:ln w="12700">
            <a:solidFill>
              <a:srgbClr val="F0993E"/>
            </a:solidFill>
            <a:prstDash val="solid"/>
          </a:ln>
        </p:spPr>
        <p:txBody>
          <a:bodyPr/>
          <a:lstStyle/>
          <a:p>
            <a:endParaRPr lang="de-DE"/>
          </a:p>
        </p:txBody>
      </p:sp>
      <p:sp>
        <p:nvSpPr>
          <p:cNvPr id="10" name="Text 8"/>
          <p:cNvSpPr/>
          <p:nvPr/>
        </p:nvSpPr>
        <p:spPr>
          <a:xfrm>
            <a:off x="868680" y="3108960"/>
            <a:ext cx="3200400" cy="457200"/>
          </a:xfrm>
          <a:prstGeom prst="rect">
            <a:avLst/>
          </a:prstGeom>
          <a:noFill/>
          <a:ln/>
        </p:spPr>
        <p:txBody>
          <a:bodyPr wrap="square" lIns="0" tIns="0" rIns="0" bIns="0" rtlCol="0" anchor="ctr"/>
          <a:lstStyle/>
          <a:p>
            <a:pPr marL="0" indent="0">
              <a:buNone/>
            </a:pPr>
            <a:r>
              <a:rPr lang="en-US" sz="1800" b="1">
                <a:solidFill>
                  <a:srgbClr val="213547"/>
                </a:solidFill>
                <a:latin typeface="Calibri" pitchFamily="34" charset="0"/>
                <a:ea typeface="Calibri" pitchFamily="34" charset="-122"/>
                <a:cs typeface="Calibri" pitchFamily="34" charset="-120"/>
              </a:rPr>
              <a:t>TypeScript</a:t>
            </a:r>
            <a:endParaRPr lang="en-US" sz="1800"/>
          </a:p>
        </p:txBody>
      </p:sp>
      <p:sp>
        <p:nvSpPr>
          <p:cNvPr id="11" name="Text 9"/>
          <p:cNvSpPr/>
          <p:nvPr/>
        </p:nvSpPr>
        <p:spPr>
          <a:xfrm>
            <a:off x="4114800" y="3108960"/>
            <a:ext cx="7589520" cy="548640"/>
          </a:xfrm>
          <a:prstGeom prst="rect">
            <a:avLst/>
          </a:prstGeom>
          <a:noFill/>
          <a:ln/>
        </p:spPr>
        <p:txBody>
          <a:bodyPr wrap="square" lIns="0" tIns="0" rIns="0" bIns="0" rtlCol="0" anchor="t"/>
          <a:lstStyle/>
          <a:p>
            <a:r>
              <a:rPr lang="en-US" sz="1400">
                <a:solidFill>
                  <a:srgbClr val="5A6A7A"/>
                </a:solidFill>
                <a:latin typeface="Calibri"/>
                <a:ea typeface="Calibri"/>
                <a:cs typeface="Calibri"/>
              </a:rPr>
              <a:t>Eine </a:t>
            </a:r>
            <a:r>
              <a:rPr lang="en-US" sz="1400" err="1">
                <a:solidFill>
                  <a:srgbClr val="5A6A7A"/>
                </a:solidFill>
                <a:latin typeface="Calibri"/>
                <a:ea typeface="Calibri"/>
                <a:cs typeface="Calibri"/>
              </a:rPr>
              <a:t>abwandlung</a:t>
            </a:r>
            <a:r>
              <a:rPr lang="en-US" sz="1400">
                <a:solidFill>
                  <a:srgbClr val="5A6A7A"/>
                </a:solidFill>
                <a:latin typeface="Calibri"/>
                <a:ea typeface="Calibri"/>
                <a:cs typeface="Calibri"/>
              </a:rPr>
              <a:t> von JavaScript die </a:t>
            </a:r>
            <a:r>
              <a:rPr lang="en-US" sz="1400" err="1">
                <a:solidFill>
                  <a:srgbClr val="5A6A7A"/>
                </a:solidFill>
                <a:latin typeface="Calibri"/>
                <a:ea typeface="Calibri"/>
                <a:cs typeface="Calibri"/>
              </a:rPr>
              <a:t>mögli</a:t>
            </a:r>
            <a:r>
              <a:rPr lang="en-US" sz="1400">
                <a:solidFill>
                  <a:srgbClr val="5A6A7A"/>
                </a:solidFill>
                <a:latin typeface="Calibri"/>
                <a:ea typeface="Calibri"/>
                <a:cs typeface="Calibri"/>
              </a:rPr>
              <a:t>​</a:t>
            </a:r>
            <a:r>
              <a:rPr lang="en-US" sz="1400" err="1">
                <a:solidFill>
                  <a:srgbClr val="5A6A7A"/>
                </a:solidFill>
                <a:latin typeface="Calibri"/>
                <a:ea typeface="Calibri"/>
                <a:cs typeface="Calibri"/>
              </a:rPr>
              <a:t>che</a:t>
            </a:r>
            <a:r>
              <a:rPr lang="en-US" sz="1400">
                <a:solidFill>
                  <a:srgbClr val="5A6A7A"/>
                </a:solidFill>
                <a:latin typeface="Calibri"/>
                <a:ea typeface="Calibri"/>
                <a:cs typeface="Calibri"/>
              </a:rPr>
              <a:t> Fehler </a:t>
            </a:r>
            <a:r>
              <a:rPr lang="en-US" sz="1400" err="1">
                <a:solidFill>
                  <a:srgbClr val="5A6A7A"/>
                </a:solidFill>
                <a:latin typeface="Calibri"/>
                <a:ea typeface="Calibri"/>
                <a:cs typeface="Calibri"/>
              </a:rPr>
              <a:t>früh</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erkennt</a:t>
            </a:r>
            <a:r>
              <a:rPr lang="en-US" sz="1400">
                <a:solidFill>
                  <a:srgbClr val="5A6A7A"/>
                </a:solidFill>
                <a:latin typeface="Calibri"/>
                <a:ea typeface="Calibri"/>
                <a:cs typeface="Calibri"/>
              </a:rPr>
              <a:t> und </a:t>
            </a:r>
            <a:r>
              <a:rPr lang="en-US" sz="1400" err="1">
                <a:solidFill>
                  <a:srgbClr val="5A6A7A"/>
                </a:solidFill>
                <a:latin typeface="Calibri"/>
                <a:ea typeface="Calibri"/>
                <a:cs typeface="Calibri"/>
              </a:rPr>
              <a:t>aufzeigt</a:t>
            </a:r>
            <a:endParaRPr lang="en-US" err="1"/>
          </a:p>
        </p:txBody>
      </p:sp>
      <p:sp>
        <p:nvSpPr>
          <p:cNvPr id="12" name="Shape 10"/>
          <p:cNvSpPr/>
          <p:nvPr/>
        </p:nvSpPr>
        <p:spPr>
          <a:xfrm>
            <a:off x="548640" y="4069080"/>
            <a:ext cx="201168" cy="201168"/>
          </a:xfrm>
          <a:prstGeom prst="ellipse">
            <a:avLst/>
          </a:prstGeom>
          <a:solidFill>
            <a:srgbClr val="F0993E"/>
          </a:solidFill>
          <a:ln w="12700">
            <a:solidFill>
              <a:srgbClr val="F0993E"/>
            </a:solidFill>
            <a:prstDash val="solid"/>
          </a:ln>
        </p:spPr>
        <p:txBody>
          <a:bodyPr/>
          <a:lstStyle/>
          <a:p>
            <a:endParaRPr lang="de-DE"/>
          </a:p>
        </p:txBody>
      </p:sp>
      <p:sp>
        <p:nvSpPr>
          <p:cNvPr id="13" name="Text 11"/>
          <p:cNvSpPr/>
          <p:nvPr/>
        </p:nvSpPr>
        <p:spPr>
          <a:xfrm>
            <a:off x="868680" y="3931920"/>
            <a:ext cx="3200400" cy="457200"/>
          </a:xfrm>
          <a:prstGeom prst="rect">
            <a:avLst/>
          </a:prstGeom>
          <a:noFill/>
          <a:ln/>
        </p:spPr>
        <p:txBody>
          <a:bodyPr wrap="square" lIns="0" tIns="0" rIns="0" bIns="0" rtlCol="0" anchor="ctr"/>
          <a:lstStyle/>
          <a:p>
            <a:pPr marL="0" indent="0">
              <a:buNone/>
            </a:pPr>
            <a:r>
              <a:rPr lang="en-US" sz="1800" b="1">
                <a:solidFill>
                  <a:srgbClr val="213547"/>
                </a:solidFill>
                <a:latin typeface="Calibri" pitchFamily="34" charset="0"/>
                <a:ea typeface="Calibri" pitchFamily="34" charset="-122"/>
                <a:cs typeface="Calibri" pitchFamily="34" charset="-120"/>
              </a:rPr>
              <a:t>Vite</a:t>
            </a:r>
            <a:endParaRPr lang="en-US" sz="1800"/>
          </a:p>
        </p:txBody>
      </p:sp>
      <p:sp>
        <p:nvSpPr>
          <p:cNvPr id="14" name="Text 12"/>
          <p:cNvSpPr/>
          <p:nvPr/>
        </p:nvSpPr>
        <p:spPr>
          <a:xfrm>
            <a:off x="4114800" y="3931920"/>
            <a:ext cx="7589520" cy="548640"/>
          </a:xfrm>
          <a:prstGeom prst="rect">
            <a:avLst/>
          </a:prstGeom>
          <a:noFill/>
          <a:ln/>
        </p:spPr>
        <p:txBody>
          <a:bodyPr wrap="square" lIns="0" tIns="0" rIns="0" bIns="0" rtlCol="0" anchor="t"/>
          <a:lstStyle/>
          <a:p>
            <a:r>
              <a:rPr lang="en-US" sz="1400" err="1">
                <a:solidFill>
                  <a:srgbClr val="5A6A7A"/>
                </a:solidFill>
                <a:ea typeface="Calibri"/>
                <a:cs typeface="Calibri"/>
              </a:rPr>
              <a:t>Schnelles</a:t>
            </a:r>
            <a:r>
              <a:rPr lang="en-US" sz="1400">
                <a:solidFill>
                  <a:srgbClr val="5A6A7A"/>
                </a:solidFill>
                <a:ea typeface="Calibri"/>
                <a:cs typeface="Calibri"/>
              </a:rPr>
              <a:t> und </a:t>
            </a:r>
            <a:r>
              <a:rPr lang="en-US" sz="1400" err="1">
                <a:solidFill>
                  <a:srgbClr val="5A6A7A"/>
                </a:solidFill>
                <a:ea typeface="Calibri"/>
                <a:cs typeface="Calibri"/>
              </a:rPr>
              <a:t>Effizientes</a:t>
            </a:r>
            <a:r>
              <a:rPr lang="en-US" sz="1400">
                <a:solidFill>
                  <a:srgbClr val="5A6A7A"/>
                </a:solidFill>
                <a:ea typeface="Calibri"/>
                <a:cs typeface="Calibri"/>
              </a:rPr>
              <a:t> </a:t>
            </a:r>
            <a:r>
              <a:rPr lang="en-US" sz="1400" err="1">
                <a:solidFill>
                  <a:srgbClr val="5A6A7A"/>
                </a:solidFill>
                <a:ea typeface="Calibri"/>
                <a:cs typeface="Calibri"/>
              </a:rPr>
              <a:t>Kompilieren</a:t>
            </a:r>
            <a:r>
              <a:rPr lang="en-US" sz="1400">
                <a:solidFill>
                  <a:srgbClr val="5A6A7A"/>
                </a:solidFill>
                <a:ea typeface="Calibri"/>
                <a:cs typeface="Calibri"/>
              </a:rPr>
              <a:t>, </a:t>
            </a:r>
            <a:r>
              <a:rPr lang="en-US" sz="1400" err="1">
                <a:solidFill>
                  <a:srgbClr val="5A6A7A"/>
                </a:solidFill>
                <a:ea typeface="Calibri"/>
                <a:cs typeface="Calibri"/>
              </a:rPr>
              <a:t>sowie</a:t>
            </a:r>
            <a:r>
              <a:rPr lang="en-US" sz="1400">
                <a:solidFill>
                  <a:srgbClr val="5A6A7A"/>
                </a:solidFill>
                <a:ea typeface="Calibri"/>
                <a:cs typeface="Calibri"/>
              </a:rPr>
              <a:t> </a:t>
            </a:r>
            <a:r>
              <a:rPr lang="en-US" sz="1400" err="1">
                <a:solidFill>
                  <a:srgbClr val="5A6A7A"/>
                </a:solidFill>
                <a:ea typeface="Calibri"/>
                <a:cs typeface="Calibri"/>
              </a:rPr>
              <a:t>ein</a:t>
            </a:r>
            <a:r>
              <a:rPr lang="en-US" sz="1400">
                <a:solidFill>
                  <a:srgbClr val="5A6A7A"/>
                </a:solidFill>
                <a:ea typeface="Calibri"/>
                <a:cs typeface="Calibri"/>
              </a:rPr>
              <a:t> </a:t>
            </a:r>
            <a:r>
              <a:rPr lang="en-US" sz="1400" err="1">
                <a:solidFill>
                  <a:srgbClr val="5A6A7A"/>
                </a:solidFill>
                <a:ea typeface="Calibri"/>
                <a:cs typeface="Calibri"/>
              </a:rPr>
              <a:t>schneller</a:t>
            </a:r>
            <a:r>
              <a:rPr lang="en-US" sz="1400">
                <a:solidFill>
                  <a:srgbClr val="5A6A7A"/>
                </a:solidFill>
                <a:ea typeface="Calibri"/>
                <a:cs typeface="Calibri"/>
              </a:rPr>
              <a:t> Development Server</a:t>
            </a:r>
          </a:p>
        </p:txBody>
      </p:sp>
      <p:sp>
        <p:nvSpPr>
          <p:cNvPr id="15" name="Shape 13"/>
          <p:cNvSpPr/>
          <p:nvPr/>
        </p:nvSpPr>
        <p:spPr>
          <a:xfrm>
            <a:off x="548640" y="4892040"/>
            <a:ext cx="201168" cy="201168"/>
          </a:xfrm>
          <a:prstGeom prst="ellipse">
            <a:avLst/>
          </a:prstGeom>
          <a:solidFill>
            <a:srgbClr val="F0993E"/>
          </a:solidFill>
          <a:ln w="12700">
            <a:solidFill>
              <a:srgbClr val="F0993E"/>
            </a:solidFill>
            <a:prstDash val="solid"/>
          </a:ln>
        </p:spPr>
        <p:txBody>
          <a:bodyPr/>
          <a:lstStyle/>
          <a:p>
            <a:endParaRPr lang="de-DE"/>
          </a:p>
        </p:txBody>
      </p:sp>
      <p:sp>
        <p:nvSpPr>
          <p:cNvPr id="16" name="Text 14"/>
          <p:cNvSpPr/>
          <p:nvPr/>
        </p:nvSpPr>
        <p:spPr>
          <a:xfrm>
            <a:off x="868680" y="4754880"/>
            <a:ext cx="3200400" cy="457200"/>
          </a:xfrm>
          <a:prstGeom prst="rect">
            <a:avLst/>
          </a:prstGeom>
          <a:noFill/>
          <a:ln/>
        </p:spPr>
        <p:txBody>
          <a:bodyPr wrap="square" lIns="0" tIns="0" rIns="0" bIns="0" rtlCol="0" anchor="ctr"/>
          <a:lstStyle/>
          <a:p>
            <a:pPr marL="0" indent="0">
              <a:buNone/>
            </a:pPr>
            <a:r>
              <a:rPr lang="en-US" sz="1800" b="1">
                <a:solidFill>
                  <a:srgbClr val="213547"/>
                </a:solidFill>
                <a:latin typeface="Calibri" pitchFamily="34" charset="0"/>
                <a:ea typeface="Calibri" pitchFamily="34" charset="-122"/>
                <a:cs typeface="Calibri" pitchFamily="34" charset="-120"/>
              </a:rPr>
              <a:t>Material UI</a:t>
            </a:r>
            <a:endParaRPr lang="en-US" sz="1800"/>
          </a:p>
        </p:txBody>
      </p:sp>
      <p:sp>
        <p:nvSpPr>
          <p:cNvPr id="17" name="Text 15"/>
          <p:cNvSpPr/>
          <p:nvPr/>
        </p:nvSpPr>
        <p:spPr>
          <a:xfrm>
            <a:off x="4114800" y="4754880"/>
            <a:ext cx="7589520" cy="548640"/>
          </a:xfrm>
          <a:prstGeom prst="rect">
            <a:avLst/>
          </a:prstGeom>
          <a:noFill/>
          <a:ln/>
        </p:spPr>
        <p:txBody>
          <a:bodyPr wrap="square" lIns="0" tIns="0" rIns="0" bIns="0" rtlCol="0" anchor="t"/>
          <a:lstStyle/>
          <a:p>
            <a:r>
              <a:rPr lang="en-US" sz="1400" err="1">
                <a:solidFill>
                  <a:srgbClr val="5A6A7A"/>
                </a:solidFill>
                <a:ea typeface="Calibri"/>
                <a:cs typeface="Calibri"/>
              </a:rPr>
              <a:t>Funktionale</a:t>
            </a:r>
            <a:r>
              <a:rPr lang="en-US" sz="1400">
                <a:solidFill>
                  <a:srgbClr val="5A6A7A"/>
                </a:solidFill>
                <a:ea typeface="Calibri"/>
                <a:cs typeface="Calibri"/>
              </a:rPr>
              <a:t> und </a:t>
            </a:r>
            <a:r>
              <a:rPr lang="en-US" sz="1400" err="1">
                <a:solidFill>
                  <a:srgbClr val="5A6A7A"/>
                </a:solidFill>
                <a:ea typeface="Calibri"/>
                <a:cs typeface="Calibri"/>
              </a:rPr>
              <a:t>Vorgefertigte</a:t>
            </a:r>
            <a:r>
              <a:rPr lang="en-US" sz="1400">
                <a:solidFill>
                  <a:srgbClr val="5A6A7A"/>
                </a:solidFill>
                <a:ea typeface="Calibri"/>
                <a:cs typeface="Calibri"/>
              </a:rPr>
              <a:t> UI-</a:t>
            </a:r>
            <a:r>
              <a:rPr lang="en-US" sz="1400" err="1">
                <a:solidFill>
                  <a:srgbClr val="5A6A7A"/>
                </a:solidFill>
                <a:ea typeface="Calibri"/>
                <a:cs typeface="Calibri"/>
              </a:rPr>
              <a:t>Elemente</a:t>
            </a:r>
            <a:r>
              <a:rPr lang="en-US" sz="1400">
                <a:solidFill>
                  <a:srgbClr val="5A6A7A"/>
                </a:solidFill>
                <a:ea typeface="Calibri"/>
                <a:cs typeface="Calibri"/>
              </a:rPr>
              <a:t> um </a:t>
            </a:r>
            <a:r>
              <a:rPr lang="en-US" sz="1400" err="1">
                <a:solidFill>
                  <a:srgbClr val="5A6A7A"/>
                </a:solidFill>
                <a:ea typeface="Calibri"/>
                <a:cs typeface="Calibri"/>
              </a:rPr>
              <a:t>Entwicklung</a:t>
            </a:r>
            <a:r>
              <a:rPr lang="en-US" sz="1400">
                <a:solidFill>
                  <a:srgbClr val="5A6A7A"/>
                </a:solidFill>
                <a:ea typeface="Calibri"/>
                <a:cs typeface="Calibri"/>
              </a:rPr>
              <a:t> </a:t>
            </a:r>
            <a:r>
              <a:rPr lang="en-US" sz="1400" err="1">
                <a:solidFill>
                  <a:srgbClr val="5A6A7A"/>
                </a:solidFill>
                <a:ea typeface="Calibri"/>
                <a:cs typeface="Calibri"/>
              </a:rPr>
              <a:t>zu</a:t>
            </a:r>
            <a:r>
              <a:rPr lang="en-US" sz="1400">
                <a:solidFill>
                  <a:srgbClr val="5A6A7A"/>
                </a:solidFill>
                <a:ea typeface="Calibri"/>
                <a:cs typeface="Calibri"/>
              </a:rPr>
              <a:t> </a:t>
            </a:r>
            <a:r>
              <a:rPr lang="en-US" sz="1400" err="1">
                <a:solidFill>
                  <a:srgbClr val="5A6A7A"/>
                </a:solidFill>
                <a:ea typeface="Calibri"/>
                <a:cs typeface="Calibri"/>
              </a:rPr>
              <a:t>verschnellern</a:t>
            </a:r>
            <a:r>
              <a:rPr lang="en-US" sz="1400">
                <a:solidFill>
                  <a:srgbClr val="5A6A7A"/>
                </a:solidFill>
                <a:ea typeface="Calibri"/>
                <a:cs typeface="Calibri"/>
              </a:rPr>
              <a:t>.</a:t>
            </a:r>
          </a:p>
        </p:txBody>
      </p:sp>
      <p:sp>
        <p:nvSpPr>
          <p:cNvPr id="18" name="Shape 16"/>
          <p:cNvSpPr/>
          <p:nvPr/>
        </p:nvSpPr>
        <p:spPr>
          <a:xfrm>
            <a:off x="548640" y="5715000"/>
            <a:ext cx="201168" cy="201168"/>
          </a:xfrm>
          <a:prstGeom prst="ellipse">
            <a:avLst/>
          </a:prstGeom>
          <a:solidFill>
            <a:srgbClr val="F0993E"/>
          </a:solidFill>
          <a:ln w="12700">
            <a:solidFill>
              <a:srgbClr val="F0993E"/>
            </a:solidFill>
            <a:prstDash val="solid"/>
          </a:ln>
        </p:spPr>
        <p:txBody>
          <a:bodyPr/>
          <a:lstStyle/>
          <a:p>
            <a:endParaRPr lang="de-DE"/>
          </a:p>
        </p:txBody>
      </p:sp>
      <p:sp>
        <p:nvSpPr>
          <p:cNvPr id="19" name="Text 17"/>
          <p:cNvSpPr/>
          <p:nvPr/>
        </p:nvSpPr>
        <p:spPr>
          <a:xfrm>
            <a:off x="868680" y="5577840"/>
            <a:ext cx="3200400" cy="457200"/>
          </a:xfrm>
          <a:prstGeom prst="rect">
            <a:avLst/>
          </a:prstGeom>
          <a:noFill/>
          <a:ln/>
        </p:spPr>
        <p:txBody>
          <a:bodyPr wrap="square" lIns="0" tIns="0" rIns="0" bIns="0" rtlCol="0" anchor="ctr"/>
          <a:lstStyle/>
          <a:p>
            <a:pPr marL="0" indent="0">
              <a:buNone/>
            </a:pPr>
            <a:r>
              <a:rPr lang="en-US" b="1" err="1">
                <a:solidFill>
                  <a:srgbClr val="213547"/>
                </a:solidFill>
                <a:latin typeface="Calibri"/>
                <a:ea typeface="Calibri"/>
                <a:cs typeface="Calibri"/>
              </a:rPr>
              <a:t>TailwindCSS</a:t>
            </a:r>
            <a:endParaRPr lang="en-US" sz="1800" err="1"/>
          </a:p>
        </p:txBody>
      </p:sp>
      <p:sp>
        <p:nvSpPr>
          <p:cNvPr id="20" name="Text 18"/>
          <p:cNvSpPr/>
          <p:nvPr/>
        </p:nvSpPr>
        <p:spPr>
          <a:xfrm>
            <a:off x="4114800" y="5577840"/>
            <a:ext cx="7589520" cy="548640"/>
          </a:xfrm>
          <a:prstGeom prst="rect">
            <a:avLst/>
          </a:prstGeom>
          <a:noFill/>
          <a:ln/>
        </p:spPr>
        <p:txBody>
          <a:bodyPr wrap="square" lIns="0" tIns="0" rIns="0" bIns="0" rtlCol="0" anchor="t"/>
          <a:lstStyle/>
          <a:p>
            <a:r>
              <a:rPr lang="en-US" sz="1400">
                <a:solidFill>
                  <a:srgbClr val="5A6A7A"/>
                </a:solidFill>
                <a:latin typeface="Calibri"/>
                <a:ea typeface="Calibri"/>
                <a:cs typeface="Calibri"/>
              </a:rPr>
              <a:t>UI-Library um das </a:t>
            </a:r>
            <a:r>
              <a:rPr lang="en-US" sz="1400" err="1">
                <a:solidFill>
                  <a:srgbClr val="5A6A7A"/>
                </a:solidFill>
                <a:latin typeface="Calibri"/>
                <a:ea typeface="Calibri"/>
                <a:cs typeface="Calibri"/>
              </a:rPr>
              <a:t>Anfertigen</a:t>
            </a:r>
            <a:r>
              <a:rPr lang="en-US" sz="1400">
                <a:solidFill>
                  <a:srgbClr val="5A6A7A"/>
                </a:solidFill>
                <a:latin typeface="Calibri"/>
                <a:ea typeface="Calibri"/>
                <a:cs typeface="Calibri"/>
              </a:rPr>
              <a:t> von Styles </a:t>
            </a:r>
            <a:r>
              <a:rPr lang="en-US" sz="1400" err="1">
                <a:solidFill>
                  <a:srgbClr val="5A6A7A"/>
                </a:solidFill>
                <a:latin typeface="Calibri"/>
                <a:ea typeface="Calibri"/>
                <a:cs typeface="Calibri"/>
              </a:rPr>
              <a:t>schneller</a:t>
            </a:r>
            <a:r>
              <a:rPr lang="en-US" sz="1400">
                <a:solidFill>
                  <a:srgbClr val="5A6A7A"/>
                </a:solidFill>
                <a:latin typeface="Calibri"/>
                <a:ea typeface="Calibri"/>
                <a:cs typeface="Calibri"/>
              </a:rPr>
              <a:t> </a:t>
            </a:r>
            <a:r>
              <a:rPr lang="en-US" sz="1400" err="1">
                <a:solidFill>
                  <a:srgbClr val="5A6A7A"/>
                </a:solidFill>
                <a:latin typeface="Calibri"/>
                <a:ea typeface="Calibri"/>
                <a:cs typeface="Calibri"/>
              </a:rPr>
              <a:t>zu</a:t>
            </a:r>
            <a:r>
              <a:rPr lang="en-US" sz="1400">
                <a:solidFill>
                  <a:srgbClr val="5A6A7A"/>
                </a:solidFill>
                <a:latin typeface="Calibri"/>
                <a:ea typeface="Calibri"/>
                <a:cs typeface="Calibri"/>
              </a:rPr>
              <a:t> gestalten</a:t>
            </a:r>
            <a:endParaRPr lang="en-US" sz="1400">
              <a:solidFill>
                <a:srgbClr val="5A6A7A"/>
              </a:solidFill>
              <a:ea typeface="Calibri"/>
              <a:cs typeface="Calibri"/>
            </a:endParaRPr>
          </a:p>
        </p:txBody>
      </p:sp>
      <p:sp>
        <p:nvSpPr>
          <p:cNvPr id="21" name="Shape 19"/>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22" name="Text 20"/>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3" name="Text 21"/>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6 / 16</a:t>
            </a:r>
            <a:endParaRPr lang="en-US" sz="100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ellipse">
            <a:avLst/>
          </a:prstGeom>
          <a:solidFill>
            <a:srgbClr val="F0993E"/>
          </a:solidFill>
          <a:ln w="12700">
            <a:solidFill>
              <a:srgbClr val="F0993E"/>
            </a:solidFill>
            <a:prstDash val="solid"/>
          </a:ln>
        </p:spPr>
        <p:txBody>
          <a:bodyPr/>
          <a:lstStyle/>
          <a:p>
            <a:endParaRPr lang="de-DE"/>
          </a:p>
        </p:txBody>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F0993E"/>
                </a:solidFill>
                <a:latin typeface="Calibri" pitchFamily="34" charset="0"/>
                <a:ea typeface="Calibri" pitchFamily="34" charset="-122"/>
                <a:cs typeface="Calibri" pitchFamily="34" charset="-120"/>
              </a:rPr>
              <a:t>FRONTEND</a:t>
            </a:r>
            <a:endParaRPr lang="en-US" sz="1100"/>
          </a:p>
        </p:txBody>
      </p:sp>
      <p:sp>
        <p:nvSpPr>
          <p:cNvPr id="4" name="Text 2"/>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a:ea typeface="Calibri"/>
                <a:cs typeface="Calibri"/>
              </a:rPr>
              <a:t>Sammy</a:t>
            </a:r>
            <a:endParaRPr lang="en-US" sz="1100"/>
          </a:p>
        </p:txBody>
      </p:sp>
      <p:sp>
        <p:nvSpPr>
          <p:cNvPr id="5" name="Text 3"/>
          <p:cNvSpPr/>
          <p:nvPr/>
        </p:nvSpPr>
        <p:spPr>
          <a:xfrm>
            <a:off x="548640" y="868680"/>
            <a:ext cx="11155680" cy="1097280"/>
          </a:xfrm>
          <a:prstGeom prst="rect">
            <a:avLst/>
          </a:prstGeom>
          <a:noFill/>
          <a:ln/>
        </p:spPr>
        <p:txBody>
          <a:bodyPr wrap="square" lIns="0" tIns="0" rIns="0" bIns="0" rtlCol="0" anchor="t"/>
          <a:lstStyle/>
          <a:p>
            <a:r>
              <a:rPr lang="en-US" sz="4000" b="1">
                <a:solidFill>
                  <a:srgbClr val="213547"/>
                </a:solidFill>
                <a:ea typeface="Calibri"/>
                <a:cs typeface="Calibri"/>
              </a:rPr>
              <a:t>Do's und Dones</a:t>
            </a:r>
          </a:p>
        </p:txBody>
      </p:sp>
      <p:sp>
        <p:nvSpPr>
          <p:cNvPr id="6" name="Text 4"/>
          <p:cNvSpPr/>
          <p:nvPr/>
        </p:nvSpPr>
        <p:spPr>
          <a:xfrm>
            <a:off x="548640" y="2103120"/>
            <a:ext cx="5486400" cy="457200"/>
          </a:xfrm>
          <a:prstGeom prst="rect">
            <a:avLst/>
          </a:prstGeom>
          <a:noFill/>
          <a:ln/>
        </p:spPr>
        <p:txBody>
          <a:bodyPr wrap="square" lIns="0" tIns="0" rIns="0" bIns="0" rtlCol="0" anchor="ctr"/>
          <a:lstStyle/>
          <a:p>
            <a:pPr marL="0" indent="0">
              <a:buNone/>
            </a:pPr>
            <a:r>
              <a:rPr lang="en-US" sz="2000" b="1">
                <a:solidFill>
                  <a:srgbClr val="213547"/>
                </a:solidFill>
                <a:latin typeface="Calibri" pitchFamily="34" charset="0"/>
                <a:ea typeface="Calibri" pitchFamily="34" charset="-122"/>
                <a:cs typeface="Calibri" pitchFamily="34" charset="-120"/>
              </a:rPr>
              <a:t>Schon fertig</a:t>
            </a:r>
            <a:endParaRPr lang="en-US" sz="2000"/>
          </a:p>
        </p:txBody>
      </p:sp>
      <p:sp>
        <p:nvSpPr>
          <p:cNvPr id="7" name="Text 5"/>
          <p:cNvSpPr/>
          <p:nvPr/>
        </p:nvSpPr>
        <p:spPr>
          <a:xfrm>
            <a:off x="548640" y="2606040"/>
            <a:ext cx="5029200" cy="3291840"/>
          </a:xfrm>
          <a:prstGeom prst="rect">
            <a:avLst/>
          </a:prstGeom>
          <a:noFill/>
          <a:ln/>
        </p:spPr>
        <p:txBody>
          <a:bodyPr wrap="square" lIns="0" tIns="0" rIns="0" bIns="0" rtlCol="0" anchor="t"/>
          <a:lstStyle/>
          <a:p>
            <a:pPr marL="342900" indent="-342900">
              <a:spcAft>
                <a:spcPts val="800"/>
              </a:spcAft>
              <a:buSzPct val="100000"/>
              <a:buChar char="✓"/>
            </a:pPr>
            <a:r>
              <a:rPr lang="en-US" sz="1600" err="1">
                <a:solidFill>
                  <a:srgbClr val="5A6A7A"/>
                </a:solidFill>
                <a:latin typeface="Calibri"/>
                <a:ea typeface="Calibri"/>
                <a:cs typeface="Calibri"/>
              </a:rPr>
              <a:t>Startseite</a:t>
            </a:r>
            <a:r>
              <a:rPr lang="en-US" sz="1600">
                <a:solidFill>
                  <a:srgbClr val="5A6A7A"/>
                </a:solidFill>
                <a:latin typeface="Calibri"/>
                <a:ea typeface="Calibri"/>
                <a:cs typeface="Calibri"/>
              </a:rPr>
              <a:t> </a:t>
            </a:r>
            <a:r>
              <a:rPr lang="en-US" sz="1600" err="1">
                <a:solidFill>
                  <a:srgbClr val="5A6A7A"/>
                </a:solidFill>
                <a:latin typeface="Calibri"/>
                <a:ea typeface="Calibri"/>
                <a:cs typeface="Calibri"/>
              </a:rPr>
              <a:t>mit</a:t>
            </a:r>
            <a:r>
              <a:rPr lang="en-US" sz="1600">
                <a:solidFill>
                  <a:srgbClr val="5A6A7A"/>
                </a:solidFill>
                <a:latin typeface="Calibri"/>
                <a:ea typeface="Calibri"/>
                <a:cs typeface="Calibri"/>
              </a:rPr>
              <a:t> </a:t>
            </a:r>
            <a:r>
              <a:rPr lang="en-US" sz="1600" err="1">
                <a:solidFill>
                  <a:srgbClr val="5A6A7A"/>
                </a:solidFill>
                <a:latin typeface="Calibri"/>
                <a:ea typeface="Calibri"/>
                <a:cs typeface="Calibri"/>
              </a:rPr>
              <a:t>Kursen</a:t>
            </a:r>
            <a:r>
              <a:rPr lang="en-US" sz="1600">
                <a:solidFill>
                  <a:srgbClr val="5A6A7A"/>
                </a:solidFill>
                <a:latin typeface="Calibri"/>
                <a:ea typeface="Calibri"/>
                <a:cs typeface="Calibri"/>
              </a:rPr>
              <a:t> </a:t>
            </a:r>
            <a:r>
              <a:rPr lang="en-US" sz="1600" err="1">
                <a:solidFill>
                  <a:srgbClr val="5A6A7A"/>
                </a:solidFill>
                <a:latin typeface="Calibri"/>
                <a:ea typeface="Calibri"/>
                <a:cs typeface="Calibri"/>
              </a:rPr>
              <a:t>aus</a:t>
            </a:r>
            <a:r>
              <a:rPr lang="en-US" sz="1600">
                <a:solidFill>
                  <a:srgbClr val="5A6A7A"/>
                </a:solidFill>
                <a:latin typeface="Calibri"/>
                <a:ea typeface="Calibri"/>
                <a:cs typeface="Calibri"/>
              </a:rPr>
              <a:t> dem Backend</a:t>
            </a:r>
            <a:endParaRPr lang="en-US" sz="1600"/>
          </a:p>
          <a:p>
            <a:pPr marL="342900" indent="-342900">
              <a:spcAft>
                <a:spcPts val="800"/>
              </a:spcAft>
              <a:buSzPct val="100000"/>
              <a:buChar char="✓"/>
            </a:pPr>
            <a:r>
              <a:rPr lang="en-US" sz="1600">
                <a:solidFill>
                  <a:srgbClr val="5A6A7A"/>
                </a:solidFill>
                <a:latin typeface="Calibri"/>
                <a:ea typeface="Calibri"/>
                <a:cs typeface="Calibri"/>
              </a:rPr>
              <a:t>Top </a:t>
            </a:r>
            <a:r>
              <a:rPr lang="en-US" sz="1600" err="1">
                <a:solidFill>
                  <a:srgbClr val="5A6A7A"/>
                </a:solidFill>
                <a:latin typeface="Calibri"/>
                <a:ea typeface="Calibri"/>
                <a:cs typeface="Calibri"/>
              </a:rPr>
              <a:t>Leiste</a:t>
            </a:r>
            <a:r>
              <a:rPr lang="en-US" sz="1600">
                <a:solidFill>
                  <a:srgbClr val="5A6A7A"/>
                </a:solidFill>
                <a:latin typeface="Calibri"/>
                <a:ea typeface="Calibri"/>
                <a:cs typeface="Calibri"/>
              </a:rPr>
              <a:t> </a:t>
            </a:r>
            <a:r>
              <a:rPr lang="en-US" sz="1600" err="1">
                <a:solidFill>
                  <a:srgbClr val="5A6A7A"/>
                </a:solidFill>
                <a:latin typeface="Calibri"/>
                <a:ea typeface="Calibri"/>
                <a:cs typeface="Calibri"/>
              </a:rPr>
              <a:t>mit</a:t>
            </a:r>
            <a:r>
              <a:rPr lang="en-US" sz="1600">
                <a:solidFill>
                  <a:srgbClr val="5A6A7A"/>
                </a:solidFill>
                <a:latin typeface="Calibri"/>
                <a:ea typeface="Calibri"/>
                <a:cs typeface="Calibri"/>
              </a:rPr>
              <a:t> </a:t>
            </a:r>
            <a:r>
              <a:rPr lang="en-US" sz="1600" err="1">
                <a:solidFill>
                  <a:srgbClr val="5A6A7A"/>
                </a:solidFill>
                <a:latin typeface="Calibri"/>
                <a:ea typeface="Calibri"/>
                <a:cs typeface="Calibri"/>
              </a:rPr>
              <a:t>Suche</a:t>
            </a:r>
            <a:endParaRPr lang="en-US" sz="1600" err="1">
              <a:latin typeface="Calibri"/>
              <a:ea typeface="Calibri"/>
              <a:cs typeface="Calibri"/>
            </a:endParaRPr>
          </a:p>
          <a:p>
            <a:pPr marL="342900" indent="-342900">
              <a:spcAft>
                <a:spcPts val="800"/>
              </a:spcAft>
              <a:buSzPct val="100000"/>
              <a:buChar char="✓"/>
            </a:pPr>
            <a:r>
              <a:rPr lang="en-US" sz="1600">
                <a:solidFill>
                  <a:srgbClr val="5A6A7A"/>
                </a:solidFill>
                <a:latin typeface="Calibri"/>
                <a:ea typeface="Calibri"/>
                <a:cs typeface="Calibri"/>
              </a:rPr>
              <a:t>Theming: hell und </a:t>
            </a:r>
            <a:r>
              <a:rPr lang="en-US" sz="1600" err="1">
                <a:solidFill>
                  <a:srgbClr val="5A6A7A"/>
                </a:solidFill>
                <a:latin typeface="Calibri"/>
                <a:ea typeface="Calibri"/>
                <a:cs typeface="Calibri"/>
              </a:rPr>
              <a:t>dunkel</a:t>
            </a:r>
            <a:endParaRPr lang="en-US" sz="1600" err="1">
              <a:latin typeface="Calibri"/>
              <a:ea typeface="Calibri"/>
              <a:cs typeface="Calibri"/>
            </a:endParaRPr>
          </a:p>
          <a:p>
            <a:pPr marL="342900" indent="-342900">
              <a:spcAft>
                <a:spcPts val="800"/>
              </a:spcAft>
              <a:buSzPct val="100000"/>
              <a:buChar char="✓"/>
            </a:pPr>
            <a:r>
              <a:rPr lang="en-US" sz="1600" err="1">
                <a:solidFill>
                  <a:srgbClr val="5A6A7A"/>
                </a:solidFill>
                <a:latin typeface="Calibri"/>
                <a:ea typeface="Calibri"/>
                <a:cs typeface="Calibri"/>
              </a:rPr>
              <a:t>Verbindung</a:t>
            </a:r>
            <a:r>
              <a:rPr lang="en-US" sz="1600">
                <a:solidFill>
                  <a:srgbClr val="5A6A7A"/>
                </a:solidFill>
                <a:latin typeface="Calibri"/>
                <a:ea typeface="Calibri"/>
                <a:cs typeface="Calibri"/>
              </a:rPr>
              <a:t> </a:t>
            </a:r>
            <a:r>
              <a:rPr lang="en-US" sz="1600" err="1">
                <a:solidFill>
                  <a:srgbClr val="5A6A7A"/>
                </a:solidFill>
                <a:latin typeface="Calibri"/>
                <a:ea typeface="Calibri"/>
                <a:cs typeface="Calibri"/>
              </a:rPr>
              <a:t>zum</a:t>
            </a:r>
            <a:r>
              <a:rPr lang="en-US" sz="1600">
                <a:solidFill>
                  <a:srgbClr val="5A6A7A"/>
                </a:solidFill>
                <a:latin typeface="Calibri"/>
                <a:ea typeface="Calibri"/>
                <a:cs typeface="Calibri"/>
              </a:rPr>
              <a:t> Backend</a:t>
            </a:r>
          </a:p>
          <a:p>
            <a:pPr marL="342900" indent="-342900">
              <a:spcAft>
                <a:spcPts val="800"/>
              </a:spcAft>
              <a:buSzPct val="100000"/>
              <a:buChar char="✓"/>
            </a:pPr>
            <a:r>
              <a:rPr lang="en-US" sz="1600">
                <a:solidFill>
                  <a:srgbClr val="5A6A7A"/>
                </a:solidFill>
                <a:ea typeface="Calibri"/>
                <a:cs typeface="Calibri"/>
              </a:rPr>
              <a:t>Responsive Design</a:t>
            </a:r>
          </a:p>
        </p:txBody>
      </p:sp>
      <p:sp>
        <p:nvSpPr>
          <p:cNvPr id="8" name="Shape 6"/>
          <p:cNvSpPr/>
          <p:nvPr/>
        </p:nvSpPr>
        <p:spPr>
          <a:xfrm>
            <a:off x="6035040" y="2103120"/>
            <a:ext cx="5852160" cy="4023360"/>
          </a:xfrm>
          <a:prstGeom prst="rect">
            <a:avLst/>
          </a:prstGeom>
          <a:solidFill>
            <a:srgbClr val="FCEDDB"/>
          </a:solidFill>
          <a:ln w="12700">
            <a:solidFill>
              <a:srgbClr val="FCEDDB"/>
            </a:solidFill>
            <a:prstDash val="solid"/>
          </a:ln>
        </p:spPr>
        <p:txBody>
          <a:bodyPr/>
          <a:lstStyle/>
          <a:p>
            <a:endParaRPr lang="de-DE"/>
          </a:p>
        </p:txBody>
      </p:sp>
      <p:sp>
        <p:nvSpPr>
          <p:cNvPr id="9" name="Text 7"/>
          <p:cNvSpPr/>
          <p:nvPr/>
        </p:nvSpPr>
        <p:spPr>
          <a:xfrm>
            <a:off x="6355080" y="2286000"/>
            <a:ext cx="5486400" cy="548640"/>
          </a:xfrm>
          <a:prstGeom prst="rect">
            <a:avLst/>
          </a:prstGeom>
          <a:noFill/>
          <a:ln/>
        </p:spPr>
        <p:txBody>
          <a:bodyPr wrap="square" lIns="0" tIns="0" rIns="0" bIns="0" rtlCol="0" anchor="ctr"/>
          <a:lstStyle/>
          <a:p>
            <a:pPr marL="0" indent="0">
              <a:buNone/>
            </a:pPr>
            <a:r>
              <a:rPr lang="en-US" sz="2000" b="1">
                <a:solidFill>
                  <a:srgbClr val="F0993E"/>
                </a:solidFill>
                <a:latin typeface="Calibri" pitchFamily="34" charset="0"/>
                <a:ea typeface="Calibri" pitchFamily="34" charset="-122"/>
                <a:cs typeface="Calibri" pitchFamily="34" charset="-120"/>
              </a:rPr>
              <a:t>Kommt noch</a:t>
            </a:r>
            <a:endParaRPr lang="en-US" sz="2000"/>
          </a:p>
        </p:txBody>
      </p:sp>
      <p:sp>
        <p:nvSpPr>
          <p:cNvPr id="10" name="Text 8"/>
          <p:cNvSpPr/>
          <p:nvPr/>
        </p:nvSpPr>
        <p:spPr>
          <a:xfrm>
            <a:off x="6355080" y="288036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600">
                <a:solidFill>
                  <a:srgbClr val="213547"/>
                </a:solidFill>
                <a:latin typeface="Calibri"/>
                <a:ea typeface="Calibri"/>
                <a:cs typeface="Calibri"/>
              </a:rPr>
              <a:t>Login und </a:t>
            </a:r>
            <a:r>
              <a:rPr lang="en-US" sz="1600" err="1">
                <a:solidFill>
                  <a:srgbClr val="213547"/>
                </a:solidFill>
                <a:latin typeface="Calibri"/>
                <a:ea typeface="Calibri"/>
                <a:cs typeface="Calibri"/>
              </a:rPr>
              <a:t>Registrierung</a:t>
            </a:r>
            <a:endParaRPr lang="en-US" sz="1600" err="1">
              <a:latin typeface="Calibri"/>
              <a:ea typeface="Calibri"/>
              <a:cs typeface="Calibri"/>
            </a:endParaRPr>
          </a:p>
          <a:p>
            <a:pPr marL="342900" indent="-342900">
              <a:spcAft>
                <a:spcPts val="800"/>
              </a:spcAft>
              <a:buSzPct val="100000"/>
              <a:buChar char="●"/>
            </a:pPr>
            <a:r>
              <a:rPr lang="en-US" sz="1600">
                <a:solidFill>
                  <a:srgbClr val="213547"/>
                </a:solidFill>
                <a:latin typeface="Calibri"/>
                <a:ea typeface="Calibri"/>
                <a:cs typeface="Calibri"/>
              </a:rPr>
              <a:t>Kurs </a:t>
            </a:r>
            <a:r>
              <a:rPr lang="en-US" sz="1600" err="1">
                <a:solidFill>
                  <a:srgbClr val="213547"/>
                </a:solidFill>
                <a:latin typeface="Calibri"/>
                <a:ea typeface="Calibri"/>
                <a:cs typeface="Calibri"/>
              </a:rPr>
              <a:t>buchen</a:t>
            </a:r>
            <a:r>
              <a:rPr lang="en-US" sz="1600">
                <a:solidFill>
                  <a:srgbClr val="213547"/>
                </a:solidFill>
                <a:latin typeface="Calibri"/>
                <a:ea typeface="Calibri"/>
                <a:cs typeface="Calibri"/>
              </a:rPr>
              <a:t> </a:t>
            </a:r>
            <a:r>
              <a:rPr lang="en-US" sz="1600" err="1">
                <a:solidFill>
                  <a:srgbClr val="213547"/>
                </a:solidFill>
                <a:latin typeface="Calibri"/>
                <a:ea typeface="Calibri"/>
                <a:cs typeface="Calibri"/>
              </a:rPr>
              <a:t>mit</a:t>
            </a:r>
            <a:r>
              <a:rPr lang="en-US" sz="1600">
                <a:solidFill>
                  <a:srgbClr val="213547"/>
                </a:solidFill>
                <a:latin typeface="Calibri"/>
                <a:ea typeface="Calibri"/>
                <a:cs typeface="Calibri"/>
              </a:rPr>
              <a:t> </a:t>
            </a:r>
            <a:r>
              <a:rPr lang="en-US" sz="1600" err="1">
                <a:solidFill>
                  <a:srgbClr val="213547"/>
                </a:solidFill>
                <a:latin typeface="Calibri"/>
                <a:ea typeface="Calibri"/>
                <a:cs typeface="Calibri"/>
              </a:rPr>
              <a:t>Warenkorb</a:t>
            </a:r>
            <a:endParaRPr lang="en-US" sz="1600" err="1">
              <a:latin typeface="Calibri"/>
              <a:ea typeface="Calibri"/>
              <a:cs typeface="Calibri"/>
            </a:endParaRPr>
          </a:p>
          <a:p>
            <a:pPr marL="342900" indent="-342900">
              <a:spcAft>
                <a:spcPts val="800"/>
              </a:spcAft>
              <a:buSzPct val="100000"/>
              <a:buChar char="●"/>
            </a:pPr>
            <a:r>
              <a:rPr lang="en-US" sz="1600" err="1">
                <a:solidFill>
                  <a:srgbClr val="213547"/>
                </a:solidFill>
                <a:latin typeface="Calibri"/>
                <a:ea typeface="Calibri"/>
                <a:cs typeface="Calibri"/>
              </a:rPr>
              <a:t>Eigene</a:t>
            </a:r>
            <a:r>
              <a:rPr lang="en-US" sz="1600">
                <a:solidFill>
                  <a:srgbClr val="213547"/>
                </a:solidFill>
                <a:latin typeface="Calibri"/>
                <a:ea typeface="Calibri"/>
                <a:cs typeface="Calibri"/>
              </a:rPr>
              <a:t> </a:t>
            </a:r>
            <a:r>
              <a:rPr lang="en-US" sz="1600" err="1">
                <a:solidFill>
                  <a:srgbClr val="213547"/>
                </a:solidFill>
                <a:latin typeface="Calibri"/>
                <a:ea typeface="Calibri"/>
                <a:cs typeface="Calibri"/>
              </a:rPr>
              <a:t>Buchungen</a:t>
            </a:r>
            <a:r>
              <a:rPr lang="en-US" sz="1600">
                <a:solidFill>
                  <a:srgbClr val="213547"/>
                </a:solidFill>
                <a:latin typeface="Calibri"/>
                <a:ea typeface="Calibri"/>
                <a:cs typeface="Calibri"/>
              </a:rPr>
              <a:t> und </a:t>
            </a:r>
            <a:r>
              <a:rPr lang="en-US" sz="1600" err="1">
                <a:solidFill>
                  <a:srgbClr val="213547"/>
                </a:solidFill>
                <a:latin typeface="Calibri"/>
                <a:ea typeface="Calibri"/>
                <a:cs typeface="Calibri"/>
              </a:rPr>
              <a:t>Zertifikate</a:t>
            </a:r>
            <a:endParaRPr lang="en-US" sz="1600" err="1">
              <a:latin typeface="Calibri"/>
              <a:ea typeface="Calibri"/>
              <a:cs typeface="Calibri"/>
            </a:endParaRPr>
          </a:p>
          <a:p>
            <a:pPr marL="342900" indent="-342900">
              <a:spcAft>
                <a:spcPts val="800"/>
              </a:spcAft>
              <a:buSzPct val="100000"/>
              <a:buChar char="●"/>
            </a:pPr>
            <a:r>
              <a:rPr lang="en-US" sz="1600" err="1">
                <a:solidFill>
                  <a:srgbClr val="213547"/>
                </a:solidFill>
                <a:latin typeface="Calibri"/>
                <a:ea typeface="Calibri"/>
                <a:cs typeface="Calibri"/>
              </a:rPr>
              <a:t>Adminbereich</a:t>
            </a:r>
            <a:r>
              <a:rPr lang="en-US" sz="1600">
                <a:solidFill>
                  <a:srgbClr val="213547"/>
                </a:solidFill>
                <a:latin typeface="Calibri"/>
                <a:ea typeface="Calibri"/>
                <a:cs typeface="Calibri"/>
              </a:rPr>
              <a:t> für die Verwaltung</a:t>
            </a:r>
          </a:p>
          <a:p>
            <a:pPr marL="342900" indent="-342900">
              <a:spcAft>
                <a:spcPts val="800"/>
              </a:spcAft>
              <a:buSzPct val="100000"/>
              <a:buChar char="●"/>
            </a:pPr>
            <a:r>
              <a:rPr lang="en-US" sz="1600" err="1">
                <a:solidFill>
                  <a:srgbClr val="213547"/>
                </a:solidFill>
                <a:ea typeface="Calibri"/>
                <a:cs typeface="Calibri"/>
              </a:rPr>
              <a:t>Kursteilnahme</a:t>
            </a:r>
          </a:p>
        </p:txBody>
      </p:sp>
      <p:sp>
        <p:nvSpPr>
          <p:cNvPr id="11" name="Shape 9"/>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12" name="Text 10"/>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13" name="Text 11"/>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7 / 16</a:t>
            </a:r>
            <a:endParaRPr lang="en-US" sz="100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0" cy="6858000"/>
          </a:xfrm>
          <a:prstGeom prst="rect">
            <a:avLst/>
          </a:prstGeom>
          <a:solidFill>
            <a:srgbClr val="2ABB9B"/>
          </a:solidFill>
          <a:ln w="12700">
            <a:solidFill>
              <a:srgbClr val="2ABB9B"/>
            </a:solidFill>
            <a:prstDash val="solid"/>
          </a:ln>
        </p:spPr>
        <p:txBody>
          <a:bodyPr/>
          <a:lstStyle/>
          <a:p>
            <a:endParaRPr lang="de-DE"/>
          </a:p>
        </p:txBody>
      </p:sp>
      <p:sp>
        <p:nvSpPr>
          <p:cNvPr id="3" name="Text 1"/>
          <p:cNvSpPr/>
          <p:nvPr/>
        </p:nvSpPr>
        <p:spPr>
          <a:xfrm>
            <a:off x="1463040" y="2560320"/>
            <a:ext cx="7315200" cy="365760"/>
          </a:xfrm>
          <a:prstGeom prst="rect">
            <a:avLst/>
          </a:prstGeom>
          <a:noFill/>
          <a:ln/>
        </p:spPr>
        <p:txBody>
          <a:bodyPr wrap="square" lIns="0" tIns="0" rIns="0" bIns="0" rtlCol="0" anchor="ctr"/>
          <a:lstStyle/>
          <a:p>
            <a:pPr marL="0" indent="0">
              <a:buNone/>
            </a:pPr>
            <a:r>
              <a:rPr lang="en-US" sz="1400" b="1" kern="0" spc="600">
                <a:solidFill>
                  <a:srgbClr val="2ABB9B"/>
                </a:solidFill>
                <a:latin typeface="Calibri" pitchFamily="34" charset="0"/>
                <a:ea typeface="Calibri" pitchFamily="34" charset="-122"/>
                <a:cs typeface="Calibri" pitchFamily="34" charset="-120"/>
              </a:rPr>
              <a:t>TEIL 2  .  MARCO</a:t>
            </a:r>
            <a:endParaRPr lang="en-US" sz="1400"/>
          </a:p>
        </p:txBody>
      </p:sp>
      <p:sp>
        <p:nvSpPr>
          <p:cNvPr id="4" name="Text 2"/>
          <p:cNvSpPr/>
          <p:nvPr/>
        </p:nvSpPr>
        <p:spPr>
          <a:xfrm>
            <a:off x="1463040" y="2926080"/>
            <a:ext cx="10515600" cy="1645920"/>
          </a:xfrm>
          <a:prstGeom prst="rect">
            <a:avLst/>
          </a:prstGeom>
          <a:noFill/>
          <a:ln/>
        </p:spPr>
        <p:txBody>
          <a:bodyPr wrap="square" lIns="0" tIns="0" rIns="0" bIns="0" rtlCol="0" anchor="t"/>
          <a:lstStyle/>
          <a:p>
            <a:pPr marL="0" indent="0">
              <a:buNone/>
            </a:pPr>
            <a:r>
              <a:rPr lang="en-US" sz="9600" b="1">
                <a:solidFill>
                  <a:srgbClr val="213547"/>
                </a:solidFill>
                <a:latin typeface="Calibri" pitchFamily="34" charset="0"/>
                <a:ea typeface="Calibri" pitchFamily="34" charset="-122"/>
                <a:cs typeface="Calibri" pitchFamily="34" charset="-120"/>
              </a:rPr>
              <a:t>Backend</a:t>
            </a:r>
            <a:endParaRPr lang="en-US" sz="9600"/>
          </a:p>
        </p:txBody>
      </p:sp>
      <p:sp>
        <p:nvSpPr>
          <p:cNvPr id="5" name="Text 3"/>
          <p:cNvSpPr/>
          <p:nvPr/>
        </p:nvSpPr>
        <p:spPr>
          <a:xfrm>
            <a:off x="1463040" y="4480560"/>
            <a:ext cx="10058400" cy="548640"/>
          </a:xfrm>
          <a:prstGeom prst="rect">
            <a:avLst/>
          </a:prstGeom>
          <a:noFill/>
          <a:ln/>
        </p:spPr>
        <p:txBody>
          <a:bodyPr wrap="square" lIns="0" tIns="0" rIns="0" bIns="0" rtlCol="0" anchor="ctr"/>
          <a:lstStyle/>
          <a:p>
            <a:pPr marL="0" indent="0">
              <a:buNone/>
            </a:pPr>
            <a:r>
              <a:rPr lang="en-US" sz="2200">
                <a:solidFill>
                  <a:srgbClr val="5A6A7A"/>
                </a:solidFill>
                <a:latin typeface="Calibri" pitchFamily="34" charset="0"/>
                <a:ea typeface="Calibri" pitchFamily="34" charset="-122"/>
                <a:cs typeface="Calibri" pitchFamily="34" charset="-120"/>
              </a:rPr>
              <a:t>Was im Hintergrund passiert.</a:t>
            </a:r>
            <a:endParaRPr lang="en-US" sz="2200"/>
          </a:p>
        </p:txBody>
      </p:sp>
      <p:sp>
        <p:nvSpPr>
          <p:cNvPr id="6" name="Shape 4"/>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7" name="Text 5"/>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8" name="Text 6"/>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8 / 16</a:t>
            </a:r>
            <a:endParaRPr lang="en-US" sz="100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ellipse">
            <a:avLst/>
          </a:prstGeom>
          <a:solidFill>
            <a:srgbClr val="2ABB9B"/>
          </a:solidFill>
          <a:ln w="12700">
            <a:solidFill>
              <a:srgbClr val="2ABB9B"/>
            </a:solidFill>
            <a:prstDash val="solid"/>
          </a:ln>
        </p:spPr>
        <p:txBody>
          <a:bodyPr/>
          <a:lstStyle/>
          <a:p>
            <a:endParaRPr lang="de-DE"/>
          </a:p>
        </p:txBody>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2ABB9B"/>
                </a:solidFill>
                <a:latin typeface="Calibri" pitchFamily="34" charset="0"/>
                <a:ea typeface="Calibri" pitchFamily="34" charset="-122"/>
                <a:cs typeface="Calibri" pitchFamily="34" charset="-120"/>
              </a:rPr>
              <a:t>BACKEND</a:t>
            </a:r>
            <a:endParaRPr lang="en-US" sz="1100"/>
          </a:p>
        </p:txBody>
      </p:sp>
      <p:sp>
        <p:nvSpPr>
          <p:cNvPr id="4" name="Text 2"/>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pitchFamily="34" charset="0"/>
                <a:ea typeface="Calibri" pitchFamily="34" charset="-122"/>
                <a:cs typeface="Calibri" pitchFamily="34" charset="-120"/>
              </a:rPr>
              <a:t>Marco</a:t>
            </a:r>
            <a:endParaRPr lang="en-US" sz="1100"/>
          </a:p>
        </p:txBody>
      </p:sp>
      <p:sp>
        <p:nvSpPr>
          <p:cNvPr id="5" name="Text 3"/>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Was macht das Backend</a:t>
            </a:r>
            <a:endParaRPr lang="en-US" sz="4000"/>
          </a:p>
        </p:txBody>
      </p:sp>
      <p:sp>
        <p:nvSpPr>
          <p:cNvPr id="6" name="Shape 4"/>
          <p:cNvSpPr/>
          <p:nvPr/>
        </p:nvSpPr>
        <p:spPr>
          <a:xfrm>
            <a:off x="5486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7" name="Shape 5"/>
          <p:cNvSpPr/>
          <p:nvPr/>
        </p:nvSpPr>
        <p:spPr>
          <a:xfrm>
            <a:off x="868680" y="2423160"/>
            <a:ext cx="164592" cy="164592"/>
          </a:xfrm>
          <a:prstGeom prst="ellipse">
            <a:avLst/>
          </a:prstGeom>
          <a:solidFill>
            <a:srgbClr val="2ABB9B"/>
          </a:solidFill>
          <a:ln w="12700">
            <a:solidFill>
              <a:srgbClr val="2ABB9B"/>
            </a:solidFill>
            <a:prstDash val="solid"/>
          </a:ln>
        </p:spPr>
        <p:txBody>
          <a:bodyPr/>
          <a:lstStyle/>
          <a:p>
            <a:endParaRPr lang="de-DE"/>
          </a:p>
        </p:txBody>
      </p:sp>
      <p:sp>
        <p:nvSpPr>
          <p:cNvPr id="8" name="Text 6"/>
          <p:cNvSpPr/>
          <p:nvPr/>
        </p:nvSpPr>
        <p:spPr>
          <a:xfrm>
            <a:off x="1097280" y="2377440"/>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1</a:t>
            </a:r>
            <a:endParaRPr lang="en-US" sz="1000"/>
          </a:p>
        </p:txBody>
      </p:sp>
      <p:sp>
        <p:nvSpPr>
          <p:cNvPr id="9" name="Text 7"/>
          <p:cNvSpPr/>
          <p:nvPr/>
        </p:nvSpPr>
        <p:spPr>
          <a:xfrm>
            <a:off x="868680"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Frage empfangen</a:t>
            </a:r>
            <a:endParaRPr lang="en-US" sz="2000"/>
          </a:p>
        </p:txBody>
      </p:sp>
      <p:sp>
        <p:nvSpPr>
          <p:cNvPr id="10" name="Text 8"/>
          <p:cNvSpPr/>
          <p:nvPr/>
        </p:nvSpPr>
        <p:spPr>
          <a:xfrm>
            <a:off x="868680" y="3383280"/>
            <a:ext cx="3108960" cy="2377440"/>
          </a:xfrm>
          <a:prstGeom prst="rect">
            <a:avLst/>
          </a:prstGeom>
          <a:noFill/>
          <a:ln/>
        </p:spPr>
        <p:txBody>
          <a:bodyPr wrap="square" lIns="0" tIns="0" rIns="0" bIns="0" rtlCol="0" anchor="t"/>
          <a:lstStyle/>
          <a:p>
            <a:r>
              <a:rPr lang="en-US" sz="1400" dirty="0">
                <a:solidFill>
                  <a:srgbClr val="5A6A7A"/>
                </a:solidFill>
                <a:ea typeface="+mn-lt"/>
                <a:cs typeface="+mn-lt"/>
              </a:rPr>
              <a:t>Die Website (Frontend) </a:t>
            </a:r>
            <a:r>
              <a:rPr lang="en-US" sz="1400" dirty="0" err="1">
                <a:solidFill>
                  <a:srgbClr val="5A6A7A"/>
                </a:solidFill>
                <a:ea typeface="+mn-lt"/>
                <a:cs typeface="+mn-lt"/>
              </a:rPr>
              <a:t>sendet</a:t>
            </a:r>
            <a:r>
              <a:rPr lang="en-US" sz="1400" dirty="0">
                <a:solidFill>
                  <a:srgbClr val="5A6A7A"/>
                </a:solidFill>
                <a:ea typeface="+mn-lt"/>
                <a:cs typeface="+mn-lt"/>
              </a:rPr>
              <a:t> </a:t>
            </a:r>
            <a:r>
              <a:rPr lang="en-US" sz="1400" dirty="0" err="1">
                <a:solidFill>
                  <a:srgbClr val="5A6A7A"/>
                </a:solidFill>
                <a:ea typeface="+mn-lt"/>
                <a:cs typeface="+mn-lt"/>
              </a:rPr>
              <a:t>eine</a:t>
            </a:r>
            <a:r>
              <a:rPr lang="en-US" sz="1400" dirty="0">
                <a:solidFill>
                  <a:srgbClr val="5A6A7A"/>
                </a:solidFill>
                <a:ea typeface="+mn-lt"/>
                <a:cs typeface="+mn-lt"/>
              </a:rPr>
              <a:t> HTTP-</a:t>
            </a:r>
            <a:r>
              <a:rPr lang="en-US" sz="1400" dirty="0" err="1">
                <a:solidFill>
                  <a:srgbClr val="5A6A7A"/>
                </a:solidFill>
                <a:ea typeface="+mn-lt"/>
                <a:cs typeface="+mn-lt"/>
              </a:rPr>
              <a:t>Anfrage</a:t>
            </a:r>
            <a:r>
              <a:rPr lang="en-US" sz="1400" dirty="0">
                <a:solidFill>
                  <a:srgbClr val="5A6A7A"/>
                </a:solidFill>
                <a:ea typeface="+mn-lt"/>
                <a:cs typeface="+mn-lt"/>
              </a:rPr>
              <a:t> an das Backend – </a:t>
            </a:r>
            <a:r>
              <a:rPr lang="en-US" sz="1400" dirty="0" err="1">
                <a:solidFill>
                  <a:srgbClr val="5A6A7A"/>
                </a:solidFill>
                <a:ea typeface="+mn-lt"/>
                <a:cs typeface="+mn-lt"/>
              </a:rPr>
              <a:t>beispielsweise</a:t>
            </a:r>
            <a:r>
              <a:rPr lang="en-US" sz="1400" dirty="0">
                <a:solidFill>
                  <a:srgbClr val="5A6A7A"/>
                </a:solidFill>
                <a:ea typeface="+mn-lt"/>
                <a:cs typeface="+mn-lt"/>
              </a:rPr>
              <a:t>, um </a:t>
            </a:r>
            <a:r>
              <a:rPr lang="en-US" sz="1400" dirty="0" err="1">
                <a:solidFill>
                  <a:srgbClr val="5A6A7A"/>
                </a:solidFill>
                <a:ea typeface="+mn-lt"/>
                <a:cs typeface="+mn-lt"/>
              </a:rPr>
              <a:t>einen</a:t>
            </a:r>
            <a:r>
              <a:rPr lang="en-US" sz="1400" dirty="0">
                <a:solidFill>
                  <a:srgbClr val="5A6A7A"/>
                </a:solidFill>
                <a:ea typeface="+mn-lt"/>
                <a:cs typeface="+mn-lt"/>
              </a:rPr>
              <a:t> </a:t>
            </a:r>
            <a:r>
              <a:rPr lang="en-US" sz="1400" dirty="0" err="1">
                <a:solidFill>
                  <a:srgbClr val="5A6A7A"/>
                </a:solidFill>
                <a:ea typeface="+mn-lt"/>
                <a:cs typeface="+mn-lt"/>
              </a:rPr>
              <a:t>bestimmten</a:t>
            </a:r>
            <a:r>
              <a:rPr lang="en-US" sz="1400" dirty="0">
                <a:solidFill>
                  <a:srgbClr val="5A6A7A"/>
                </a:solidFill>
                <a:ea typeface="+mn-lt"/>
                <a:cs typeface="+mn-lt"/>
              </a:rPr>
              <a:t> Kurs </a:t>
            </a:r>
            <a:r>
              <a:rPr lang="en-US" sz="1400" dirty="0" err="1">
                <a:solidFill>
                  <a:srgbClr val="5A6A7A"/>
                </a:solidFill>
                <a:ea typeface="+mn-lt"/>
                <a:cs typeface="+mn-lt"/>
              </a:rPr>
              <a:t>über</a:t>
            </a:r>
            <a:r>
              <a:rPr lang="en-US" sz="1400" dirty="0">
                <a:solidFill>
                  <a:srgbClr val="5A6A7A"/>
                </a:solidFill>
                <a:ea typeface="+mn-lt"/>
                <a:cs typeface="+mn-lt"/>
              </a:rPr>
              <a:t> /courses/1 </a:t>
            </a:r>
            <a:r>
              <a:rPr lang="en-US" sz="1400" dirty="0" err="1">
                <a:solidFill>
                  <a:srgbClr val="5A6A7A"/>
                </a:solidFill>
                <a:ea typeface="+mn-lt"/>
                <a:cs typeface="+mn-lt"/>
              </a:rPr>
              <a:t>oder</a:t>
            </a:r>
            <a:r>
              <a:rPr lang="en-US" sz="1400" dirty="0">
                <a:solidFill>
                  <a:srgbClr val="5A6A7A"/>
                </a:solidFill>
                <a:ea typeface="+mn-lt"/>
                <a:cs typeface="+mn-lt"/>
              </a:rPr>
              <a:t> </a:t>
            </a:r>
            <a:r>
              <a:rPr lang="en-US" sz="1400" dirty="0" err="1">
                <a:solidFill>
                  <a:srgbClr val="5A6A7A"/>
                </a:solidFill>
                <a:ea typeface="+mn-lt"/>
                <a:cs typeface="+mn-lt"/>
              </a:rPr>
              <a:t>einen</a:t>
            </a:r>
            <a:r>
              <a:rPr lang="en-US" sz="1400" dirty="0">
                <a:solidFill>
                  <a:srgbClr val="5A6A7A"/>
                </a:solidFill>
                <a:ea typeface="+mn-lt"/>
                <a:cs typeface="+mn-lt"/>
              </a:rPr>
              <a:t> </a:t>
            </a:r>
            <a:r>
              <a:rPr lang="en-US" sz="1400" dirty="0" err="1">
                <a:solidFill>
                  <a:srgbClr val="5A6A7A"/>
                </a:solidFill>
                <a:ea typeface="+mn-lt"/>
                <a:cs typeface="+mn-lt"/>
              </a:rPr>
              <a:t>Benutzer</a:t>
            </a:r>
            <a:r>
              <a:rPr lang="en-US" sz="1400" dirty="0">
                <a:solidFill>
                  <a:srgbClr val="5A6A7A"/>
                </a:solidFill>
                <a:ea typeface="+mn-lt"/>
                <a:cs typeface="+mn-lt"/>
              </a:rPr>
              <a:t> </a:t>
            </a:r>
            <a:r>
              <a:rPr lang="en-US" sz="1400" dirty="0" err="1">
                <a:solidFill>
                  <a:srgbClr val="5A6A7A"/>
                </a:solidFill>
                <a:ea typeface="+mn-lt"/>
                <a:cs typeface="+mn-lt"/>
              </a:rPr>
              <a:t>über</a:t>
            </a:r>
            <a:r>
              <a:rPr lang="en-US" sz="1400" dirty="0">
                <a:solidFill>
                  <a:srgbClr val="5A6A7A"/>
                </a:solidFill>
                <a:ea typeface="+mn-lt"/>
                <a:cs typeface="+mn-lt"/>
              </a:rPr>
              <a:t> /users/UUID </a:t>
            </a:r>
            <a:r>
              <a:rPr lang="en-US" sz="1400" dirty="0" err="1">
                <a:solidFill>
                  <a:srgbClr val="5A6A7A"/>
                </a:solidFill>
                <a:ea typeface="+mn-lt"/>
                <a:cs typeface="+mn-lt"/>
              </a:rPr>
              <a:t>abzufragen</a:t>
            </a:r>
            <a:endParaRPr lang="en-US" dirty="0" err="1"/>
          </a:p>
        </p:txBody>
      </p:sp>
      <p:sp>
        <p:nvSpPr>
          <p:cNvPr id="11" name="Shape 9"/>
          <p:cNvSpPr/>
          <p:nvPr/>
        </p:nvSpPr>
        <p:spPr>
          <a:xfrm>
            <a:off x="44348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2" name="Shape 10"/>
          <p:cNvSpPr/>
          <p:nvPr/>
        </p:nvSpPr>
        <p:spPr>
          <a:xfrm>
            <a:off x="4754880" y="2423160"/>
            <a:ext cx="164592" cy="164592"/>
          </a:xfrm>
          <a:prstGeom prst="ellipse">
            <a:avLst/>
          </a:prstGeom>
          <a:solidFill>
            <a:srgbClr val="2ABB9B"/>
          </a:solidFill>
          <a:ln w="12700">
            <a:solidFill>
              <a:srgbClr val="2ABB9B"/>
            </a:solidFill>
            <a:prstDash val="solid"/>
          </a:ln>
        </p:spPr>
        <p:txBody>
          <a:bodyPr/>
          <a:lstStyle/>
          <a:p>
            <a:endParaRPr lang="de-DE"/>
          </a:p>
        </p:txBody>
      </p:sp>
      <p:sp>
        <p:nvSpPr>
          <p:cNvPr id="13" name="Text 11"/>
          <p:cNvSpPr/>
          <p:nvPr/>
        </p:nvSpPr>
        <p:spPr>
          <a:xfrm>
            <a:off x="4983480" y="2377440"/>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2</a:t>
            </a:r>
            <a:endParaRPr lang="en-US" sz="1000"/>
          </a:p>
        </p:txBody>
      </p:sp>
      <p:sp>
        <p:nvSpPr>
          <p:cNvPr id="14" name="Text 12"/>
          <p:cNvSpPr/>
          <p:nvPr/>
        </p:nvSpPr>
        <p:spPr>
          <a:xfrm>
            <a:off x="4754880"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Daten holen</a:t>
            </a:r>
            <a:endParaRPr lang="en-US" sz="2000"/>
          </a:p>
        </p:txBody>
      </p:sp>
      <p:sp>
        <p:nvSpPr>
          <p:cNvPr id="15" name="Text 13"/>
          <p:cNvSpPr/>
          <p:nvPr/>
        </p:nvSpPr>
        <p:spPr>
          <a:xfrm>
            <a:off x="4754880" y="3383280"/>
            <a:ext cx="3108960" cy="2377440"/>
          </a:xfrm>
          <a:prstGeom prst="rect">
            <a:avLst/>
          </a:prstGeom>
          <a:noFill/>
          <a:ln/>
        </p:spPr>
        <p:txBody>
          <a:bodyPr wrap="square" lIns="0" tIns="0" rIns="0" bIns="0" rtlCol="0" anchor="t"/>
          <a:lstStyle/>
          <a:p>
            <a:r>
              <a:rPr lang="en-US" sz="1400" dirty="0">
                <a:solidFill>
                  <a:srgbClr val="5A6A7A"/>
                </a:solidFill>
                <a:ea typeface="+mn-lt"/>
                <a:cs typeface="+mn-lt"/>
              </a:rPr>
              <a:t>Das Python-Backend </a:t>
            </a:r>
            <a:r>
              <a:rPr lang="en-US" sz="1400" dirty="0" err="1">
                <a:solidFill>
                  <a:srgbClr val="5A6A7A"/>
                </a:solidFill>
                <a:ea typeface="+mn-lt"/>
                <a:cs typeface="+mn-lt"/>
              </a:rPr>
              <a:t>kommuniziert</a:t>
            </a:r>
            <a:r>
              <a:rPr lang="en-US" sz="1400" dirty="0">
                <a:solidFill>
                  <a:srgbClr val="5A6A7A"/>
                </a:solidFill>
                <a:ea typeface="+mn-lt"/>
                <a:cs typeface="+mn-lt"/>
              </a:rPr>
              <a:t> </a:t>
            </a:r>
            <a:r>
              <a:rPr lang="en-US" sz="1400" dirty="0" err="1">
                <a:solidFill>
                  <a:srgbClr val="5A6A7A"/>
                </a:solidFill>
                <a:ea typeface="+mn-lt"/>
                <a:cs typeface="+mn-lt"/>
              </a:rPr>
              <a:t>mit</a:t>
            </a:r>
            <a:r>
              <a:rPr lang="en-US" sz="1400" dirty="0">
                <a:solidFill>
                  <a:srgbClr val="5A6A7A"/>
                </a:solidFill>
                <a:ea typeface="+mn-lt"/>
                <a:cs typeface="+mn-lt"/>
              </a:rPr>
              <a:t> dem Oracle 23ai-Datenbankcontainer, um die </a:t>
            </a:r>
            <a:r>
              <a:rPr lang="en-US" sz="1400" dirty="0" err="1">
                <a:solidFill>
                  <a:srgbClr val="5A6A7A"/>
                </a:solidFill>
                <a:ea typeface="+mn-lt"/>
                <a:cs typeface="+mn-lt"/>
              </a:rPr>
              <a:t>angeforderten</a:t>
            </a:r>
            <a:r>
              <a:rPr lang="en-US" sz="1400" dirty="0">
                <a:solidFill>
                  <a:srgbClr val="5A6A7A"/>
                </a:solidFill>
                <a:ea typeface="+mn-lt"/>
                <a:cs typeface="+mn-lt"/>
              </a:rPr>
              <a:t> </a:t>
            </a:r>
            <a:r>
              <a:rPr lang="en-US" sz="1400" dirty="0" err="1">
                <a:solidFill>
                  <a:srgbClr val="5A6A7A"/>
                </a:solidFill>
                <a:ea typeface="+mn-lt"/>
                <a:cs typeface="+mn-lt"/>
              </a:rPr>
              <a:t>Datensätze</a:t>
            </a:r>
            <a:r>
              <a:rPr lang="en-US" sz="1400" dirty="0">
                <a:solidFill>
                  <a:srgbClr val="5A6A7A"/>
                </a:solidFill>
                <a:ea typeface="+mn-lt"/>
                <a:cs typeface="+mn-lt"/>
              </a:rPr>
              <a:t> </a:t>
            </a:r>
            <a:r>
              <a:rPr lang="en-US" sz="1400" dirty="0" err="1">
                <a:solidFill>
                  <a:srgbClr val="5A6A7A"/>
                </a:solidFill>
                <a:ea typeface="+mn-lt"/>
                <a:cs typeface="+mn-lt"/>
              </a:rPr>
              <a:t>abzurufen</a:t>
            </a:r>
            <a:r>
              <a:rPr lang="en-US" sz="1400" dirty="0">
                <a:solidFill>
                  <a:srgbClr val="5A6A7A"/>
                </a:solidFill>
                <a:ea typeface="+mn-lt"/>
                <a:cs typeface="+mn-lt"/>
              </a:rPr>
              <a:t>.</a:t>
            </a:r>
            <a:endParaRPr lang="en-US" dirty="0">
              <a:ea typeface="+mn-lt"/>
              <a:cs typeface="+mn-lt"/>
            </a:endParaRPr>
          </a:p>
        </p:txBody>
      </p:sp>
      <p:sp>
        <p:nvSpPr>
          <p:cNvPr id="16" name="Shape 14"/>
          <p:cNvSpPr/>
          <p:nvPr/>
        </p:nvSpPr>
        <p:spPr>
          <a:xfrm>
            <a:off x="83210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7" name="Shape 15"/>
          <p:cNvSpPr/>
          <p:nvPr/>
        </p:nvSpPr>
        <p:spPr>
          <a:xfrm>
            <a:off x="8641080" y="2423160"/>
            <a:ext cx="164592" cy="164592"/>
          </a:xfrm>
          <a:prstGeom prst="ellipse">
            <a:avLst/>
          </a:prstGeom>
          <a:solidFill>
            <a:srgbClr val="2ABB9B"/>
          </a:solidFill>
          <a:ln w="12700">
            <a:solidFill>
              <a:srgbClr val="2ABB9B"/>
            </a:solidFill>
            <a:prstDash val="solid"/>
          </a:ln>
        </p:spPr>
        <p:txBody>
          <a:bodyPr/>
          <a:lstStyle/>
          <a:p>
            <a:endParaRPr lang="de-DE"/>
          </a:p>
        </p:txBody>
      </p:sp>
      <p:sp>
        <p:nvSpPr>
          <p:cNvPr id="18" name="Text 16"/>
          <p:cNvSpPr/>
          <p:nvPr/>
        </p:nvSpPr>
        <p:spPr>
          <a:xfrm>
            <a:off x="8869680" y="2377440"/>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3</a:t>
            </a:r>
            <a:endParaRPr lang="en-US" sz="1000"/>
          </a:p>
        </p:txBody>
      </p:sp>
      <p:sp>
        <p:nvSpPr>
          <p:cNvPr id="19" name="Text 17"/>
          <p:cNvSpPr/>
          <p:nvPr/>
        </p:nvSpPr>
        <p:spPr>
          <a:xfrm>
            <a:off x="8641080"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Antwort schicken</a:t>
            </a:r>
            <a:endParaRPr lang="en-US" sz="2000"/>
          </a:p>
        </p:txBody>
      </p:sp>
      <p:sp>
        <p:nvSpPr>
          <p:cNvPr id="20" name="Text 18"/>
          <p:cNvSpPr/>
          <p:nvPr/>
        </p:nvSpPr>
        <p:spPr>
          <a:xfrm>
            <a:off x="8641080" y="3383280"/>
            <a:ext cx="3108960" cy="2377440"/>
          </a:xfrm>
          <a:prstGeom prst="rect">
            <a:avLst/>
          </a:prstGeom>
          <a:noFill/>
          <a:ln/>
        </p:spPr>
        <p:txBody>
          <a:bodyPr wrap="square" lIns="0" tIns="0" rIns="0" bIns="0" rtlCol="0" anchor="t"/>
          <a:lstStyle/>
          <a:p>
            <a:r>
              <a:rPr lang="en-US" sz="1400" dirty="0">
                <a:solidFill>
                  <a:srgbClr val="5A6A7A"/>
                </a:solidFill>
                <a:ea typeface="+mn-lt"/>
                <a:cs typeface="+mn-lt"/>
              </a:rPr>
              <a:t>Das Backend </a:t>
            </a:r>
            <a:r>
              <a:rPr lang="en-US" sz="1400" dirty="0" err="1">
                <a:solidFill>
                  <a:srgbClr val="5A6A7A"/>
                </a:solidFill>
                <a:ea typeface="+mn-lt"/>
                <a:cs typeface="+mn-lt"/>
              </a:rPr>
              <a:t>verpackt</a:t>
            </a:r>
            <a:r>
              <a:rPr lang="en-US" sz="1400" dirty="0">
                <a:solidFill>
                  <a:srgbClr val="5A6A7A"/>
                </a:solidFill>
                <a:ea typeface="+mn-lt"/>
                <a:cs typeface="+mn-lt"/>
              </a:rPr>
              <a:t> die </a:t>
            </a:r>
            <a:r>
              <a:rPr lang="en-US" sz="1400" dirty="0" err="1">
                <a:solidFill>
                  <a:srgbClr val="5A6A7A"/>
                </a:solidFill>
                <a:ea typeface="+mn-lt"/>
                <a:cs typeface="+mn-lt"/>
              </a:rPr>
              <a:t>abgerufene</a:t>
            </a:r>
            <a:r>
              <a:rPr lang="en-US" sz="1400" dirty="0">
                <a:solidFill>
                  <a:srgbClr val="5A6A7A"/>
                </a:solidFill>
                <a:ea typeface="+mn-lt"/>
                <a:cs typeface="+mn-lt"/>
              </a:rPr>
              <a:t> </a:t>
            </a:r>
            <a:r>
              <a:rPr lang="en-US" sz="1400" dirty="0" err="1">
                <a:solidFill>
                  <a:srgbClr val="5A6A7A"/>
                </a:solidFill>
                <a:ea typeface="+mn-lt"/>
                <a:cs typeface="+mn-lt"/>
              </a:rPr>
              <a:t>Datenbankzeile</a:t>
            </a:r>
            <a:r>
              <a:rPr lang="en-US" sz="1400" dirty="0">
                <a:solidFill>
                  <a:srgbClr val="5A6A7A"/>
                </a:solidFill>
                <a:ea typeface="+mn-lt"/>
                <a:cs typeface="+mn-lt"/>
              </a:rPr>
              <a:t> und </a:t>
            </a:r>
            <a:r>
              <a:rPr lang="en-US" sz="1400" dirty="0" err="1">
                <a:solidFill>
                  <a:srgbClr val="5A6A7A"/>
                </a:solidFill>
                <a:ea typeface="+mn-lt"/>
                <a:cs typeface="+mn-lt"/>
              </a:rPr>
              <a:t>sendet</a:t>
            </a:r>
            <a:r>
              <a:rPr lang="en-US" sz="1400" dirty="0">
                <a:solidFill>
                  <a:srgbClr val="5A6A7A"/>
                </a:solidFill>
                <a:ea typeface="+mn-lt"/>
                <a:cs typeface="+mn-lt"/>
              </a:rPr>
              <a:t> </a:t>
            </a:r>
            <a:r>
              <a:rPr lang="en-US" sz="1400" dirty="0" err="1">
                <a:solidFill>
                  <a:srgbClr val="5A6A7A"/>
                </a:solidFill>
                <a:ea typeface="+mn-lt"/>
                <a:cs typeface="+mn-lt"/>
              </a:rPr>
              <a:t>sie</a:t>
            </a:r>
            <a:r>
              <a:rPr lang="en-US" sz="1400" dirty="0">
                <a:solidFill>
                  <a:srgbClr val="5A6A7A"/>
                </a:solidFill>
                <a:ea typeface="+mn-lt"/>
                <a:cs typeface="+mn-lt"/>
              </a:rPr>
              <a:t> </a:t>
            </a:r>
            <a:r>
              <a:rPr lang="en-US" sz="1400" dirty="0" err="1">
                <a:solidFill>
                  <a:srgbClr val="5A6A7A"/>
                </a:solidFill>
                <a:ea typeface="+mn-lt"/>
                <a:cs typeface="+mn-lt"/>
              </a:rPr>
              <a:t>als</a:t>
            </a:r>
            <a:r>
              <a:rPr lang="en-US" sz="1400" dirty="0">
                <a:solidFill>
                  <a:srgbClr val="5A6A7A"/>
                </a:solidFill>
                <a:ea typeface="+mn-lt"/>
                <a:cs typeface="+mn-lt"/>
              </a:rPr>
              <a:t> </a:t>
            </a:r>
            <a:r>
              <a:rPr lang="en-US" sz="1400" dirty="0" err="1">
                <a:solidFill>
                  <a:srgbClr val="5A6A7A"/>
                </a:solidFill>
                <a:ea typeface="+mn-lt"/>
                <a:cs typeface="+mn-lt"/>
              </a:rPr>
              <a:t>saubere</a:t>
            </a:r>
            <a:r>
              <a:rPr lang="en-US" sz="1400" dirty="0">
                <a:solidFill>
                  <a:srgbClr val="5A6A7A"/>
                </a:solidFill>
                <a:ea typeface="+mn-lt"/>
                <a:cs typeface="+mn-lt"/>
              </a:rPr>
              <a:t> JSON-</a:t>
            </a:r>
            <a:r>
              <a:rPr lang="en-US" sz="1400" dirty="0" err="1">
                <a:solidFill>
                  <a:srgbClr val="5A6A7A"/>
                </a:solidFill>
                <a:ea typeface="+mn-lt"/>
                <a:cs typeface="+mn-lt"/>
              </a:rPr>
              <a:t>Antwort</a:t>
            </a:r>
            <a:r>
              <a:rPr lang="en-US" sz="1400" dirty="0">
                <a:solidFill>
                  <a:srgbClr val="5A6A7A"/>
                </a:solidFill>
                <a:ea typeface="+mn-lt"/>
                <a:cs typeface="+mn-lt"/>
              </a:rPr>
              <a:t> an das Frontend </a:t>
            </a:r>
            <a:r>
              <a:rPr lang="en-US" sz="1400" dirty="0" err="1">
                <a:solidFill>
                  <a:srgbClr val="5A6A7A"/>
                </a:solidFill>
                <a:ea typeface="+mn-lt"/>
                <a:cs typeface="+mn-lt"/>
              </a:rPr>
              <a:t>zurück</a:t>
            </a:r>
            <a:r>
              <a:rPr lang="en-US" sz="1400" dirty="0">
                <a:solidFill>
                  <a:srgbClr val="5A6A7A"/>
                </a:solidFill>
                <a:ea typeface="+mn-lt"/>
                <a:cs typeface="+mn-lt"/>
              </a:rPr>
              <a:t>.</a:t>
            </a:r>
            <a:endParaRPr lang="en-US" dirty="0">
              <a:ea typeface="+mn-lt"/>
              <a:cs typeface="+mn-lt"/>
            </a:endParaRPr>
          </a:p>
        </p:txBody>
      </p:sp>
      <p:sp>
        <p:nvSpPr>
          <p:cNvPr id="21" name="Text 19"/>
          <p:cNvSpPr/>
          <p:nvPr/>
        </p:nvSpPr>
        <p:spPr>
          <a:xfrm>
            <a:off x="548640" y="5989320"/>
            <a:ext cx="11064240" cy="365760"/>
          </a:xfrm>
          <a:prstGeom prst="rect">
            <a:avLst/>
          </a:prstGeom>
          <a:noFill/>
          <a:ln/>
        </p:spPr>
        <p:txBody>
          <a:bodyPr wrap="square" lIns="0" tIns="0" rIns="0" bIns="0" rtlCol="0" anchor="ctr"/>
          <a:lstStyle/>
          <a:p>
            <a:pPr marL="0" indent="0" algn="ctr">
              <a:buNone/>
            </a:pPr>
            <a:r>
              <a:rPr lang="en-US" sz="1400" i="1">
                <a:solidFill>
                  <a:srgbClr val="8C97A1"/>
                </a:solidFill>
                <a:latin typeface="Calibri" pitchFamily="34" charset="0"/>
                <a:ea typeface="Calibri" pitchFamily="34" charset="-122"/>
                <a:cs typeface="Calibri" pitchFamily="34" charset="-120"/>
              </a:rPr>
              <a:t>Gebaut mit Python und einer Bibliothek namens Flask. Schlank und gut zu lesen.</a:t>
            </a:r>
            <a:endParaRPr lang="en-US" sz="1400"/>
          </a:p>
        </p:txBody>
      </p:sp>
      <p:sp>
        <p:nvSpPr>
          <p:cNvPr id="22" name="Shape 20"/>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23" name="Text 21"/>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4" name="Text 22"/>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9 / 16</a:t>
            </a:r>
            <a:endParaRPr lang="en-US" sz="100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579A1467-AF9C-E2C6-7AD4-7FDB04D525F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2FF7AF6-1281-162A-6FCC-90BB2294390C}"/>
              </a:ext>
            </a:extLst>
          </p:cNvPr>
          <p:cNvSpPr/>
          <p:nvPr/>
        </p:nvSpPr>
        <p:spPr>
          <a:xfrm>
            <a:off x="548640" y="502920"/>
            <a:ext cx="164592" cy="164592"/>
          </a:xfrm>
          <a:prstGeom prst="ellipse">
            <a:avLst/>
          </a:prstGeom>
          <a:solidFill>
            <a:srgbClr val="2ABB9B"/>
          </a:solidFill>
          <a:ln w="12700">
            <a:solidFill>
              <a:srgbClr val="2ABB9B"/>
            </a:solidFill>
            <a:prstDash val="solid"/>
          </a:ln>
        </p:spPr>
        <p:txBody>
          <a:bodyPr/>
          <a:lstStyle/>
          <a:p>
            <a:endParaRPr lang="de-DE"/>
          </a:p>
        </p:txBody>
      </p:sp>
      <p:sp>
        <p:nvSpPr>
          <p:cNvPr id="3" name="Text 1">
            <a:extLst>
              <a:ext uri="{FF2B5EF4-FFF2-40B4-BE49-F238E27FC236}">
                <a16:creationId xmlns:a16="http://schemas.microsoft.com/office/drawing/2014/main" id="{571277EA-F79D-D535-5592-754C6DE0EE35}"/>
              </a:ext>
            </a:extLst>
          </p:cNvPr>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2ABB9B"/>
                </a:solidFill>
                <a:latin typeface="Calibri" pitchFamily="34" charset="0"/>
                <a:ea typeface="Calibri" pitchFamily="34" charset="-122"/>
                <a:cs typeface="Calibri" pitchFamily="34" charset="-120"/>
              </a:rPr>
              <a:t>BACKEND</a:t>
            </a:r>
            <a:endParaRPr lang="en-US" sz="1100"/>
          </a:p>
        </p:txBody>
      </p:sp>
      <p:sp>
        <p:nvSpPr>
          <p:cNvPr id="4" name="Text 2">
            <a:extLst>
              <a:ext uri="{FF2B5EF4-FFF2-40B4-BE49-F238E27FC236}">
                <a16:creationId xmlns:a16="http://schemas.microsoft.com/office/drawing/2014/main" id="{8A310F1D-D160-E9AE-73A7-C570C292E4AD}"/>
              </a:ext>
            </a:extLst>
          </p:cNvPr>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pitchFamily="34" charset="0"/>
                <a:ea typeface="Calibri" pitchFamily="34" charset="-122"/>
                <a:cs typeface="Calibri" pitchFamily="34" charset="-120"/>
              </a:rPr>
              <a:t>Marco</a:t>
            </a:r>
            <a:endParaRPr lang="en-US" sz="1100"/>
          </a:p>
        </p:txBody>
      </p:sp>
      <p:sp>
        <p:nvSpPr>
          <p:cNvPr id="5" name="Text 3">
            <a:extLst>
              <a:ext uri="{FF2B5EF4-FFF2-40B4-BE49-F238E27FC236}">
                <a16:creationId xmlns:a16="http://schemas.microsoft.com/office/drawing/2014/main" id="{274F84FE-C6B7-D668-9BC6-420914D7FBA0}"/>
              </a:ext>
            </a:extLst>
          </p:cNvPr>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dirty="0">
                <a:solidFill>
                  <a:srgbClr val="213547"/>
                </a:solidFill>
                <a:latin typeface="Calibri" pitchFamily="34" charset="0"/>
                <a:ea typeface="Calibri" pitchFamily="34" charset="-122"/>
                <a:cs typeface="Calibri" pitchFamily="34" charset="-120"/>
              </a:rPr>
              <a:t>Was </a:t>
            </a:r>
            <a:r>
              <a:rPr lang="en-US" sz="4000" b="1" dirty="0" err="1">
                <a:solidFill>
                  <a:srgbClr val="213547"/>
                </a:solidFill>
                <a:latin typeface="Calibri" pitchFamily="34" charset="0"/>
                <a:ea typeface="Calibri" pitchFamily="34" charset="-122"/>
                <a:cs typeface="Calibri" pitchFamily="34" charset="-120"/>
              </a:rPr>
              <a:t>macht</a:t>
            </a:r>
            <a:r>
              <a:rPr lang="en-US" sz="4000" b="1" dirty="0">
                <a:solidFill>
                  <a:srgbClr val="213547"/>
                </a:solidFill>
                <a:latin typeface="Calibri" pitchFamily="34" charset="0"/>
                <a:ea typeface="Calibri" pitchFamily="34" charset="-122"/>
                <a:cs typeface="Calibri" pitchFamily="34" charset="-120"/>
              </a:rPr>
              <a:t> das Backend</a:t>
            </a:r>
            <a:endParaRPr lang="en-US" sz="4000" dirty="0"/>
          </a:p>
        </p:txBody>
      </p:sp>
      <p:sp>
        <p:nvSpPr>
          <p:cNvPr id="6" name="Shape 4">
            <a:extLst>
              <a:ext uri="{FF2B5EF4-FFF2-40B4-BE49-F238E27FC236}">
                <a16:creationId xmlns:a16="http://schemas.microsoft.com/office/drawing/2014/main" id="{A3763364-6EB3-CD49-A770-04A821BD41B7}"/>
              </a:ext>
            </a:extLst>
          </p:cNvPr>
          <p:cNvSpPr/>
          <p:nvPr/>
        </p:nvSpPr>
        <p:spPr>
          <a:xfrm>
            <a:off x="7911341"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7" name="Shape 5">
            <a:extLst>
              <a:ext uri="{FF2B5EF4-FFF2-40B4-BE49-F238E27FC236}">
                <a16:creationId xmlns:a16="http://schemas.microsoft.com/office/drawing/2014/main" id="{B784F194-82BB-A539-2D03-18BCF11099A7}"/>
              </a:ext>
            </a:extLst>
          </p:cNvPr>
          <p:cNvSpPr/>
          <p:nvPr/>
        </p:nvSpPr>
        <p:spPr>
          <a:xfrm>
            <a:off x="8231381" y="2423160"/>
            <a:ext cx="164592" cy="164592"/>
          </a:xfrm>
          <a:prstGeom prst="ellipse">
            <a:avLst/>
          </a:prstGeom>
          <a:solidFill>
            <a:srgbClr val="2ABB9B"/>
          </a:solidFill>
          <a:ln w="12700">
            <a:solidFill>
              <a:srgbClr val="2ABB9B"/>
            </a:solidFill>
            <a:prstDash val="solid"/>
          </a:ln>
        </p:spPr>
        <p:txBody>
          <a:bodyPr/>
          <a:lstStyle/>
          <a:p>
            <a:endParaRPr lang="de-DE"/>
          </a:p>
        </p:txBody>
      </p:sp>
      <p:sp>
        <p:nvSpPr>
          <p:cNvPr id="8" name="Text 6">
            <a:extLst>
              <a:ext uri="{FF2B5EF4-FFF2-40B4-BE49-F238E27FC236}">
                <a16:creationId xmlns:a16="http://schemas.microsoft.com/office/drawing/2014/main" id="{430733AE-BB9A-1A9B-DD7A-32834CB76AB5}"/>
              </a:ext>
            </a:extLst>
          </p:cNvPr>
          <p:cNvSpPr/>
          <p:nvPr/>
        </p:nvSpPr>
        <p:spPr>
          <a:xfrm>
            <a:off x="8459981" y="2377440"/>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1</a:t>
            </a:r>
            <a:endParaRPr lang="en-US" sz="1000"/>
          </a:p>
        </p:txBody>
      </p:sp>
      <p:sp>
        <p:nvSpPr>
          <p:cNvPr id="9" name="Text 7">
            <a:extLst>
              <a:ext uri="{FF2B5EF4-FFF2-40B4-BE49-F238E27FC236}">
                <a16:creationId xmlns:a16="http://schemas.microsoft.com/office/drawing/2014/main" id="{8AF78551-57E3-BED1-E085-938E01A63929}"/>
              </a:ext>
            </a:extLst>
          </p:cNvPr>
          <p:cNvSpPr/>
          <p:nvPr/>
        </p:nvSpPr>
        <p:spPr>
          <a:xfrm>
            <a:off x="8231381"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Frage empfangen</a:t>
            </a:r>
            <a:endParaRPr lang="en-US" sz="2000"/>
          </a:p>
        </p:txBody>
      </p:sp>
      <p:sp>
        <p:nvSpPr>
          <p:cNvPr id="10" name="Text 8">
            <a:extLst>
              <a:ext uri="{FF2B5EF4-FFF2-40B4-BE49-F238E27FC236}">
                <a16:creationId xmlns:a16="http://schemas.microsoft.com/office/drawing/2014/main" id="{B65D7A1E-FB35-1378-65E8-7C8C9CCC9C94}"/>
              </a:ext>
            </a:extLst>
          </p:cNvPr>
          <p:cNvSpPr/>
          <p:nvPr/>
        </p:nvSpPr>
        <p:spPr>
          <a:xfrm>
            <a:off x="8231381" y="3383280"/>
            <a:ext cx="3108960" cy="2377440"/>
          </a:xfrm>
          <a:prstGeom prst="rect">
            <a:avLst/>
          </a:prstGeom>
          <a:noFill/>
          <a:ln/>
        </p:spPr>
        <p:txBody>
          <a:bodyPr wrap="square" lIns="0" tIns="0" rIns="0" bIns="0" rtlCol="0" anchor="t"/>
          <a:lstStyle/>
          <a:p>
            <a:r>
              <a:rPr lang="en-US" sz="1400" dirty="0">
                <a:solidFill>
                  <a:srgbClr val="5A6A7A"/>
                </a:solidFill>
                <a:ea typeface="+mn-lt"/>
                <a:cs typeface="+mn-lt"/>
              </a:rPr>
              <a:t>Die Website (Frontend) </a:t>
            </a:r>
            <a:r>
              <a:rPr lang="en-US" sz="1400" dirty="0" err="1">
                <a:solidFill>
                  <a:srgbClr val="5A6A7A"/>
                </a:solidFill>
                <a:ea typeface="+mn-lt"/>
                <a:cs typeface="+mn-lt"/>
              </a:rPr>
              <a:t>sendet</a:t>
            </a:r>
            <a:r>
              <a:rPr lang="en-US" sz="1400" dirty="0">
                <a:solidFill>
                  <a:srgbClr val="5A6A7A"/>
                </a:solidFill>
                <a:ea typeface="+mn-lt"/>
                <a:cs typeface="+mn-lt"/>
              </a:rPr>
              <a:t> </a:t>
            </a:r>
            <a:r>
              <a:rPr lang="en-US" sz="1400" dirty="0" err="1">
                <a:solidFill>
                  <a:srgbClr val="5A6A7A"/>
                </a:solidFill>
                <a:ea typeface="+mn-lt"/>
                <a:cs typeface="+mn-lt"/>
              </a:rPr>
              <a:t>eine</a:t>
            </a:r>
            <a:r>
              <a:rPr lang="en-US" sz="1400" dirty="0">
                <a:solidFill>
                  <a:srgbClr val="5A6A7A"/>
                </a:solidFill>
                <a:ea typeface="+mn-lt"/>
                <a:cs typeface="+mn-lt"/>
              </a:rPr>
              <a:t> HTTP-</a:t>
            </a:r>
            <a:r>
              <a:rPr lang="en-US" sz="1400" dirty="0" err="1">
                <a:solidFill>
                  <a:srgbClr val="5A6A7A"/>
                </a:solidFill>
                <a:ea typeface="+mn-lt"/>
                <a:cs typeface="+mn-lt"/>
              </a:rPr>
              <a:t>Anfrage</a:t>
            </a:r>
            <a:r>
              <a:rPr lang="en-US" sz="1400" dirty="0">
                <a:solidFill>
                  <a:srgbClr val="5A6A7A"/>
                </a:solidFill>
                <a:ea typeface="+mn-lt"/>
                <a:cs typeface="+mn-lt"/>
              </a:rPr>
              <a:t> an das Backend – </a:t>
            </a:r>
            <a:r>
              <a:rPr lang="en-US" sz="1400" dirty="0" err="1">
                <a:solidFill>
                  <a:srgbClr val="5A6A7A"/>
                </a:solidFill>
                <a:ea typeface="+mn-lt"/>
                <a:cs typeface="+mn-lt"/>
              </a:rPr>
              <a:t>beispielsweise</a:t>
            </a:r>
            <a:r>
              <a:rPr lang="en-US" sz="1400" dirty="0">
                <a:solidFill>
                  <a:srgbClr val="5A6A7A"/>
                </a:solidFill>
                <a:ea typeface="+mn-lt"/>
                <a:cs typeface="+mn-lt"/>
              </a:rPr>
              <a:t>, um </a:t>
            </a:r>
            <a:r>
              <a:rPr lang="en-US" sz="1400" dirty="0" err="1">
                <a:solidFill>
                  <a:srgbClr val="5A6A7A"/>
                </a:solidFill>
                <a:ea typeface="+mn-lt"/>
                <a:cs typeface="+mn-lt"/>
              </a:rPr>
              <a:t>einen</a:t>
            </a:r>
            <a:r>
              <a:rPr lang="en-US" sz="1400" dirty="0">
                <a:solidFill>
                  <a:srgbClr val="5A6A7A"/>
                </a:solidFill>
                <a:ea typeface="+mn-lt"/>
                <a:cs typeface="+mn-lt"/>
              </a:rPr>
              <a:t> </a:t>
            </a:r>
            <a:r>
              <a:rPr lang="en-US" sz="1400" dirty="0" err="1">
                <a:solidFill>
                  <a:srgbClr val="5A6A7A"/>
                </a:solidFill>
                <a:ea typeface="+mn-lt"/>
                <a:cs typeface="+mn-lt"/>
              </a:rPr>
              <a:t>bestimmten</a:t>
            </a:r>
            <a:r>
              <a:rPr lang="en-US" sz="1400" dirty="0">
                <a:solidFill>
                  <a:srgbClr val="5A6A7A"/>
                </a:solidFill>
                <a:ea typeface="+mn-lt"/>
                <a:cs typeface="+mn-lt"/>
              </a:rPr>
              <a:t> Kurs </a:t>
            </a:r>
            <a:r>
              <a:rPr lang="en-US" sz="1400" dirty="0" err="1">
                <a:solidFill>
                  <a:srgbClr val="5A6A7A"/>
                </a:solidFill>
                <a:ea typeface="+mn-lt"/>
                <a:cs typeface="+mn-lt"/>
              </a:rPr>
              <a:t>über</a:t>
            </a:r>
            <a:r>
              <a:rPr lang="en-US" sz="1400" dirty="0">
                <a:solidFill>
                  <a:srgbClr val="5A6A7A"/>
                </a:solidFill>
                <a:ea typeface="+mn-lt"/>
                <a:cs typeface="+mn-lt"/>
              </a:rPr>
              <a:t> /courses/1 </a:t>
            </a:r>
            <a:r>
              <a:rPr lang="en-US" sz="1400" dirty="0" err="1">
                <a:solidFill>
                  <a:srgbClr val="5A6A7A"/>
                </a:solidFill>
                <a:ea typeface="+mn-lt"/>
                <a:cs typeface="+mn-lt"/>
              </a:rPr>
              <a:t>oder</a:t>
            </a:r>
            <a:r>
              <a:rPr lang="en-US" sz="1400" dirty="0">
                <a:solidFill>
                  <a:srgbClr val="5A6A7A"/>
                </a:solidFill>
                <a:ea typeface="+mn-lt"/>
                <a:cs typeface="+mn-lt"/>
              </a:rPr>
              <a:t> </a:t>
            </a:r>
            <a:r>
              <a:rPr lang="en-US" sz="1400" dirty="0" err="1">
                <a:solidFill>
                  <a:srgbClr val="5A6A7A"/>
                </a:solidFill>
                <a:ea typeface="+mn-lt"/>
                <a:cs typeface="+mn-lt"/>
              </a:rPr>
              <a:t>einen</a:t>
            </a:r>
            <a:r>
              <a:rPr lang="en-US" sz="1400" dirty="0">
                <a:solidFill>
                  <a:srgbClr val="5A6A7A"/>
                </a:solidFill>
                <a:ea typeface="+mn-lt"/>
                <a:cs typeface="+mn-lt"/>
              </a:rPr>
              <a:t> </a:t>
            </a:r>
            <a:r>
              <a:rPr lang="en-US" sz="1400" dirty="0" err="1">
                <a:solidFill>
                  <a:srgbClr val="5A6A7A"/>
                </a:solidFill>
                <a:ea typeface="+mn-lt"/>
                <a:cs typeface="+mn-lt"/>
              </a:rPr>
              <a:t>Benutzer</a:t>
            </a:r>
            <a:r>
              <a:rPr lang="en-US" sz="1400" dirty="0">
                <a:solidFill>
                  <a:srgbClr val="5A6A7A"/>
                </a:solidFill>
                <a:ea typeface="+mn-lt"/>
                <a:cs typeface="+mn-lt"/>
              </a:rPr>
              <a:t> </a:t>
            </a:r>
            <a:r>
              <a:rPr lang="en-US" sz="1400" dirty="0" err="1">
                <a:solidFill>
                  <a:srgbClr val="5A6A7A"/>
                </a:solidFill>
                <a:ea typeface="+mn-lt"/>
                <a:cs typeface="+mn-lt"/>
              </a:rPr>
              <a:t>über</a:t>
            </a:r>
            <a:r>
              <a:rPr lang="en-US" sz="1400" dirty="0">
                <a:solidFill>
                  <a:srgbClr val="5A6A7A"/>
                </a:solidFill>
                <a:ea typeface="+mn-lt"/>
                <a:cs typeface="+mn-lt"/>
              </a:rPr>
              <a:t> /users/UUID </a:t>
            </a:r>
            <a:r>
              <a:rPr lang="en-US" sz="1400" dirty="0" err="1">
                <a:solidFill>
                  <a:srgbClr val="5A6A7A"/>
                </a:solidFill>
                <a:ea typeface="+mn-lt"/>
                <a:cs typeface="+mn-lt"/>
              </a:rPr>
              <a:t>abzufragen</a:t>
            </a:r>
            <a:endParaRPr lang="en-US" dirty="0" err="1"/>
          </a:p>
        </p:txBody>
      </p:sp>
      <p:sp>
        <p:nvSpPr>
          <p:cNvPr id="21" name="Text 19">
            <a:extLst>
              <a:ext uri="{FF2B5EF4-FFF2-40B4-BE49-F238E27FC236}">
                <a16:creationId xmlns:a16="http://schemas.microsoft.com/office/drawing/2014/main" id="{74F0693B-EFBD-5D66-F320-45315B93292C}"/>
              </a:ext>
            </a:extLst>
          </p:cNvPr>
          <p:cNvSpPr/>
          <p:nvPr/>
        </p:nvSpPr>
        <p:spPr>
          <a:xfrm>
            <a:off x="548640" y="5989320"/>
            <a:ext cx="11064240" cy="365760"/>
          </a:xfrm>
          <a:prstGeom prst="rect">
            <a:avLst/>
          </a:prstGeom>
          <a:noFill/>
          <a:ln/>
        </p:spPr>
        <p:txBody>
          <a:bodyPr wrap="square" lIns="0" tIns="0" rIns="0" bIns="0" rtlCol="0" anchor="ctr"/>
          <a:lstStyle/>
          <a:p>
            <a:pPr marL="0" indent="0" algn="ctr">
              <a:buNone/>
            </a:pPr>
            <a:r>
              <a:rPr lang="en-US" sz="1400" i="1">
                <a:solidFill>
                  <a:srgbClr val="8C97A1"/>
                </a:solidFill>
                <a:latin typeface="Calibri" pitchFamily="34" charset="0"/>
                <a:ea typeface="Calibri" pitchFamily="34" charset="-122"/>
                <a:cs typeface="Calibri" pitchFamily="34" charset="-120"/>
              </a:rPr>
              <a:t>Gebaut mit Python und einer Bibliothek namens Flask. Schlank und gut zu lesen.</a:t>
            </a:r>
            <a:endParaRPr lang="en-US" sz="1400"/>
          </a:p>
        </p:txBody>
      </p:sp>
      <p:sp>
        <p:nvSpPr>
          <p:cNvPr id="22" name="Shape 20">
            <a:extLst>
              <a:ext uri="{FF2B5EF4-FFF2-40B4-BE49-F238E27FC236}">
                <a16:creationId xmlns:a16="http://schemas.microsoft.com/office/drawing/2014/main" id="{E1AA46E1-B23A-41C6-AF37-622B712EF21F}"/>
              </a:ext>
            </a:extLst>
          </p:cNvPr>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23" name="Text 21">
            <a:extLst>
              <a:ext uri="{FF2B5EF4-FFF2-40B4-BE49-F238E27FC236}">
                <a16:creationId xmlns:a16="http://schemas.microsoft.com/office/drawing/2014/main" id="{A7B96D75-0930-A0B8-22C0-377026446708}"/>
              </a:ext>
            </a:extLst>
          </p:cNvPr>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4" name="Text 22">
            <a:extLst>
              <a:ext uri="{FF2B5EF4-FFF2-40B4-BE49-F238E27FC236}">
                <a16:creationId xmlns:a16="http://schemas.microsoft.com/office/drawing/2014/main" id="{4AD0ECD4-8F4E-2F6E-E28E-9E99A07109E8}"/>
              </a:ext>
            </a:extLst>
          </p:cNvPr>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9 / 16</a:t>
            </a:r>
            <a:endParaRPr lang="en-US" sz="1000"/>
          </a:p>
        </p:txBody>
      </p:sp>
      <p:sp>
        <p:nvSpPr>
          <p:cNvPr id="12" name="Text 3">
            <a:extLst>
              <a:ext uri="{FF2B5EF4-FFF2-40B4-BE49-F238E27FC236}">
                <a16:creationId xmlns:a16="http://schemas.microsoft.com/office/drawing/2014/main" id="{FB575CC0-ED31-4B4F-357F-99BE6B83E77A}"/>
              </a:ext>
            </a:extLst>
          </p:cNvPr>
          <p:cNvSpPr/>
          <p:nvPr/>
        </p:nvSpPr>
        <p:spPr>
          <a:xfrm>
            <a:off x="1845030" y="2105692"/>
            <a:ext cx="4060174" cy="364969"/>
          </a:xfrm>
          <a:prstGeom prst="rect">
            <a:avLst/>
          </a:prstGeom>
          <a:noFill/>
          <a:ln/>
        </p:spPr>
        <p:txBody>
          <a:bodyPr wrap="square" lIns="0" tIns="0" rIns="0" bIns="0" rtlCol="0" anchor="t"/>
          <a:lstStyle/>
          <a:p>
            <a:r>
              <a:rPr lang="en-US" sz="2000" err="1">
                <a:solidFill>
                  <a:srgbClr val="213547"/>
                </a:solidFill>
                <a:ea typeface="+mn-lt"/>
                <a:cs typeface="+mn-lt"/>
              </a:rPr>
              <a:t>Warum</a:t>
            </a:r>
            <a:r>
              <a:rPr lang="en-US" sz="2000">
                <a:solidFill>
                  <a:srgbClr val="213547"/>
                </a:solidFill>
                <a:ea typeface="+mn-lt"/>
                <a:cs typeface="+mn-lt"/>
              </a:rPr>
              <a:t> Flask-RESTX die </a:t>
            </a:r>
            <a:r>
              <a:rPr lang="en-US" sz="2000" err="1">
                <a:solidFill>
                  <a:srgbClr val="213547"/>
                </a:solidFill>
                <a:ea typeface="+mn-lt"/>
                <a:cs typeface="+mn-lt"/>
              </a:rPr>
              <a:t>ideale</a:t>
            </a:r>
            <a:r>
              <a:rPr lang="en-US" sz="2000">
                <a:solidFill>
                  <a:srgbClr val="213547"/>
                </a:solidFill>
                <a:ea typeface="+mn-lt"/>
                <a:cs typeface="+mn-lt"/>
              </a:rPr>
              <a:t> Wahl </a:t>
            </a:r>
            <a:r>
              <a:rPr lang="en-US" sz="2000" err="1">
                <a:solidFill>
                  <a:srgbClr val="213547"/>
                </a:solidFill>
                <a:ea typeface="+mn-lt"/>
                <a:cs typeface="+mn-lt"/>
              </a:rPr>
              <a:t>ist</a:t>
            </a:r>
            <a:endParaRPr lang="en-US" sz="2000">
              <a:ea typeface="Calibri"/>
              <a:cs typeface="Calibri"/>
            </a:endParaRPr>
          </a:p>
        </p:txBody>
      </p:sp>
      <p:sp>
        <p:nvSpPr>
          <p:cNvPr id="13" name="Shape 4">
            <a:extLst>
              <a:ext uri="{FF2B5EF4-FFF2-40B4-BE49-F238E27FC236}">
                <a16:creationId xmlns:a16="http://schemas.microsoft.com/office/drawing/2014/main" id="{03C24390-4490-814C-9700-3B62DD688C88}"/>
              </a:ext>
            </a:extLst>
          </p:cNvPr>
          <p:cNvSpPr/>
          <p:nvPr/>
        </p:nvSpPr>
        <p:spPr>
          <a:xfrm>
            <a:off x="548639" y="2657302"/>
            <a:ext cx="3103419" cy="3335778"/>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4" name="Text 7">
            <a:extLst>
              <a:ext uri="{FF2B5EF4-FFF2-40B4-BE49-F238E27FC236}">
                <a16:creationId xmlns:a16="http://schemas.microsoft.com/office/drawing/2014/main" id="{FA407549-2C62-5AEA-939D-5393E83DD189}"/>
              </a:ext>
            </a:extLst>
          </p:cNvPr>
          <p:cNvSpPr/>
          <p:nvPr/>
        </p:nvSpPr>
        <p:spPr>
          <a:xfrm>
            <a:off x="779614" y="2788920"/>
            <a:ext cx="3108960" cy="502920"/>
          </a:xfrm>
          <a:prstGeom prst="rect">
            <a:avLst/>
          </a:prstGeom>
          <a:noFill/>
          <a:ln/>
        </p:spPr>
        <p:txBody>
          <a:bodyPr wrap="square" lIns="0" tIns="0" rIns="0" bIns="0" rtlCol="0" anchor="t"/>
          <a:lstStyle/>
          <a:p>
            <a:endParaRPr lang="en-US" sz="2000" b="1" dirty="0">
              <a:solidFill>
                <a:srgbClr val="213547"/>
              </a:solidFill>
              <a:ea typeface="Calibri"/>
              <a:cs typeface="Calibri"/>
            </a:endParaRPr>
          </a:p>
        </p:txBody>
      </p:sp>
      <p:sp>
        <p:nvSpPr>
          <p:cNvPr id="16" name="Text 7">
            <a:extLst>
              <a:ext uri="{FF2B5EF4-FFF2-40B4-BE49-F238E27FC236}">
                <a16:creationId xmlns:a16="http://schemas.microsoft.com/office/drawing/2014/main" id="{AC447B97-A054-98A4-7763-86FE0E6B3258}"/>
              </a:ext>
            </a:extLst>
          </p:cNvPr>
          <p:cNvSpPr/>
          <p:nvPr/>
        </p:nvSpPr>
        <p:spPr>
          <a:xfrm>
            <a:off x="779615" y="2788920"/>
            <a:ext cx="2742804" cy="502920"/>
          </a:xfrm>
          <a:prstGeom prst="rect">
            <a:avLst/>
          </a:prstGeom>
          <a:noFill/>
          <a:ln/>
        </p:spPr>
        <p:txBody>
          <a:bodyPr wrap="square" lIns="0" tIns="0" rIns="0" bIns="0" rtlCol="0" anchor="t"/>
          <a:lstStyle/>
          <a:p>
            <a:r>
              <a:rPr lang="en-US" sz="2000" b="1" dirty="0" err="1">
                <a:solidFill>
                  <a:srgbClr val="213547"/>
                </a:solidFill>
                <a:ea typeface="+mn-lt"/>
                <a:cs typeface="+mn-lt"/>
              </a:rPr>
              <a:t>Typisierung</a:t>
            </a:r>
            <a:r>
              <a:rPr lang="en-US" sz="2000" b="1" dirty="0">
                <a:solidFill>
                  <a:srgbClr val="213547"/>
                </a:solidFill>
                <a:ea typeface="+mn-lt"/>
                <a:cs typeface="+mn-lt"/>
              </a:rPr>
              <a:t> &amp; </a:t>
            </a:r>
            <a:r>
              <a:rPr lang="en-US" sz="2000" b="1" dirty="0" err="1">
                <a:solidFill>
                  <a:srgbClr val="213547"/>
                </a:solidFill>
                <a:ea typeface="+mn-lt"/>
                <a:cs typeface="+mn-lt"/>
              </a:rPr>
              <a:t>Validierung</a:t>
            </a:r>
            <a:endParaRPr lang="en-US" dirty="0" err="1"/>
          </a:p>
        </p:txBody>
      </p:sp>
      <p:sp>
        <p:nvSpPr>
          <p:cNvPr id="18" name="Shape 4">
            <a:extLst>
              <a:ext uri="{FF2B5EF4-FFF2-40B4-BE49-F238E27FC236}">
                <a16:creationId xmlns:a16="http://schemas.microsoft.com/office/drawing/2014/main" id="{456761B5-23A8-6D19-13AE-B994271541FB}"/>
              </a:ext>
            </a:extLst>
          </p:cNvPr>
          <p:cNvSpPr/>
          <p:nvPr/>
        </p:nvSpPr>
        <p:spPr>
          <a:xfrm>
            <a:off x="3883625" y="2657301"/>
            <a:ext cx="3103419" cy="3335778"/>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9" name="Text 7">
            <a:extLst>
              <a:ext uri="{FF2B5EF4-FFF2-40B4-BE49-F238E27FC236}">
                <a16:creationId xmlns:a16="http://schemas.microsoft.com/office/drawing/2014/main" id="{7037AE22-BA56-2470-B9CD-9BAB79A53421}"/>
              </a:ext>
            </a:extLst>
          </p:cNvPr>
          <p:cNvSpPr/>
          <p:nvPr/>
        </p:nvSpPr>
        <p:spPr>
          <a:xfrm>
            <a:off x="4065121" y="2788920"/>
            <a:ext cx="2742804" cy="502920"/>
          </a:xfrm>
          <a:prstGeom prst="rect">
            <a:avLst/>
          </a:prstGeom>
          <a:noFill/>
          <a:ln/>
        </p:spPr>
        <p:txBody>
          <a:bodyPr wrap="square" lIns="0" tIns="0" rIns="0" bIns="0" rtlCol="0" anchor="t"/>
          <a:lstStyle/>
          <a:p>
            <a:r>
              <a:rPr lang="en-US" sz="2000" b="1" dirty="0" err="1">
                <a:solidFill>
                  <a:srgbClr val="213547"/>
                </a:solidFill>
                <a:ea typeface="+mn-lt"/>
                <a:cs typeface="+mn-lt"/>
              </a:rPr>
              <a:t>Automatisierte</a:t>
            </a:r>
            <a:r>
              <a:rPr lang="en-US" sz="2000" b="1" dirty="0">
                <a:solidFill>
                  <a:srgbClr val="213547"/>
                </a:solidFill>
                <a:ea typeface="+mn-lt"/>
                <a:cs typeface="+mn-lt"/>
              </a:rPr>
              <a:t> </a:t>
            </a:r>
            <a:r>
              <a:rPr lang="en-US" sz="2000" b="1" dirty="0" err="1">
                <a:solidFill>
                  <a:srgbClr val="213547"/>
                </a:solidFill>
                <a:ea typeface="+mn-lt"/>
                <a:cs typeface="+mn-lt"/>
              </a:rPr>
              <a:t>Dokumentation</a:t>
            </a:r>
            <a:endParaRPr lang="en-US" dirty="0" err="1"/>
          </a:p>
        </p:txBody>
      </p:sp>
      <p:sp>
        <p:nvSpPr>
          <p:cNvPr id="20" name="Text 8">
            <a:extLst>
              <a:ext uri="{FF2B5EF4-FFF2-40B4-BE49-F238E27FC236}">
                <a16:creationId xmlns:a16="http://schemas.microsoft.com/office/drawing/2014/main" id="{B4668E29-ED5B-1E09-C5A5-1E197BF3A9D5}"/>
              </a:ext>
            </a:extLst>
          </p:cNvPr>
          <p:cNvSpPr/>
          <p:nvPr/>
        </p:nvSpPr>
        <p:spPr>
          <a:xfrm>
            <a:off x="776481" y="3281680"/>
            <a:ext cx="2740660" cy="2377440"/>
          </a:xfrm>
          <a:prstGeom prst="rect">
            <a:avLst/>
          </a:prstGeom>
          <a:noFill/>
          <a:ln/>
        </p:spPr>
        <p:txBody>
          <a:bodyPr wrap="square" lIns="0" tIns="0" rIns="0" bIns="0" rtlCol="0" anchor="t"/>
          <a:lstStyle/>
          <a:p>
            <a:pPr marL="285750" indent="-285750">
              <a:buFont typeface="Arial"/>
              <a:buChar char="•"/>
            </a:pPr>
            <a:r>
              <a:rPr lang="en-US" sz="1400" dirty="0" err="1">
                <a:solidFill>
                  <a:srgbClr val="5A6A7A"/>
                </a:solidFill>
                <a:ea typeface="Calibri"/>
                <a:cs typeface="Calibri"/>
              </a:rPr>
              <a:t>Anpassungen</a:t>
            </a:r>
            <a:r>
              <a:rPr lang="en-US" sz="1400" dirty="0">
                <a:solidFill>
                  <a:srgbClr val="5A6A7A"/>
                </a:solidFill>
                <a:ea typeface="Calibri"/>
                <a:cs typeface="Calibri"/>
              </a:rPr>
              <a:t> an </a:t>
            </a:r>
            <a:r>
              <a:rPr lang="en-US" sz="1400" dirty="0" err="1">
                <a:solidFill>
                  <a:srgbClr val="5A6A7A"/>
                </a:solidFill>
                <a:ea typeface="Calibri"/>
                <a:cs typeface="Calibri"/>
              </a:rPr>
              <a:t>exakten</a:t>
            </a:r>
            <a:r>
              <a:rPr lang="en-US" sz="1400" dirty="0">
                <a:solidFill>
                  <a:srgbClr val="5A6A7A"/>
                </a:solidFill>
                <a:ea typeface="Calibri"/>
                <a:cs typeface="Calibri"/>
              </a:rPr>
              <a:t> JSON-Schema auf Python-Ebene</a:t>
            </a:r>
          </a:p>
          <a:p>
            <a:endParaRPr lang="en-US" sz="1400" dirty="0">
              <a:solidFill>
                <a:srgbClr val="5A6A7A"/>
              </a:solidFill>
              <a:ea typeface="Calibri"/>
              <a:cs typeface="Calibri"/>
            </a:endParaRPr>
          </a:p>
          <a:p>
            <a:pPr marL="285750" indent="-285750">
              <a:buFont typeface="Arial"/>
              <a:buChar char="•"/>
            </a:pPr>
            <a:r>
              <a:rPr lang="en-US" sz="1400" dirty="0">
                <a:solidFill>
                  <a:srgbClr val="5A6A7A"/>
                </a:solidFill>
                <a:ea typeface="Calibri"/>
                <a:cs typeface="Calibri"/>
              </a:rPr>
              <a:t>Fehler </a:t>
            </a:r>
            <a:r>
              <a:rPr lang="en-US" sz="1400" dirty="0" err="1">
                <a:solidFill>
                  <a:srgbClr val="5A6A7A"/>
                </a:solidFill>
                <a:ea typeface="Calibri"/>
                <a:cs typeface="Calibri"/>
              </a:rPr>
              <a:t>werden</a:t>
            </a:r>
            <a:r>
              <a:rPr lang="en-US" sz="1400" dirty="0">
                <a:solidFill>
                  <a:srgbClr val="5A6A7A"/>
                </a:solidFill>
                <a:ea typeface="Calibri"/>
                <a:cs typeface="Calibri"/>
              </a:rPr>
              <a:t> </a:t>
            </a:r>
            <a:r>
              <a:rPr lang="en-US" sz="1400" dirty="0" err="1">
                <a:solidFill>
                  <a:srgbClr val="5A6A7A"/>
                </a:solidFill>
                <a:ea typeface="Calibri"/>
                <a:cs typeface="Calibri"/>
              </a:rPr>
              <a:t>sofort</a:t>
            </a:r>
            <a:r>
              <a:rPr lang="en-US" sz="1400" dirty="0">
                <a:solidFill>
                  <a:srgbClr val="5A6A7A"/>
                </a:solidFill>
                <a:ea typeface="Calibri"/>
                <a:cs typeface="Calibri"/>
              </a:rPr>
              <a:t> auf Router-Ebene </a:t>
            </a:r>
            <a:r>
              <a:rPr lang="en-US" sz="1400" dirty="0" err="1">
                <a:solidFill>
                  <a:srgbClr val="5A6A7A"/>
                </a:solidFill>
                <a:ea typeface="Calibri"/>
                <a:cs typeface="Calibri"/>
              </a:rPr>
              <a:t>erkannt</a:t>
            </a:r>
          </a:p>
        </p:txBody>
      </p:sp>
      <p:sp>
        <p:nvSpPr>
          <p:cNvPr id="25" name="Text 8">
            <a:extLst>
              <a:ext uri="{FF2B5EF4-FFF2-40B4-BE49-F238E27FC236}">
                <a16:creationId xmlns:a16="http://schemas.microsoft.com/office/drawing/2014/main" id="{B65D7A1E-FB35-1378-65E8-7C8C9CCC9C94}"/>
              </a:ext>
            </a:extLst>
          </p:cNvPr>
          <p:cNvSpPr/>
          <p:nvPr/>
        </p:nvSpPr>
        <p:spPr>
          <a:xfrm>
            <a:off x="4065781" y="3548380"/>
            <a:ext cx="2740660" cy="22123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1400" dirty="0">
                <a:solidFill>
                  <a:srgbClr val="5A6A7A"/>
                </a:solidFill>
                <a:ea typeface="Calibri"/>
                <a:cs typeface="Calibri"/>
              </a:rPr>
              <a:t>Einsatz von </a:t>
            </a:r>
            <a:r>
              <a:rPr lang="en-US" sz="1400" dirty="0" err="1">
                <a:solidFill>
                  <a:srgbClr val="5A6A7A"/>
                </a:solidFill>
                <a:ea typeface="Calibri"/>
                <a:cs typeface="Calibri"/>
              </a:rPr>
              <a:t>SwaggerAPI</a:t>
            </a:r>
            <a:r>
              <a:rPr lang="en-US" sz="1400" dirty="0">
                <a:solidFill>
                  <a:srgbClr val="5A6A7A"/>
                </a:solidFill>
                <a:ea typeface="Calibri"/>
                <a:cs typeface="Calibri"/>
              </a:rPr>
              <a:t> und Namespaces</a:t>
            </a:r>
          </a:p>
          <a:p>
            <a:pPr marL="285750" indent="-285750">
              <a:buFont typeface="Arial"/>
              <a:buChar char="•"/>
            </a:pPr>
            <a:endParaRPr lang="en-US" sz="1400" dirty="0">
              <a:solidFill>
                <a:srgbClr val="5A6A7A"/>
              </a:solidFill>
              <a:ea typeface="Calibri"/>
              <a:cs typeface="Calibri"/>
            </a:endParaRPr>
          </a:p>
          <a:p>
            <a:pPr marL="285750" indent="-285750">
              <a:buFont typeface="Arial"/>
              <a:buChar char="•"/>
            </a:pPr>
            <a:r>
              <a:rPr lang="en-US" sz="1400" dirty="0">
                <a:solidFill>
                  <a:srgbClr val="5A6A7A"/>
                </a:solidFill>
                <a:ea typeface="+mn-lt"/>
                <a:cs typeface="+mn-lt"/>
              </a:rPr>
              <a:t>Es </a:t>
            </a:r>
            <a:r>
              <a:rPr lang="en-US" sz="1400" dirty="0" err="1">
                <a:solidFill>
                  <a:srgbClr val="5A6A7A"/>
                </a:solidFill>
                <a:ea typeface="+mn-lt"/>
                <a:cs typeface="+mn-lt"/>
              </a:rPr>
              <a:t>dokumentiert</a:t>
            </a:r>
            <a:r>
              <a:rPr lang="en-US" sz="1400" dirty="0">
                <a:solidFill>
                  <a:srgbClr val="5A6A7A"/>
                </a:solidFill>
                <a:ea typeface="+mn-lt"/>
                <a:cs typeface="+mn-lt"/>
              </a:rPr>
              <a:t> </a:t>
            </a:r>
            <a:r>
              <a:rPr lang="en-US" sz="1400" dirty="0" err="1">
                <a:solidFill>
                  <a:srgbClr val="5A6A7A"/>
                </a:solidFill>
                <a:ea typeface="+mn-lt"/>
                <a:cs typeface="+mn-lt"/>
              </a:rPr>
              <a:t>sich</a:t>
            </a:r>
            <a:r>
              <a:rPr lang="en-US" sz="1400" dirty="0">
                <a:solidFill>
                  <a:srgbClr val="5A6A7A"/>
                </a:solidFill>
                <a:ea typeface="+mn-lt"/>
                <a:cs typeface="+mn-lt"/>
              </a:rPr>
              <a:t> </a:t>
            </a:r>
            <a:r>
              <a:rPr lang="en-US" sz="1400" dirty="0" err="1">
                <a:solidFill>
                  <a:srgbClr val="5A6A7A"/>
                </a:solidFill>
                <a:ea typeface="+mn-lt"/>
                <a:cs typeface="+mn-lt"/>
              </a:rPr>
              <a:t>selbst</a:t>
            </a:r>
            <a:endParaRPr lang="en-US" sz="1400" dirty="0" err="1">
              <a:solidFill>
                <a:srgbClr val="5A6A7A"/>
              </a:solidFill>
              <a:ea typeface="Calibri"/>
              <a:cs typeface="Calibri"/>
            </a:endParaRPr>
          </a:p>
        </p:txBody>
      </p:sp>
    </p:spTree>
    <p:extLst>
      <p:ext uri="{BB962C8B-B14F-4D97-AF65-F5344CB8AC3E}">
        <p14:creationId xmlns:p14="http://schemas.microsoft.com/office/powerpoint/2010/main" val="2011559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DEDCA4EC-CC9B-19EC-8D4B-ECD1D2FBD9F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89D01FC-7D56-3E3C-14BA-25D7E655D377}"/>
              </a:ext>
            </a:extLst>
          </p:cNvPr>
          <p:cNvSpPr/>
          <p:nvPr/>
        </p:nvSpPr>
        <p:spPr>
          <a:xfrm>
            <a:off x="548640" y="502920"/>
            <a:ext cx="164592" cy="164592"/>
          </a:xfrm>
          <a:prstGeom prst="ellipse">
            <a:avLst/>
          </a:prstGeom>
          <a:solidFill>
            <a:srgbClr val="2ABB9B"/>
          </a:solidFill>
          <a:ln w="12700">
            <a:solidFill>
              <a:srgbClr val="2ABB9B"/>
            </a:solidFill>
            <a:prstDash val="solid"/>
          </a:ln>
        </p:spPr>
        <p:txBody>
          <a:bodyPr/>
          <a:lstStyle/>
          <a:p>
            <a:endParaRPr lang="de-DE"/>
          </a:p>
        </p:txBody>
      </p:sp>
      <p:sp>
        <p:nvSpPr>
          <p:cNvPr id="3" name="Text 1">
            <a:extLst>
              <a:ext uri="{FF2B5EF4-FFF2-40B4-BE49-F238E27FC236}">
                <a16:creationId xmlns:a16="http://schemas.microsoft.com/office/drawing/2014/main" id="{31EFC5FC-79D6-1EED-7C5D-2A272F5FF036}"/>
              </a:ext>
            </a:extLst>
          </p:cNvPr>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2ABB9B"/>
                </a:solidFill>
                <a:latin typeface="Calibri" pitchFamily="34" charset="0"/>
                <a:ea typeface="Calibri" pitchFamily="34" charset="-122"/>
                <a:cs typeface="Calibri" pitchFamily="34" charset="-120"/>
              </a:rPr>
              <a:t>BACKEND</a:t>
            </a:r>
            <a:endParaRPr lang="en-US" sz="1100"/>
          </a:p>
        </p:txBody>
      </p:sp>
      <p:sp>
        <p:nvSpPr>
          <p:cNvPr id="4" name="Text 2">
            <a:extLst>
              <a:ext uri="{FF2B5EF4-FFF2-40B4-BE49-F238E27FC236}">
                <a16:creationId xmlns:a16="http://schemas.microsoft.com/office/drawing/2014/main" id="{E4701A22-6615-70A5-BF5C-1025797B5A2E}"/>
              </a:ext>
            </a:extLst>
          </p:cNvPr>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pitchFamily="34" charset="0"/>
                <a:ea typeface="Calibri" pitchFamily="34" charset="-122"/>
                <a:cs typeface="Calibri" pitchFamily="34" charset="-120"/>
              </a:rPr>
              <a:t>Marco</a:t>
            </a:r>
            <a:endParaRPr lang="en-US" sz="1100"/>
          </a:p>
        </p:txBody>
      </p:sp>
      <p:sp>
        <p:nvSpPr>
          <p:cNvPr id="5" name="Text 3">
            <a:extLst>
              <a:ext uri="{FF2B5EF4-FFF2-40B4-BE49-F238E27FC236}">
                <a16:creationId xmlns:a16="http://schemas.microsoft.com/office/drawing/2014/main" id="{15B079A8-FC86-CD85-BE58-605A423CDF27}"/>
              </a:ext>
            </a:extLst>
          </p:cNvPr>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Was macht das Backend</a:t>
            </a:r>
            <a:endParaRPr lang="en-US" sz="4000"/>
          </a:p>
        </p:txBody>
      </p:sp>
      <p:sp>
        <p:nvSpPr>
          <p:cNvPr id="6" name="Shape 4">
            <a:extLst>
              <a:ext uri="{FF2B5EF4-FFF2-40B4-BE49-F238E27FC236}">
                <a16:creationId xmlns:a16="http://schemas.microsoft.com/office/drawing/2014/main" id="{3026E366-660D-9DC8-36D5-EF476F47D1F3}"/>
              </a:ext>
            </a:extLst>
          </p:cNvPr>
          <p:cNvSpPr/>
          <p:nvPr/>
        </p:nvSpPr>
        <p:spPr>
          <a:xfrm>
            <a:off x="5486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7" name="Shape 5">
            <a:extLst>
              <a:ext uri="{FF2B5EF4-FFF2-40B4-BE49-F238E27FC236}">
                <a16:creationId xmlns:a16="http://schemas.microsoft.com/office/drawing/2014/main" id="{48BB0A7A-E0A3-B805-6769-8165660307D5}"/>
              </a:ext>
            </a:extLst>
          </p:cNvPr>
          <p:cNvSpPr/>
          <p:nvPr/>
        </p:nvSpPr>
        <p:spPr>
          <a:xfrm>
            <a:off x="868680" y="2423160"/>
            <a:ext cx="164592" cy="164592"/>
          </a:xfrm>
          <a:prstGeom prst="ellipse">
            <a:avLst/>
          </a:prstGeom>
          <a:solidFill>
            <a:srgbClr val="2ABB9B"/>
          </a:solidFill>
          <a:ln w="12700">
            <a:solidFill>
              <a:srgbClr val="2ABB9B"/>
            </a:solidFill>
            <a:prstDash val="solid"/>
          </a:ln>
        </p:spPr>
        <p:txBody>
          <a:bodyPr/>
          <a:lstStyle/>
          <a:p>
            <a:endParaRPr lang="de-DE"/>
          </a:p>
        </p:txBody>
      </p:sp>
      <p:sp>
        <p:nvSpPr>
          <p:cNvPr id="8" name="Text 6">
            <a:extLst>
              <a:ext uri="{FF2B5EF4-FFF2-40B4-BE49-F238E27FC236}">
                <a16:creationId xmlns:a16="http://schemas.microsoft.com/office/drawing/2014/main" id="{2F73BD95-F845-5022-4F7D-4D1EF30AFC4A}"/>
              </a:ext>
            </a:extLst>
          </p:cNvPr>
          <p:cNvSpPr/>
          <p:nvPr/>
        </p:nvSpPr>
        <p:spPr>
          <a:xfrm>
            <a:off x="1097280" y="2377440"/>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1</a:t>
            </a:r>
            <a:endParaRPr lang="en-US" sz="1000"/>
          </a:p>
        </p:txBody>
      </p:sp>
      <p:sp>
        <p:nvSpPr>
          <p:cNvPr id="9" name="Text 7">
            <a:extLst>
              <a:ext uri="{FF2B5EF4-FFF2-40B4-BE49-F238E27FC236}">
                <a16:creationId xmlns:a16="http://schemas.microsoft.com/office/drawing/2014/main" id="{F5D71F99-DF26-430E-D49E-DE80A6ABC8D0}"/>
              </a:ext>
            </a:extLst>
          </p:cNvPr>
          <p:cNvSpPr/>
          <p:nvPr/>
        </p:nvSpPr>
        <p:spPr>
          <a:xfrm>
            <a:off x="868680"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Frage empfangen</a:t>
            </a:r>
            <a:endParaRPr lang="en-US" sz="2000"/>
          </a:p>
        </p:txBody>
      </p:sp>
      <p:sp>
        <p:nvSpPr>
          <p:cNvPr id="10" name="Text 8">
            <a:extLst>
              <a:ext uri="{FF2B5EF4-FFF2-40B4-BE49-F238E27FC236}">
                <a16:creationId xmlns:a16="http://schemas.microsoft.com/office/drawing/2014/main" id="{7310F5C3-E6B6-F3A6-1BE6-406122801021}"/>
              </a:ext>
            </a:extLst>
          </p:cNvPr>
          <p:cNvSpPr/>
          <p:nvPr/>
        </p:nvSpPr>
        <p:spPr>
          <a:xfrm>
            <a:off x="868680" y="3383280"/>
            <a:ext cx="3108960" cy="2377440"/>
          </a:xfrm>
          <a:prstGeom prst="rect">
            <a:avLst/>
          </a:prstGeom>
          <a:noFill/>
          <a:ln/>
        </p:spPr>
        <p:txBody>
          <a:bodyPr wrap="square" lIns="0" tIns="0" rIns="0" bIns="0" rtlCol="0" anchor="t"/>
          <a:lstStyle/>
          <a:p>
            <a:r>
              <a:rPr lang="en-US" sz="1400" dirty="0">
                <a:solidFill>
                  <a:srgbClr val="5A6A7A"/>
                </a:solidFill>
                <a:ea typeface="+mn-lt"/>
                <a:cs typeface="+mn-lt"/>
              </a:rPr>
              <a:t>Die Website (Frontend) </a:t>
            </a:r>
            <a:r>
              <a:rPr lang="en-US" sz="1400" dirty="0" err="1">
                <a:solidFill>
                  <a:srgbClr val="5A6A7A"/>
                </a:solidFill>
                <a:ea typeface="+mn-lt"/>
                <a:cs typeface="+mn-lt"/>
              </a:rPr>
              <a:t>sendet</a:t>
            </a:r>
            <a:r>
              <a:rPr lang="en-US" sz="1400" dirty="0">
                <a:solidFill>
                  <a:srgbClr val="5A6A7A"/>
                </a:solidFill>
                <a:ea typeface="+mn-lt"/>
                <a:cs typeface="+mn-lt"/>
              </a:rPr>
              <a:t> </a:t>
            </a:r>
            <a:r>
              <a:rPr lang="en-US" sz="1400" dirty="0" err="1">
                <a:solidFill>
                  <a:srgbClr val="5A6A7A"/>
                </a:solidFill>
                <a:ea typeface="+mn-lt"/>
                <a:cs typeface="+mn-lt"/>
              </a:rPr>
              <a:t>eine</a:t>
            </a:r>
            <a:r>
              <a:rPr lang="en-US" sz="1400" dirty="0">
                <a:solidFill>
                  <a:srgbClr val="5A6A7A"/>
                </a:solidFill>
                <a:ea typeface="+mn-lt"/>
                <a:cs typeface="+mn-lt"/>
              </a:rPr>
              <a:t> HTTP-</a:t>
            </a:r>
            <a:r>
              <a:rPr lang="en-US" sz="1400" dirty="0" err="1">
                <a:solidFill>
                  <a:srgbClr val="5A6A7A"/>
                </a:solidFill>
                <a:ea typeface="+mn-lt"/>
                <a:cs typeface="+mn-lt"/>
              </a:rPr>
              <a:t>Anfrage</a:t>
            </a:r>
            <a:r>
              <a:rPr lang="en-US" sz="1400" dirty="0">
                <a:solidFill>
                  <a:srgbClr val="5A6A7A"/>
                </a:solidFill>
                <a:ea typeface="+mn-lt"/>
                <a:cs typeface="+mn-lt"/>
              </a:rPr>
              <a:t> an das Backend – </a:t>
            </a:r>
            <a:r>
              <a:rPr lang="en-US" sz="1400" dirty="0" err="1">
                <a:solidFill>
                  <a:srgbClr val="5A6A7A"/>
                </a:solidFill>
                <a:ea typeface="+mn-lt"/>
                <a:cs typeface="+mn-lt"/>
              </a:rPr>
              <a:t>beispielsweise</a:t>
            </a:r>
            <a:r>
              <a:rPr lang="en-US" sz="1400" dirty="0">
                <a:solidFill>
                  <a:srgbClr val="5A6A7A"/>
                </a:solidFill>
                <a:ea typeface="+mn-lt"/>
                <a:cs typeface="+mn-lt"/>
              </a:rPr>
              <a:t>, um </a:t>
            </a:r>
            <a:r>
              <a:rPr lang="en-US" sz="1400" dirty="0" err="1">
                <a:solidFill>
                  <a:srgbClr val="5A6A7A"/>
                </a:solidFill>
                <a:ea typeface="+mn-lt"/>
                <a:cs typeface="+mn-lt"/>
              </a:rPr>
              <a:t>einen</a:t>
            </a:r>
            <a:r>
              <a:rPr lang="en-US" sz="1400" dirty="0">
                <a:solidFill>
                  <a:srgbClr val="5A6A7A"/>
                </a:solidFill>
                <a:ea typeface="+mn-lt"/>
                <a:cs typeface="+mn-lt"/>
              </a:rPr>
              <a:t> </a:t>
            </a:r>
            <a:r>
              <a:rPr lang="en-US" sz="1400" dirty="0" err="1">
                <a:solidFill>
                  <a:srgbClr val="5A6A7A"/>
                </a:solidFill>
                <a:ea typeface="+mn-lt"/>
                <a:cs typeface="+mn-lt"/>
              </a:rPr>
              <a:t>bestimmten</a:t>
            </a:r>
            <a:r>
              <a:rPr lang="en-US" sz="1400" dirty="0">
                <a:solidFill>
                  <a:srgbClr val="5A6A7A"/>
                </a:solidFill>
                <a:ea typeface="+mn-lt"/>
                <a:cs typeface="+mn-lt"/>
              </a:rPr>
              <a:t> Kurs </a:t>
            </a:r>
            <a:r>
              <a:rPr lang="en-US" sz="1400" dirty="0" err="1">
                <a:solidFill>
                  <a:srgbClr val="5A6A7A"/>
                </a:solidFill>
                <a:ea typeface="+mn-lt"/>
                <a:cs typeface="+mn-lt"/>
              </a:rPr>
              <a:t>über</a:t>
            </a:r>
            <a:r>
              <a:rPr lang="en-US" sz="1400" dirty="0">
                <a:solidFill>
                  <a:srgbClr val="5A6A7A"/>
                </a:solidFill>
                <a:ea typeface="+mn-lt"/>
                <a:cs typeface="+mn-lt"/>
              </a:rPr>
              <a:t> /courses/1 </a:t>
            </a:r>
            <a:r>
              <a:rPr lang="en-US" sz="1400" dirty="0" err="1">
                <a:solidFill>
                  <a:srgbClr val="5A6A7A"/>
                </a:solidFill>
                <a:ea typeface="+mn-lt"/>
                <a:cs typeface="+mn-lt"/>
              </a:rPr>
              <a:t>oder</a:t>
            </a:r>
            <a:r>
              <a:rPr lang="en-US" sz="1400" dirty="0">
                <a:solidFill>
                  <a:srgbClr val="5A6A7A"/>
                </a:solidFill>
                <a:ea typeface="+mn-lt"/>
                <a:cs typeface="+mn-lt"/>
              </a:rPr>
              <a:t> </a:t>
            </a:r>
            <a:r>
              <a:rPr lang="en-US" sz="1400" dirty="0" err="1">
                <a:solidFill>
                  <a:srgbClr val="5A6A7A"/>
                </a:solidFill>
                <a:ea typeface="+mn-lt"/>
                <a:cs typeface="+mn-lt"/>
              </a:rPr>
              <a:t>einen</a:t>
            </a:r>
            <a:r>
              <a:rPr lang="en-US" sz="1400" dirty="0">
                <a:solidFill>
                  <a:srgbClr val="5A6A7A"/>
                </a:solidFill>
                <a:ea typeface="+mn-lt"/>
                <a:cs typeface="+mn-lt"/>
              </a:rPr>
              <a:t> </a:t>
            </a:r>
            <a:r>
              <a:rPr lang="en-US" sz="1400" dirty="0" err="1">
                <a:solidFill>
                  <a:srgbClr val="5A6A7A"/>
                </a:solidFill>
                <a:ea typeface="+mn-lt"/>
                <a:cs typeface="+mn-lt"/>
              </a:rPr>
              <a:t>Benutzer</a:t>
            </a:r>
            <a:r>
              <a:rPr lang="en-US" sz="1400" dirty="0">
                <a:solidFill>
                  <a:srgbClr val="5A6A7A"/>
                </a:solidFill>
                <a:ea typeface="+mn-lt"/>
                <a:cs typeface="+mn-lt"/>
              </a:rPr>
              <a:t> </a:t>
            </a:r>
            <a:r>
              <a:rPr lang="en-US" sz="1400" dirty="0" err="1">
                <a:solidFill>
                  <a:srgbClr val="5A6A7A"/>
                </a:solidFill>
                <a:ea typeface="+mn-lt"/>
                <a:cs typeface="+mn-lt"/>
              </a:rPr>
              <a:t>über</a:t>
            </a:r>
            <a:r>
              <a:rPr lang="en-US" sz="1400" dirty="0">
                <a:solidFill>
                  <a:srgbClr val="5A6A7A"/>
                </a:solidFill>
                <a:ea typeface="+mn-lt"/>
                <a:cs typeface="+mn-lt"/>
              </a:rPr>
              <a:t> /users/UUID </a:t>
            </a:r>
            <a:r>
              <a:rPr lang="en-US" sz="1400" dirty="0" err="1">
                <a:solidFill>
                  <a:srgbClr val="5A6A7A"/>
                </a:solidFill>
                <a:ea typeface="+mn-lt"/>
                <a:cs typeface="+mn-lt"/>
              </a:rPr>
              <a:t>abzufragen</a:t>
            </a:r>
            <a:endParaRPr lang="en-US" dirty="0" err="1"/>
          </a:p>
        </p:txBody>
      </p:sp>
      <p:sp>
        <p:nvSpPr>
          <p:cNvPr id="11" name="Shape 9">
            <a:extLst>
              <a:ext uri="{FF2B5EF4-FFF2-40B4-BE49-F238E27FC236}">
                <a16:creationId xmlns:a16="http://schemas.microsoft.com/office/drawing/2014/main" id="{38EF0118-743A-1CCD-0AB1-72530FE9373D}"/>
              </a:ext>
            </a:extLst>
          </p:cNvPr>
          <p:cNvSpPr/>
          <p:nvPr/>
        </p:nvSpPr>
        <p:spPr>
          <a:xfrm>
            <a:off x="44348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2" name="Shape 10">
            <a:extLst>
              <a:ext uri="{FF2B5EF4-FFF2-40B4-BE49-F238E27FC236}">
                <a16:creationId xmlns:a16="http://schemas.microsoft.com/office/drawing/2014/main" id="{DEF571DF-BB69-49E3-A7F6-D7487AB7C64D}"/>
              </a:ext>
            </a:extLst>
          </p:cNvPr>
          <p:cNvSpPr/>
          <p:nvPr/>
        </p:nvSpPr>
        <p:spPr>
          <a:xfrm>
            <a:off x="4754880" y="2423160"/>
            <a:ext cx="164592" cy="164592"/>
          </a:xfrm>
          <a:prstGeom prst="ellipse">
            <a:avLst/>
          </a:prstGeom>
          <a:solidFill>
            <a:srgbClr val="2ABB9B"/>
          </a:solidFill>
          <a:ln w="12700">
            <a:solidFill>
              <a:srgbClr val="2ABB9B"/>
            </a:solidFill>
            <a:prstDash val="solid"/>
          </a:ln>
        </p:spPr>
        <p:txBody>
          <a:bodyPr/>
          <a:lstStyle/>
          <a:p>
            <a:endParaRPr lang="de-DE"/>
          </a:p>
        </p:txBody>
      </p:sp>
      <p:sp>
        <p:nvSpPr>
          <p:cNvPr id="13" name="Text 11">
            <a:extLst>
              <a:ext uri="{FF2B5EF4-FFF2-40B4-BE49-F238E27FC236}">
                <a16:creationId xmlns:a16="http://schemas.microsoft.com/office/drawing/2014/main" id="{143B0558-E7EC-6769-4D8D-66D518CD3308}"/>
              </a:ext>
            </a:extLst>
          </p:cNvPr>
          <p:cNvSpPr/>
          <p:nvPr/>
        </p:nvSpPr>
        <p:spPr>
          <a:xfrm>
            <a:off x="4983480" y="2377440"/>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2</a:t>
            </a:r>
            <a:endParaRPr lang="en-US" sz="1000"/>
          </a:p>
        </p:txBody>
      </p:sp>
      <p:sp>
        <p:nvSpPr>
          <p:cNvPr id="14" name="Text 12">
            <a:extLst>
              <a:ext uri="{FF2B5EF4-FFF2-40B4-BE49-F238E27FC236}">
                <a16:creationId xmlns:a16="http://schemas.microsoft.com/office/drawing/2014/main" id="{E97740E7-5195-A45D-E5C9-538035D58616}"/>
              </a:ext>
            </a:extLst>
          </p:cNvPr>
          <p:cNvSpPr/>
          <p:nvPr/>
        </p:nvSpPr>
        <p:spPr>
          <a:xfrm>
            <a:off x="4754880"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Daten holen</a:t>
            </a:r>
            <a:endParaRPr lang="en-US" sz="2000"/>
          </a:p>
        </p:txBody>
      </p:sp>
      <p:sp>
        <p:nvSpPr>
          <p:cNvPr id="15" name="Text 13">
            <a:extLst>
              <a:ext uri="{FF2B5EF4-FFF2-40B4-BE49-F238E27FC236}">
                <a16:creationId xmlns:a16="http://schemas.microsoft.com/office/drawing/2014/main" id="{8DE6DA0E-A7C0-ABC3-FC0E-881F3629E6EF}"/>
              </a:ext>
            </a:extLst>
          </p:cNvPr>
          <p:cNvSpPr/>
          <p:nvPr/>
        </p:nvSpPr>
        <p:spPr>
          <a:xfrm>
            <a:off x="4754880" y="3383280"/>
            <a:ext cx="3108960" cy="2377440"/>
          </a:xfrm>
          <a:prstGeom prst="rect">
            <a:avLst/>
          </a:prstGeom>
          <a:noFill/>
          <a:ln/>
        </p:spPr>
        <p:txBody>
          <a:bodyPr wrap="square" lIns="0" tIns="0" rIns="0" bIns="0" rtlCol="0" anchor="t"/>
          <a:lstStyle/>
          <a:p>
            <a:r>
              <a:rPr lang="en-US" sz="1400" dirty="0">
                <a:solidFill>
                  <a:srgbClr val="5A6A7A"/>
                </a:solidFill>
                <a:ea typeface="+mn-lt"/>
                <a:cs typeface="+mn-lt"/>
              </a:rPr>
              <a:t>Das Python-Backend </a:t>
            </a:r>
            <a:r>
              <a:rPr lang="en-US" sz="1400" dirty="0" err="1">
                <a:solidFill>
                  <a:srgbClr val="5A6A7A"/>
                </a:solidFill>
                <a:ea typeface="+mn-lt"/>
                <a:cs typeface="+mn-lt"/>
              </a:rPr>
              <a:t>kommuniziert</a:t>
            </a:r>
            <a:r>
              <a:rPr lang="en-US" sz="1400" dirty="0">
                <a:solidFill>
                  <a:srgbClr val="5A6A7A"/>
                </a:solidFill>
                <a:ea typeface="+mn-lt"/>
                <a:cs typeface="+mn-lt"/>
              </a:rPr>
              <a:t> </a:t>
            </a:r>
            <a:r>
              <a:rPr lang="en-US" sz="1400" dirty="0" err="1">
                <a:solidFill>
                  <a:srgbClr val="5A6A7A"/>
                </a:solidFill>
                <a:ea typeface="+mn-lt"/>
                <a:cs typeface="+mn-lt"/>
              </a:rPr>
              <a:t>mit</a:t>
            </a:r>
            <a:r>
              <a:rPr lang="en-US" sz="1400" dirty="0">
                <a:solidFill>
                  <a:srgbClr val="5A6A7A"/>
                </a:solidFill>
                <a:ea typeface="+mn-lt"/>
                <a:cs typeface="+mn-lt"/>
              </a:rPr>
              <a:t> dem Datenbankcontainer, um die angeforderten Datensätze abzurufen.</a:t>
            </a:r>
            <a:endParaRPr lang="en-US" dirty="0">
              <a:ea typeface="+mn-lt"/>
              <a:cs typeface="+mn-lt"/>
            </a:endParaRPr>
          </a:p>
        </p:txBody>
      </p:sp>
      <p:sp>
        <p:nvSpPr>
          <p:cNvPr id="16" name="Shape 14">
            <a:extLst>
              <a:ext uri="{FF2B5EF4-FFF2-40B4-BE49-F238E27FC236}">
                <a16:creationId xmlns:a16="http://schemas.microsoft.com/office/drawing/2014/main" id="{53693583-829D-4E3B-A509-D3FE24526784}"/>
              </a:ext>
            </a:extLst>
          </p:cNvPr>
          <p:cNvSpPr/>
          <p:nvPr/>
        </p:nvSpPr>
        <p:spPr>
          <a:xfrm>
            <a:off x="83210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7" name="Shape 15">
            <a:extLst>
              <a:ext uri="{FF2B5EF4-FFF2-40B4-BE49-F238E27FC236}">
                <a16:creationId xmlns:a16="http://schemas.microsoft.com/office/drawing/2014/main" id="{B52B0B6E-C521-8469-A9BF-ED4628620AE2}"/>
              </a:ext>
            </a:extLst>
          </p:cNvPr>
          <p:cNvSpPr/>
          <p:nvPr/>
        </p:nvSpPr>
        <p:spPr>
          <a:xfrm>
            <a:off x="8641080" y="2423160"/>
            <a:ext cx="164592" cy="164592"/>
          </a:xfrm>
          <a:prstGeom prst="ellipse">
            <a:avLst/>
          </a:prstGeom>
          <a:solidFill>
            <a:srgbClr val="2ABB9B"/>
          </a:solidFill>
          <a:ln w="12700">
            <a:solidFill>
              <a:srgbClr val="2ABB9B"/>
            </a:solidFill>
            <a:prstDash val="solid"/>
          </a:ln>
        </p:spPr>
        <p:txBody>
          <a:bodyPr/>
          <a:lstStyle/>
          <a:p>
            <a:endParaRPr lang="de-DE"/>
          </a:p>
        </p:txBody>
      </p:sp>
      <p:sp>
        <p:nvSpPr>
          <p:cNvPr id="18" name="Text 16">
            <a:extLst>
              <a:ext uri="{FF2B5EF4-FFF2-40B4-BE49-F238E27FC236}">
                <a16:creationId xmlns:a16="http://schemas.microsoft.com/office/drawing/2014/main" id="{5E6B38B4-2FD2-D635-2EB2-089B4964D6B9}"/>
              </a:ext>
            </a:extLst>
          </p:cNvPr>
          <p:cNvSpPr/>
          <p:nvPr/>
        </p:nvSpPr>
        <p:spPr>
          <a:xfrm>
            <a:off x="8869680" y="2377440"/>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3</a:t>
            </a:r>
            <a:endParaRPr lang="en-US" sz="1000"/>
          </a:p>
        </p:txBody>
      </p:sp>
      <p:sp>
        <p:nvSpPr>
          <p:cNvPr id="19" name="Text 17">
            <a:extLst>
              <a:ext uri="{FF2B5EF4-FFF2-40B4-BE49-F238E27FC236}">
                <a16:creationId xmlns:a16="http://schemas.microsoft.com/office/drawing/2014/main" id="{23D5F619-7E5B-B857-9665-657429456DB6}"/>
              </a:ext>
            </a:extLst>
          </p:cNvPr>
          <p:cNvSpPr/>
          <p:nvPr/>
        </p:nvSpPr>
        <p:spPr>
          <a:xfrm>
            <a:off x="8641080"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Antwort schicken</a:t>
            </a:r>
            <a:endParaRPr lang="en-US" sz="2000"/>
          </a:p>
        </p:txBody>
      </p:sp>
      <p:sp>
        <p:nvSpPr>
          <p:cNvPr id="20" name="Text 18">
            <a:extLst>
              <a:ext uri="{FF2B5EF4-FFF2-40B4-BE49-F238E27FC236}">
                <a16:creationId xmlns:a16="http://schemas.microsoft.com/office/drawing/2014/main" id="{CF4BAD9A-906C-C1E5-086D-F41D9CB1057F}"/>
              </a:ext>
            </a:extLst>
          </p:cNvPr>
          <p:cNvSpPr/>
          <p:nvPr/>
        </p:nvSpPr>
        <p:spPr>
          <a:xfrm>
            <a:off x="8641080" y="3383280"/>
            <a:ext cx="3108960" cy="2377440"/>
          </a:xfrm>
          <a:prstGeom prst="rect">
            <a:avLst/>
          </a:prstGeom>
          <a:noFill/>
          <a:ln/>
        </p:spPr>
        <p:txBody>
          <a:bodyPr wrap="square" lIns="0" tIns="0" rIns="0" bIns="0" rtlCol="0" anchor="t"/>
          <a:lstStyle/>
          <a:p>
            <a:r>
              <a:rPr lang="en-US" sz="1400">
                <a:solidFill>
                  <a:srgbClr val="5A6A7A"/>
                </a:solidFill>
                <a:ea typeface="+mn-lt"/>
                <a:cs typeface="+mn-lt"/>
              </a:rPr>
              <a:t>Das Backend verpackt die abgerufene Datenbankzeile und sendet sie als saubere JSON-Antwort an das Frontend zurück.</a:t>
            </a:r>
            <a:endParaRPr lang="en-US">
              <a:ea typeface="+mn-lt"/>
              <a:cs typeface="+mn-lt"/>
            </a:endParaRPr>
          </a:p>
        </p:txBody>
      </p:sp>
      <p:sp>
        <p:nvSpPr>
          <p:cNvPr id="21" name="Text 19">
            <a:extLst>
              <a:ext uri="{FF2B5EF4-FFF2-40B4-BE49-F238E27FC236}">
                <a16:creationId xmlns:a16="http://schemas.microsoft.com/office/drawing/2014/main" id="{FF19A331-E561-0DA8-4471-6D0E190CCA5F}"/>
              </a:ext>
            </a:extLst>
          </p:cNvPr>
          <p:cNvSpPr/>
          <p:nvPr/>
        </p:nvSpPr>
        <p:spPr>
          <a:xfrm>
            <a:off x="548640" y="5989320"/>
            <a:ext cx="11064240" cy="365760"/>
          </a:xfrm>
          <a:prstGeom prst="rect">
            <a:avLst/>
          </a:prstGeom>
          <a:noFill/>
          <a:ln/>
        </p:spPr>
        <p:txBody>
          <a:bodyPr wrap="square" lIns="0" tIns="0" rIns="0" bIns="0" rtlCol="0" anchor="ctr"/>
          <a:lstStyle/>
          <a:p>
            <a:pPr marL="0" indent="0" algn="ctr">
              <a:buNone/>
            </a:pPr>
            <a:r>
              <a:rPr lang="en-US" sz="1400" i="1">
                <a:solidFill>
                  <a:srgbClr val="8C97A1"/>
                </a:solidFill>
                <a:latin typeface="Calibri" pitchFamily="34" charset="0"/>
                <a:ea typeface="Calibri" pitchFamily="34" charset="-122"/>
                <a:cs typeface="Calibri" pitchFamily="34" charset="-120"/>
              </a:rPr>
              <a:t>Gebaut mit Python und einer Bibliothek namens Flask. Schlank und gut zu lesen.</a:t>
            </a:r>
            <a:endParaRPr lang="en-US" sz="1400"/>
          </a:p>
        </p:txBody>
      </p:sp>
      <p:sp>
        <p:nvSpPr>
          <p:cNvPr id="22" name="Shape 20">
            <a:extLst>
              <a:ext uri="{FF2B5EF4-FFF2-40B4-BE49-F238E27FC236}">
                <a16:creationId xmlns:a16="http://schemas.microsoft.com/office/drawing/2014/main" id="{1B5EB575-A004-4434-8775-A74CFB16B017}"/>
              </a:ext>
            </a:extLst>
          </p:cNvPr>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23" name="Text 21">
            <a:extLst>
              <a:ext uri="{FF2B5EF4-FFF2-40B4-BE49-F238E27FC236}">
                <a16:creationId xmlns:a16="http://schemas.microsoft.com/office/drawing/2014/main" id="{13DB69E7-AEB1-17F2-7799-4E25C2C4E06E}"/>
              </a:ext>
            </a:extLst>
          </p:cNvPr>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4" name="Text 22">
            <a:extLst>
              <a:ext uri="{FF2B5EF4-FFF2-40B4-BE49-F238E27FC236}">
                <a16:creationId xmlns:a16="http://schemas.microsoft.com/office/drawing/2014/main" id="{CB2B44FB-7F28-29A6-D853-BDB2992AFE50}"/>
              </a:ext>
            </a:extLst>
          </p:cNvPr>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9 / 16</a:t>
            </a:r>
            <a:endParaRPr lang="en-US" sz="1000"/>
          </a:p>
        </p:txBody>
      </p:sp>
    </p:spTree>
    <p:extLst>
      <p:ext uri="{BB962C8B-B14F-4D97-AF65-F5344CB8AC3E}">
        <p14:creationId xmlns:p14="http://schemas.microsoft.com/office/powerpoint/2010/main" val="2451121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E25C97BB-DA4D-BAB7-C7B1-8888192F46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FDB9E1B-4CFA-75A1-4E95-BBAB0E0219B5}"/>
              </a:ext>
            </a:extLst>
          </p:cNvPr>
          <p:cNvSpPr/>
          <p:nvPr/>
        </p:nvSpPr>
        <p:spPr>
          <a:xfrm>
            <a:off x="548640" y="502920"/>
            <a:ext cx="164592" cy="164592"/>
          </a:xfrm>
          <a:prstGeom prst="ellipse">
            <a:avLst/>
          </a:prstGeom>
          <a:solidFill>
            <a:srgbClr val="2ABB9B"/>
          </a:solidFill>
          <a:ln w="12700">
            <a:solidFill>
              <a:srgbClr val="2ABB9B"/>
            </a:solidFill>
            <a:prstDash val="solid"/>
          </a:ln>
        </p:spPr>
        <p:txBody>
          <a:bodyPr/>
          <a:lstStyle/>
          <a:p>
            <a:endParaRPr lang="de-DE"/>
          </a:p>
        </p:txBody>
      </p:sp>
      <p:sp>
        <p:nvSpPr>
          <p:cNvPr id="3" name="Text 1">
            <a:extLst>
              <a:ext uri="{FF2B5EF4-FFF2-40B4-BE49-F238E27FC236}">
                <a16:creationId xmlns:a16="http://schemas.microsoft.com/office/drawing/2014/main" id="{EFB87B62-AE73-3EF6-EFB2-095902FC4338}"/>
              </a:ext>
            </a:extLst>
          </p:cNvPr>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2ABB9B"/>
                </a:solidFill>
                <a:latin typeface="Calibri" pitchFamily="34" charset="0"/>
                <a:ea typeface="Calibri" pitchFamily="34" charset="-122"/>
                <a:cs typeface="Calibri" pitchFamily="34" charset="-120"/>
              </a:rPr>
              <a:t>BACKEND</a:t>
            </a:r>
            <a:endParaRPr lang="en-US" sz="1100"/>
          </a:p>
        </p:txBody>
      </p:sp>
      <p:sp>
        <p:nvSpPr>
          <p:cNvPr id="4" name="Text 2">
            <a:extLst>
              <a:ext uri="{FF2B5EF4-FFF2-40B4-BE49-F238E27FC236}">
                <a16:creationId xmlns:a16="http://schemas.microsoft.com/office/drawing/2014/main" id="{A84386FB-9DE5-EB69-42E3-31F86B1E7FAF}"/>
              </a:ext>
            </a:extLst>
          </p:cNvPr>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pitchFamily="34" charset="0"/>
                <a:ea typeface="Calibri" pitchFamily="34" charset="-122"/>
                <a:cs typeface="Calibri" pitchFamily="34" charset="-120"/>
              </a:rPr>
              <a:t>Marco</a:t>
            </a:r>
            <a:endParaRPr lang="en-US" sz="1100"/>
          </a:p>
        </p:txBody>
      </p:sp>
      <p:sp>
        <p:nvSpPr>
          <p:cNvPr id="5" name="Text 3">
            <a:extLst>
              <a:ext uri="{FF2B5EF4-FFF2-40B4-BE49-F238E27FC236}">
                <a16:creationId xmlns:a16="http://schemas.microsoft.com/office/drawing/2014/main" id="{36A51E36-C0DD-8179-6716-1A42E42C2DB7}"/>
              </a:ext>
            </a:extLst>
          </p:cNvPr>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Was macht das Backend</a:t>
            </a:r>
            <a:endParaRPr lang="en-US" sz="4000"/>
          </a:p>
        </p:txBody>
      </p:sp>
      <p:sp>
        <p:nvSpPr>
          <p:cNvPr id="6" name="Shape 4">
            <a:extLst>
              <a:ext uri="{FF2B5EF4-FFF2-40B4-BE49-F238E27FC236}">
                <a16:creationId xmlns:a16="http://schemas.microsoft.com/office/drawing/2014/main" id="{D9BAE69F-25EA-7701-4AF1-D1448EE0EEDD}"/>
              </a:ext>
            </a:extLst>
          </p:cNvPr>
          <p:cNvSpPr/>
          <p:nvPr/>
        </p:nvSpPr>
        <p:spPr>
          <a:xfrm>
            <a:off x="4555709" y="2103120"/>
            <a:ext cx="7388772" cy="3893031"/>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9" name="Text 7">
            <a:extLst>
              <a:ext uri="{FF2B5EF4-FFF2-40B4-BE49-F238E27FC236}">
                <a16:creationId xmlns:a16="http://schemas.microsoft.com/office/drawing/2014/main" id="{5C60E51C-3150-CE44-5F4C-3B42D81D1F21}"/>
              </a:ext>
            </a:extLst>
          </p:cNvPr>
          <p:cNvSpPr/>
          <p:nvPr/>
        </p:nvSpPr>
        <p:spPr>
          <a:xfrm>
            <a:off x="4849473" y="2341292"/>
            <a:ext cx="3108960" cy="502920"/>
          </a:xfrm>
          <a:prstGeom prst="rect">
            <a:avLst/>
          </a:prstGeom>
          <a:noFill/>
          <a:ln/>
        </p:spPr>
        <p:txBody>
          <a:bodyPr wrap="square" lIns="0" tIns="0" rIns="0" bIns="0" rtlCol="0" anchor="t"/>
          <a:lstStyle/>
          <a:p>
            <a:pPr marL="0" indent="0">
              <a:buNone/>
            </a:pPr>
            <a:r>
              <a:rPr lang="en-US" sz="2000" b="1" dirty="0" err="1">
                <a:solidFill>
                  <a:srgbClr val="213547"/>
                </a:solidFill>
                <a:latin typeface="Calibri"/>
                <a:ea typeface="Calibri"/>
                <a:cs typeface="Calibri"/>
              </a:rPr>
              <a:t>Schwierigkeiten</a:t>
            </a:r>
            <a:endParaRPr lang="en-US" dirty="0" err="1"/>
          </a:p>
        </p:txBody>
      </p:sp>
      <p:sp>
        <p:nvSpPr>
          <p:cNvPr id="10" name="Text 8">
            <a:extLst>
              <a:ext uri="{FF2B5EF4-FFF2-40B4-BE49-F238E27FC236}">
                <a16:creationId xmlns:a16="http://schemas.microsoft.com/office/drawing/2014/main" id="{DB41C8BD-0864-BA54-126A-6857174B6E03}"/>
              </a:ext>
            </a:extLst>
          </p:cNvPr>
          <p:cNvSpPr/>
          <p:nvPr/>
        </p:nvSpPr>
        <p:spPr>
          <a:xfrm>
            <a:off x="4849473" y="2788320"/>
            <a:ext cx="1873995" cy="2210399"/>
          </a:xfrm>
          <a:prstGeom prst="rect">
            <a:avLst/>
          </a:prstGeom>
          <a:noFill/>
          <a:ln/>
        </p:spPr>
        <p:txBody>
          <a:bodyPr wrap="square" lIns="0" tIns="0" rIns="0" bIns="0" rtlCol="0" anchor="t"/>
          <a:lstStyle/>
          <a:p>
            <a:pPr marL="285750" indent="-285750">
              <a:buFont typeface="Arial"/>
              <a:buChar char="•"/>
            </a:pPr>
            <a:r>
              <a:rPr lang="en-US" sz="1400" dirty="0">
                <a:solidFill>
                  <a:srgbClr val="5A6A7A"/>
                </a:solidFill>
                <a:ea typeface="Calibri"/>
                <a:cs typeface="Calibri"/>
              </a:rPr>
              <a:t>Das </a:t>
            </a:r>
            <a:r>
              <a:rPr lang="en-US" sz="1400" dirty="0" err="1">
                <a:solidFill>
                  <a:srgbClr val="5A6A7A"/>
                </a:solidFill>
                <a:latin typeface="Calibri"/>
                <a:ea typeface="Calibri"/>
                <a:cs typeface="Calibri"/>
              </a:rPr>
              <a:t>Phänomen</a:t>
            </a:r>
            <a:r>
              <a:rPr lang="en-US" sz="1400" dirty="0">
                <a:solidFill>
                  <a:srgbClr val="5A6A7A"/>
                </a:solidFill>
                <a:latin typeface="Calibri"/>
                <a:ea typeface="Calibri"/>
                <a:cs typeface="Calibri"/>
              </a:rPr>
              <a:t> der </a:t>
            </a:r>
            <a:r>
              <a:rPr lang="en-US" sz="1400" dirty="0" err="1">
                <a:solidFill>
                  <a:srgbClr val="5A6A7A"/>
                </a:solidFill>
                <a:latin typeface="Calibri"/>
                <a:ea typeface="Calibri"/>
                <a:cs typeface="Calibri"/>
              </a:rPr>
              <a:t>Endlosschleife</a:t>
            </a:r>
            <a:endParaRPr lang="en-US" sz="1400" dirty="0">
              <a:solidFill>
                <a:srgbClr val="5A6A7A"/>
              </a:solidFill>
              <a:latin typeface="Calibri"/>
              <a:ea typeface="Calibri"/>
              <a:cs typeface="Calibri"/>
            </a:endParaRPr>
          </a:p>
          <a:p>
            <a:pPr marL="742950" lvl="1" indent="-285750">
              <a:buFont typeface="Courier New"/>
              <a:buChar char="o"/>
            </a:pPr>
            <a:r>
              <a:rPr lang="en-US" sz="1400">
                <a:solidFill>
                  <a:srgbClr val="5A6A7A"/>
                </a:solidFill>
                <a:latin typeface="Calibri"/>
                <a:ea typeface="Calibri"/>
                <a:cs typeface="Calibri"/>
              </a:rPr>
              <a:t>PL/SQL</a:t>
            </a:r>
          </a:p>
          <a:p>
            <a:pPr marL="285750" indent="-285750">
              <a:buFont typeface="Arial"/>
              <a:buChar char="•"/>
            </a:pPr>
            <a:endParaRPr lang="en-US" sz="1400" dirty="0">
              <a:solidFill>
                <a:srgbClr val="5A6A7A"/>
              </a:solidFill>
              <a:latin typeface="Calibri"/>
              <a:ea typeface="Calibri"/>
              <a:cs typeface="Calibri"/>
            </a:endParaRPr>
          </a:p>
          <a:p>
            <a:pPr marL="285750" indent="-285750">
              <a:buFont typeface="Arial"/>
              <a:buChar char="•"/>
            </a:pPr>
            <a:r>
              <a:rPr lang="en-US" sz="1400">
                <a:solidFill>
                  <a:srgbClr val="5A6A7A"/>
                </a:solidFill>
                <a:latin typeface="Calibri"/>
                <a:ea typeface="Calibri"/>
                <a:cs typeface="Calibri"/>
              </a:rPr>
              <a:t>Die Ursache</a:t>
            </a:r>
          </a:p>
          <a:p>
            <a:pPr marL="742950" lvl="1" indent="-285750">
              <a:buFont typeface="Courier New"/>
              <a:buChar char="o"/>
            </a:pPr>
            <a:r>
              <a:rPr lang="en-US" sz="1400" dirty="0">
                <a:solidFill>
                  <a:srgbClr val="5A6A7A"/>
                </a:solidFill>
                <a:latin typeface="Calibri"/>
                <a:ea typeface="Calibri"/>
                <a:cs typeface="Calibri"/>
              </a:rPr>
              <a:t>IN- und OUT </a:t>
            </a:r>
            <a:r>
              <a:rPr lang="en-US" sz="1400" dirty="0" err="1">
                <a:solidFill>
                  <a:srgbClr val="5A6A7A"/>
                </a:solidFill>
                <a:latin typeface="Calibri"/>
                <a:ea typeface="Calibri"/>
                <a:cs typeface="Calibri"/>
              </a:rPr>
              <a:t>Parametern</a:t>
            </a:r>
            <a:r>
              <a:rPr lang="en-US" sz="1400" dirty="0">
                <a:solidFill>
                  <a:srgbClr val="5A6A7A"/>
                </a:solidFill>
                <a:latin typeface="Calibri"/>
                <a:ea typeface="Calibri"/>
                <a:cs typeface="Calibri"/>
              </a:rPr>
              <a:t> in </a:t>
            </a:r>
            <a:r>
              <a:rPr lang="en-US" sz="1400" dirty="0" err="1">
                <a:solidFill>
                  <a:srgbClr val="5A6A7A"/>
                </a:solidFill>
                <a:latin typeface="Calibri"/>
                <a:ea typeface="Calibri"/>
                <a:cs typeface="Calibri"/>
              </a:rPr>
              <a:t>oracledb</a:t>
            </a:r>
          </a:p>
        </p:txBody>
      </p:sp>
      <p:sp>
        <p:nvSpPr>
          <p:cNvPr id="11" name="Shape 9">
            <a:extLst>
              <a:ext uri="{FF2B5EF4-FFF2-40B4-BE49-F238E27FC236}">
                <a16:creationId xmlns:a16="http://schemas.microsoft.com/office/drawing/2014/main" id="{C2150CEC-248E-CD3B-6238-48B8BF5724E0}"/>
              </a:ext>
            </a:extLst>
          </p:cNvPr>
          <p:cNvSpPr/>
          <p:nvPr/>
        </p:nvSpPr>
        <p:spPr>
          <a:xfrm>
            <a:off x="55915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2" name="Shape 10">
            <a:extLst>
              <a:ext uri="{FF2B5EF4-FFF2-40B4-BE49-F238E27FC236}">
                <a16:creationId xmlns:a16="http://schemas.microsoft.com/office/drawing/2014/main" id="{9E8FD6E8-0334-A7D7-1D22-ABD4C1AD688C}"/>
              </a:ext>
            </a:extLst>
          </p:cNvPr>
          <p:cNvSpPr/>
          <p:nvPr/>
        </p:nvSpPr>
        <p:spPr>
          <a:xfrm>
            <a:off x="879190" y="2423160"/>
            <a:ext cx="164592" cy="164592"/>
          </a:xfrm>
          <a:prstGeom prst="ellipse">
            <a:avLst/>
          </a:prstGeom>
          <a:solidFill>
            <a:srgbClr val="2ABB9B"/>
          </a:solidFill>
          <a:ln w="12700">
            <a:solidFill>
              <a:srgbClr val="2ABB9B"/>
            </a:solidFill>
            <a:prstDash val="solid"/>
          </a:ln>
        </p:spPr>
        <p:txBody>
          <a:bodyPr/>
          <a:lstStyle/>
          <a:p>
            <a:endParaRPr lang="de-DE"/>
          </a:p>
        </p:txBody>
      </p:sp>
      <p:sp>
        <p:nvSpPr>
          <p:cNvPr id="13" name="Text 11">
            <a:extLst>
              <a:ext uri="{FF2B5EF4-FFF2-40B4-BE49-F238E27FC236}">
                <a16:creationId xmlns:a16="http://schemas.microsoft.com/office/drawing/2014/main" id="{DDB043CC-6117-04C8-79E5-3BC7D4FD81EF}"/>
              </a:ext>
            </a:extLst>
          </p:cNvPr>
          <p:cNvSpPr/>
          <p:nvPr/>
        </p:nvSpPr>
        <p:spPr>
          <a:xfrm>
            <a:off x="1107790" y="2377440"/>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2</a:t>
            </a:r>
            <a:endParaRPr lang="en-US" sz="1000"/>
          </a:p>
        </p:txBody>
      </p:sp>
      <p:sp>
        <p:nvSpPr>
          <p:cNvPr id="14" name="Text 12">
            <a:extLst>
              <a:ext uri="{FF2B5EF4-FFF2-40B4-BE49-F238E27FC236}">
                <a16:creationId xmlns:a16="http://schemas.microsoft.com/office/drawing/2014/main" id="{DF05B316-7905-FBE4-5C0B-E7414668151F}"/>
              </a:ext>
            </a:extLst>
          </p:cNvPr>
          <p:cNvSpPr/>
          <p:nvPr/>
        </p:nvSpPr>
        <p:spPr>
          <a:xfrm>
            <a:off x="879190"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Daten holen</a:t>
            </a:r>
            <a:endParaRPr lang="en-US" sz="2000"/>
          </a:p>
        </p:txBody>
      </p:sp>
      <p:sp>
        <p:nvSpPr>
          <p:cNvPr id="15" name="Text 13">
            <a:extLst>
              <a:ext uri="{FF2B5EF4-FFF2-40B4-BE49-F238E27FC236}">
                <a16:creationId xmlns:a16="http://schemas.microsoft.com/office/drawing/2014/main" id="{F999B8D9-61D7-CD6C-8AB7-05E6AD05D050}"/>
              </a:ext>
            </a:extLst>
          </p:cNvPr>
          <p:cNvSpPr/>
          <p:nvPr/>
        </p:nvSpPr>
        <p:spPr>
          <a:xfrm>
            <a:off x="879190" y="3383280"/>
            <a:ext cx="3108960" cy="2377440"/>
          </a:xfrm>
          <a:prstGeom prst="rect">
            <a:avLst/>
          </a:prstGeom>
          <a:noFill/>
          <a:ln/>
        </p:spPr>
        <p:txBody>
          <a:bodyPr wrap="square" lIns="0" tIns="0" rIns="0" bIns="0" rtlCol="0" anchor="t"/>
          <a:lstStyle/>
          <a:p>
            <a:r>
              <a:rPr lang="en-US" sz="1400" dirty="0">
                <a:solidFill>
                  <a:srgbClr val="5A6A7A"/>
                </a:solidFill>
                <a:ea typeface="+mn-lt"/>
                <a:cs typeface="+mn-lt"/>
              </a:rPr>
              <a:t>Das Python-Backend </a:t>
            </a:r>
            <a:r>
              <a:rPr lang="en-US" sz="1400" dirty="0" err="1">
                <a:solidFill>
                  <a:srgbClr val="5A6A7A"/>
                </a:solidFill>
                <a:ea typeface="+mn-lt"/>
                <a:cs typeface="+mn-lt"/>
              </a:rPr>
              <a:t>kommuniziert</a:t>
            </a:r>
            <a:r>
              <a:rPr lang="en-US" sz="1400" dirty="0">
                <a:solidFill>
                  <a:srgbClr val="5A6A7A"/>
                </a:solidFill>
                <a:ea typeface="+mn-lt"/>
                <a:cs typeface="+mn-lt"/>
              </a:rPr>
              <a:t> </a:t>
            </a:r>
            <a:r>
              <a:rPr lang="en-US" sz="1400" dirty="0" err="1">
                <a:solidFill>
                  <a:srgbClr val="5A6A7A"/>
                </a:solidFill>
                <a:ea typeface="+mn-lt"/>
                <a:cs typeface="+mn-lt"/>
              </a:rPr>
              <a:t>mit</a:t>
            </a:r>
            <a:r>
              <a:rPr lang="en-US" sz="1400" dirty="0">
                <a:solidFill>
                  <a:srgbClr val="5A6A7A"/>
                </a:solidFill>
                <a:ea typeface="+mn-lt"/>
                <a:cs typeface="+mn-lt"/>
              </a:rPr>
              <a:t> dem </a:t>
            </a:r>
            <a:r>
              <a:rPr lang="en-US" sz="1400" dirty="0" err="1">
                <a:solidFill>
                  <a:srgbClr val="5A6A7A"/>
                </a:solidFill>
                <a:ea typeface="+mn-lt"/>
                <a:cs typeface="+mn-lt"/>
              </a:rPr>
              <a:t>Datenbankcontainer</a:t>
            </a:r>
            <a:r>
              <a:rPr lang="en-US" sz="1400" dirty="0">
                <a:solidFill>
                  <a:srgbClr val="5A6A7A"/>
                </a:solidFill>
                <a:ea typeface="+mn-lt"/>
                <a:cs typeface="+mn-lt"/>
              </a:rPr>
              <a:t>, um die </a:t>
            </a:r>
            <a:r>
              <a:rPr lang="en-US" sz="1400" dirty="0" err="1">
                <a:solidFill>
                  <a:srgbClr val="5A6A7A"/>
                </a:solidFill>
                <a:ea typeface="+mn-lt"/>
                <a:cs typeface="+mn-lt"/>
              </a:rPr>
              <a:t>angeforderten</a:t>
            </a:r>
            <a:r>
              <a:rPr lang="en-US" sz="1400" dirty="0">
                <a:solidFill>
                  <a:srgbClr val="5A6A7A"/>
                </a:solidFill>
                <a:ea typeface="+mn-lt"/>
                <a:cs typeface="+mn-lt"/>
              </a:rPr>
              <a:t> </a:t>
            </a:r>
            <a:r>
              <a:rPr lang="en-US" sz="1400" dirty="0" err="1">
                <a:solidFill>
                  <a:srgbClr val="5A6A7A"/>
                </a:solidFill>
                <a:ea typeface="+mn-lt"/>
                <a:cs typeface="+mn-lt"/>
              </a:rPr>
              <a:t>Datensätze</a:t>
            </a:r>
            <a:r>
              <a:rPr lang="en-US" sz="1400" dirty="0">
                <a:solidFill>
                  <a:srgbClr val="5A6A7A"/>
                </a:solidFill>
                <a:ea typeface="+mn-lt"/>
                <a:cs typeface="+mn-lt"/>
              </a:rPr>
              <a:t> </a:t>
            </a:r>
            <a:r>
              <a:rPr lang="en-US" sz="1400" dirty="0" err="1">
                <a:solidFill>
                  <a:srgbClr val="5A6A7A"/>
                </a:solidFill>
                <a:ea typeface="+mn-lt"/>
                <a:cs typeface="+mn-lt"/>
              </a:rPr>
              <a:t>abzurufen</a:t>
            </a:r>
            <a:r>
              <a:rPr lang="en-US" sz="1400" dirty="0">
                <a:solidFill>
                  <a:srgbClr val="5A6A7A"/>
                </a:solidFill>
                <a:ea typeface="+mn-lt"/>
                <a:cs typeface="+mn-lt"/>
              </a:rPr>
              <a:t>.</a:t>
            </a:r>
            <a:endParaRPr lang="en-US" dirty="0">
              <a:ea typeface="+mn-lt"/>
              <a:cs typeface="+mn-lt"/>
            </a:endParaRPr>
          </a:p>
        </p:txBody>
      </p:sp>
      <p:sp>
        <p:nvSpPr>
          <p:cNvPr id="21" name="Text 19">
            <a:extLst>
              <a:ext uri="{FF2B5EF4-FFF2-40B4-BE49-F238E27FC236}">
                <a16:creationId xmlns:a16="http://schemas.microsoft.com/office/drawing/2014/main" id="{EB356EED-0618-6F45-0E4B-B46978DEBF88}"/>
              </a:ext>
            </a:extLst>
          </p:cNvPr>
          <p:cNvSpPr/>
          <p:nvPr/>
        </p:nvSpPr>
        <p:spPr>
          <a:xfrm>
            <a:off x="548640" y="5989320"/>
            <a:ext cx="11064240" cy="365760"/>
          </a:xfrm>
          <a:prstGeom prst="rect">
            <a:avLst/>
          </a:prstGeom>
          <a:noFill/>
          <a:ln/>
        </p:spPr>
        <p:txBody>
          <a:bodyPr wrap="square" lIns="0" tIns="0" rIns="0" bIns="0" rtlCol="0" anchor="ctr"/>
          <a:lstStyle/>
          <a:p>
            <a:pPr marL="0" indent="0" algn="ctr">
              <a:buNone/>
            </a:pPr>
            <a:r>
              <a:rPr lang="en-US" sz="1400" i="1">
                <a:solidFill>
                  <a:srgbClr val="8C97A1"/>
                </a:solidFill>
                <a:latin typeface="Calibri" pitchFamily="34" charset="0"/>
                <a:ea typeface="Calibri" pitchFamily="34" charset="-122"/>
                <a:cs typeface="Calibri" pitchFamily="34" charset="-120"/>
              </a:rPr>
              <a:t>Gebaut mit Python und einer Bibliothek namens Flask. Schlank und gut zu lesen.</a:t>
            </a:r>
            <a:endParaRPr lang="en-US" sz="1400"/>
          </a:p>
        </p:txBody>
      </p:sp>
      <p:sp>
        <p:nvSpPr>
          <p:cNvPr id="22" name="Shape 20">
            <a:extLst>
              <a:ext uri="{FF2B5EF4-FFF2-40B4-BE49-F238E27FC236}">
                <a16:creationId xmlns:a16="http://schemas.microsoft.com/office/drawing/2014/main" id="{EAD25A65-96ED-8931-8E69-8E9C5248602D}"/>
              </a:ext>
            </a:extLst>
          </p:cNvPr>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23" name="Text 21">
            <a:extLst>
              <a:ext uri="{FF2B5EF4-FFF2-40B4-BE49-F238E27FC236}">
                <a16:creationId xmlns:a16="http://schemas.microsoft.com/office/drawing/2014/main" id="{633853F7-823D-864A-5D6E-FBFAF0F96B61}"/>
              </a:ext>
            </a:extLst>
          </p:cNvPr>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4" name="Text 22">
            <a:extLst>
              <a:ext uri="{FF2B5EF4-FFF2-40B4-BE49-F238E27FC236}">
                <a16:creationId xmlns:a16="http://schemas.microsoft.com/office/drawing/2014/main" id="{D039A99D-992D-A01B-4A8B-1AC68F36DCC8}"/>
              </a:ext>
            </a:extLst>
          </p:cNvPr>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9 / 16</a:t>
            </a:r>
            <a:endParaRPr lang="en-US" sz="1000"/>
          </a:p>
        </p:txBody>
      </p:sp>
      <p:graphicFrame>
        <p:nvGraphicFramePr>
          <p:cNvPr id="17" name="Table 16">
            <a:extLst>
              <a:ext uri="{FF2B5EF4-FFF2-40B4-BE49-F238E27FC236}">
                <a16:creationId xmlns:a16="http://schemas.microsoft.com/office/drawing/2014/main" id="{7562ACD2-A2DA-1CF2-24AB-78C7A64B13D8}"/>
              </a:ext>
            </a:extLst>
          </p:cNvPr>
          <p:cNvGraphicFramePr>
            <a:graphicFrameLocks noGrp="1"/>
          </p:cNvGraphicFramePr>
          <p:nvPr>
            <p:extLst>
              <p:ext uri="{D42A27DB-BD31-4B8C-83A1-F6EECF244321}">
                <p14:modId xmlns:p14="http://schemas.microsoft.com/office/powerpoint/2010/main" val="2304104600"/>
              </p:ext>
            </p:extLst>
          </p:nvPr>
        </p:nvGraphicFramePr>
        <p:xfrm>
          <a:off x="6818586" y="2102068"/>
          <a:ext cx="5139278" cy="3905052"/>
        </p:xfrm>
        <a:graphic>
          <a:graphicData uri="http://schemas.openxmlformats.org/drawingml/2006/table">
            <a:tbl>
              <a:tblPr bandRow="1">
                <a:tableStyleId>{5C22544A-7EE6-4342-B048-85BDC9FD1C3A}</a:tableStyleId>
              </a:tblPr>
              <a:tblGrid>
                <a:gridCol w="5139278">
                  <a:extLst>
                    <a:ext uri="{9D8B030D-6E8A-4147-A177-3AD203B41FA5}">
                      <a16:colId xmlns:a16="http://schemas.microsoft.com/office/drawing/2014/main" val="1000639530"/>
                    </a:ext>
                  </a:extLst>
                </a:gridCol>
              </a:tblGrid>
              <a:tr h="3905052">
                <a:tc>
                  <a:txBody>
                    <a:bodyPr/>
                    <a:lstStyle/>
                    <a:p>
                      <a:pPr lvl="0" rtl="0">
                        <a:buNone/>
                      </a:pPr>
                      <a:endParaRPr lang="en-US" sz="1800" b="0" i="0" u="none" strike="noStrike" dirty="0">
                        <a:solidFill>
                          <a:srgbClr val="FFFFFF"/>
                        </a:solidFill>
                        <a:effectLst/>
                        <a:latin typeface="Consolas"/>
                      </a:endParaRPr>
                    </a:p>
                    <a:p>
                      <a:pPr lvl="0">
                        <a:buNone/>
                      </a:pPr>
                      <a:r>
                        <a:rPr lang="en-US" sz="1800" b="0" i="0" u="none" strike="noStrike" dirty="0" err="1">
                          <a:solidFill>
                            <a:srgbClr val="FFFFFF"/>
                          </a:solidFill>
                          <a:effectLst/>
                          <a:latin typeface="Consolas"/>
                        </a:rPr>
                        <a:t>cursor.callproc</a:t>
                      </a:r>
                      <a:r>
                        <a:rPr lang="en-US" sz="1800" b="0" i="0" u="none" strike="noStrike" dirty="0">
                          <a:solidFill>
                            <a:srgbClr val="FFFFFF"/>
                          </a:solidFill>
                          <a:effectLst/>
                          <a:latin typeface="Consolas"/>
                        </a:rPr>
                        <a:t>(</a:t>
                      </a:r>
                      <a:br>
                        <a:rPr lang="en-US" sz="1800" b="0" i="0" u="none" strike="noStrike" dirty="0">
                          <a:solidFill>
                            <a:srgbClr val="FFFFFF"/>
                          </a:solidFill>
                          <a:effectLst/>
                          <a:latin typeface="Consolas"/>
                        </a:rPr>
                      </a:br>
                      <a:r>
                        <a:rPr lang="en-US" sz="1800" b="0" i="0" u="none" strike="noStrike" dirty="0">
                          <a:solidFill>
                            <a:srgbClr val="FFFFFF"/>
                          </a:solidFill>
                          <a:effectLst/>
                          <a:latin typeface="Consolas"/>
                        </a:rPr>
                        <a:t> </a:t>
                      </a:r>
                      <a:r>
                        <a:rPr lang="en-US" sz="1800" b="0" i="0" u="none" strike="noStrike" dirty="0">
                          <a:solidFill>
                            <a:srgbClr val="A2FCA2"/>
                          </a:solidFill>
                          <a:effectLst/>
                          <a:highlight>
                            <a:srgbClr val="808000"/>
                          </a:highlight>
                          <a:latin typeface="Consolas"/>
                        </a:rPr>
                        <a:t>"</a:t>
                      </a:r>
                      <a:r>
                        <a:rPr lang="en-US" sz="1800" b="0" i="0" u="none" strike="noStrike" dirty="0" err="1">
                          <a:solidFill>
                            <a:srgbClr val="A2FCA2"/>
                          </a:solidFill>
                          <a:effectLst/>
                          <a:highlight>
                            <a:srgbClr val="808000"/>
                          </a:highlight>
                          <a:latin typeface="Consolas"/>
                        </a:rPr>
                        <a:t>course_api_pkg.get_course_by_id</a:t>
                      </a:r>
                      <a:r>
                        <a:rPr lang="en-US" sz="1800" b="0" i="0" u="none" strike="noStrike" dirty="0">
                          <a:solidFill>
                            <a:srgbClr val="A2FCA2"/>
                          </a:solidFill>
                          <a:effectLst/>
                          <a:highlight>
                            <a:srgbClr val="808000"/>
                          </a:highlight>
                          <a:latin typeface="Consolas"/>
                        </a:rPr>
                        <a:t>"</a:t>
                      </a:r>
                      <a:r>
                        <a:rPr lang="en-US" sz="1800" b="0" i="0" u="none" strike="noStrike" dirty="0">
                          <a:solidFill>
                            <a:srgbClr val="FFFFFF"/>
                          </a:solidFill>
                          <a:effectLst/>
                          <a:latin typeface="Consolas"/>
                        </a:rPr>
                        <a:t>, </a:t>
                      </a:r>
                      <a:br>
                        <a:rPr lang="en-US" sz="1800" b="0" i="0" u="none" strike="noStrike" dirty="0">
                          <a:solidFill>
                            <a:srgbClr val="FFFFFF"/>
                          </a:solidFill>
                          <a:effectLst/>
                          <a:latin typeface="Consolas"/>
                        </a:rPr>
                      </a:br>
                      <a:r>
                        <a:rPr lang="en-US" sz="1800" b="0" i="0" u="none" strike="noStrike" dirty="0">
                          <a:solidFill>
                            <a:srgbClr val="FFFFFF"/>
                          </a:solidFill>
                          <a:effectLst/>
                          <a:latin typeface="Consolas"/>
                        </a:rPr>
                        <a:t> [id, </a:t>
                      </a:r>
                      <a:r>
                        <a:rPr lang="en-US" sz="1800" b="0" i="0" u="none" strike="noStrike" dirty="0" err="1">
                          <a:solidFill>
                            <a:srgbClr val="FFFFFF"/>
                          </a:solidFill>
                          <a:effectLst/>
                          <a:latin typeface="Consolas"/>
                        </a:rPr>
                        <a:t>p_course_cursor</a:t>
                      </a:r>
                      <a:r>
                        <a:rPr lang="en-US" sz="1800" b="0" i="0" u="none" strike="noStrike" dirty="0">
                          <a:solidFill>
                            <a:srgbClr val="FFFFFF"/>
                          </a:solidFill>
                          <a:effectLst/>
                          <a:latin typeface="Consolas"/>
                        </a:rPr>
                        <a:t>]</a:t>
                      </a:r>
                      <a:br>
                        <a:rPr lang="en-US" sz="1800" b="0" i="0" u="none" strike="noStrike" dirty="0">
                          <a:solidFill>
                            <a:srgbClr val="FFFFFF"/>
                          </a:solidFill>
                          <a:effectLst/>
                          <a:latin typeface="Consolas"/>
                        </a:rPr>
                      </a:br>
                      <a:r>
                        <a:rPr lang="en-US" sz="1800" b="0" i="0" u="none" strike="noStrike" dirty="0">
                          <a:solidFill>
                            <a:srgbClr val="FFFFFF"/>
                          </a:solidFill>
                          <a:effectLst/>
                          <a:latin typeface="Consolas"/>
                        </a:rPr>
                        <a:t>)</a:t>
                      </a:r>
                      <a:br>
                        <a:rPr lang="en-US" sz="1800" b="0" i="0" u="none" strike="noStrike" dirty="0">
                          <a:solidFill>
                            <a:srgbClr val="FFFFFF"/>
                          </a:solidFill>
                          <a:effectLst/>
                          <a:latin typeface="Consolas"/>
                        </a:rPr>
                      </a:br>
                      <a:br>
                        <a:rPr lang="en-US" sz="1800" b="0" i="0" u="none" strike="noStrike" dirty="0">
                          <a:solidFill>
                            <a:srgbClr val="FFFFFF"/>
                          </a:solidFill>
                          <a:effectLst/>
                          <a:latin typeface="Consolas"/>
                        </a:rPr>
                      </a:br>
                      <a:r>
                        <a:rPr lang="en-US" sz="1800" b="0" i="0" u="none" strike="noStrike" dirty="0" err="1">
                          <a:solidFill>
                            <a:srgbClr val="FFFFFF"/>
                          </a:solidFill>
                          <a:effectLst/>
                          <a:latin typeface="Consolas"/>
                        </a:rPr>
                        <a:t>cursor.execute</a:t>
                      </a:r>
                      <a:r>
                        <a:rPr lang="en-US" sz="1800" b="0" i="0" u="none" strike="noStrike" dirty="0">
                          <a:solidFill>
                            <a:srgbClr val="FFFFFF"/>
                          </a:solidFill>
                          <a:effectLst/>
                          <a:latin typeface="Consolas"/>
                        </a:rPr>
                        <a:t>(</a:t>
                      </a:r>
                      <a:br>
                        <a:rPr lang="en-US" sz="1800" b="0" i="0" u="none" strike="noStrike" dirty="0">
                          <a:solidFill>
                            <a:srgbClr val="FFFFFF"/>
                          </a:solidFill>
                          <a:effectLst/>
                          <a:latin typeface="Consolas"/>
                        </a:rPr>
                      </a:br>
                      <a:r>
                        <a:rPr lang="en-US" sz="1800" b="0" i="0" u="none" strike="noStrike" dirty="0">
                          <a:solidFill>
                            <a:srgbClr val="FFFFFF"/>
                          </a:solidFill>
                          <a:effectLst/>
                          <a:latin typeface="Consolas"/>
                        </a:rPr>
                        <a:t> </a:t>
                      </a:r>
                      <a:r>
                        <a:rPr lang="en-US" sz="1800" b="0" i="0" u="none" strike="noStrike" dirty="0">
                          <a:solidFill>
                            <a:srgbClr val="A2FCA2"/>
                          </a:solidFill>
                          <a:effectLst/>
                          <a:latin typeface="Consolas"/>
                        </a:rPr>
                        <a:t>"""</a:t>
                      </a:r>
                      <a:br>
                        <a:rPr lang="en-US" sz="1800" b="0" i="0" u="none" strike="noStrike" dirty="0">
                          <a:solidFill>
                            <a:srgbClr val="A2FCA2"/>
                          </a:solidFill>
                          <a:effectLst/>
                          <a:latin typeface="Consolas"/>
                        </a:rPr>
                      </a:br>
                      <a:r>
                        <a:rPr lang="en-US" sz="1800" b="0" i="0" u="none" strike="noStrike" dirty="0">
                          <a:solidFill>
                            <a:srgbClr val="A2FCA2"/>
                          </a:solidFill>
                          <a:effectLst/>
                          <a:latin typeface="Consolas"/>
                        </a:rPr>
                        <a:t>  </a:t>
                      </a:r>
                      <a:r>
                        <a:rPr lang="en-US" sz="1800" b="0" i="0" u="none" strike="noStrike" dirty="0">
                          <a:solidFill>
                            <a:srgbClr val="A2FCA2"/>
                          </a:solidFill>
                          <a:effectLst/>
                          <a:highlight>
                            <a:srgbClr val="808000"/>
                          </a:highlight>
                          <a:latin typeface="Consolas"/>
                        </a:rPr>
                        <a:t>SELECT * FROM "</a:t>
                      </a:r>
                      <a:r>
                        <a:rPr lang="en-US" sz="1800" b="0" i="0" u="none" strike="noStrike" dirty="0">
                          <a:solidFill>
                            <a:srgbClr val="FFFFFF"/>
                          </a:solidFill>
                          <a:effectLst/>
                          <a:highlight>
                            <a:srgbClr val="808000"/>
                          </a:highlight>
                          <a:latin typeface="Consolas"/>
                        </a:rPr>
                        <a:t>COURSE</a:t>
                      </a:r>
                      <a:r>
                        <a:rPr lang="en-US" sz="1800" b="0" i="0" u="none" strike="noStrike" dirty="0">
                          <a:solidFill>
                            <a:srgbClr val="A2FCA2"/>
                          </a:solidFill>
                          <a:effectLst/>
                          <a:highlight>
                            <a:srgbClr val="808000"/>
                          </a:highlight>
                          <a:latin typeface="Consolas"/>
                        </a:rPr>
                        <a:t>"</a:t>
                      </a:r>
                      <a:br>
                        <a:rPr lang="en-US" sz="1800" b="0" i="0" u="none" strike="noStrike" dirty="0">
                          <a:solidFill>
                            <a:srgbClr val="A2FCA2"/>
                          </a:solidFill>
                          <a:effectLst/>
                          <a:highlight>
                            <a:srgbClr val="808000"/>
                          </a:highlight>
                          <a:latin typeface="Consolas"/>
                        </a:rPr>
                      </a:br>
                      <a:r>
                        <a:rPr lang="en-US" sz="1800" b="0" i="0" u="none" strike="noStrike" dirty="0">
                          <a:solidFill>
                            <a:srgbClr val="A2FCA2"/>
                          </a:solidFill>
                          <a:effectLst/>
                          <a:highlight>
                            <a:srgbClr val="808000"/>
                          </a:highlight>
                          <a:latin typeface="Consolas"/>
                        </a:rPr>
                        <a:t>  WHERE id = :1</a:t>
                      </a:r>
                      <a:br>
                        <a:rPr lang="en-US" sz="1800" b="0" i="0" u="none" strike="noStrike" dirty="0">
                          <a:solidFill>
                            <a:srgbClr val="A2FCA2"/>
                          </a:solidFill>
                          <a:effectLst/>
                          <a:highlight>
                            <a:srgbClr val="808000"/>
                          </a:highlight>
                          <a:latin typeface="Consolas"/>
                        </a:rPr>
                      </a:br>
                      <a:r>
                        <a:rPr lang="en-US" sz="1800" b="0" i="0" u="none" strike="noStrike" dirty="0">
                          <a:solidFill>
                            <a:srgbClr val="A2FCA2"/>
                          </a:solidFill>
                          <a:effectLst/>
                          <a:latin typeface="Consolas"/>
                        </a:rPr>
                        <a:t> """</a:t>
                      </a:r>
                      <a:r>
                        <a:rPr lang="en-US" sz="1800" b="0" i="0" u="none" strike="noStrike" dirty="0">
                          <a:solidFill>
                            <a:srgbClr val="FFFFFF"/>
                          </a:solidFill>
                          <a:effectLst/>
                          <a:latin typeface="Consolas"/>
                        </a:rPr>
                        <a:t>, [id],</a:t>
                      </a:r>
                      <a:br>
                        <a:rPr lang="en-US" sz="1800" b="0" i="0" u="none" strike="noStrike" dirty="0">
                          <a:solidFill>
                            <a:srgbClr val="FFFFFF"/>
                          </a:solidFill>
                          <a:effectLst/>
                          <a:latin typeface="Consolas"/>
                        </a:rPr>
                      </a:br>
                      <a:r>
                        <a:rPr lang="en-US" sz="1800" b="0" i="0" u="none" strike="noStrike" dirty="0">
                          <a:solidFill>
                            <a:srgbClr val="FFFFFF"/>
                          </a:solidFill>
                          <a:effectLst/>
                          <a:latin typeface="Consolas"/>
                        </a:rPr>
                        <a:t>)</a:t>
                      </a:r>
                      <a:br>
                        <a:rPr lang="en-US" sz="1800" b="0" i="0" u="none" strike="noStrike" dirty="0">
                          <a:solidFill>
                            <a:srgbClr val="FFFFFF"/>
                          </a:solidFill>
                          <a:effectLst/>
                          <a:latin typeface="Consolas"/>
                        </a:rPr>
                      </a:br>
                      <a:endParaRPr lang="en-US">
                        <a:effectLst/>
                        <a:latin typeface="Consolas"/>
                      </a:endParaRPr>
                    </a:p>
                  </a:txBody>
                  <a:tcPr marL="63500" marR="63500" marT="63500" marB="63500">
                    <a:lnL>
                      <a:noFill/>
                    </a:lnL>
                    <a:lnR>
                      <a:noFill/>
                    </a:lnR>
                    <a:lnT>
                      <a:noFill/>
                    </a:lnT>
                    <a:lnB>
                      <a:noFill/>
                    </a:lnB>
                    <a:solidFill>
                      <a:srgbClr val="333333"/>
                    </a:solidFill>
                  </a:tcPr>
                </a:tc>
                <a:extLst>
                  <a:ext uri="{0D108BD9-81ED-4DB2-BD59-A6C34878D82A}">
                    <a16:rowId xmlns:a16="http://schemas.microsoft.com/office/drawing/2014/main" val="1319387478"/>
                  </a:ext>
                </a:extLst>
              </a:tr>
            </a:tbl>
          </a:graphicData>
        </a:graphic>
      </p:graphicFrame>
    </p:spTree>
    <p:extLst>
      <p:ext uri="{BB962C8B-B14F-4D97-AF65-F5344CB8AC3E}">
        <p14:creationId xmlns:p14="http://schemas.microsoft.com/office/powerpoint/2010/main" val="3157892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C0B7FF15-CDD1-9124-D380-55D50AC42F3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092E796-8003-4664-42B2-FC395110FAB0}"/>
              </a:ext>
            </a:extLst>
          </p:cNvPr>
          <p:cNvSpPr/>
          <p:nvPr/>
        </p:nvSpPr>
        <p:spPr>
          <a:xfrm>
            <a:off x="548640" y="502920"/>
            <a:ext cx="164592" cy="164592"/>
          </a:xfrm>
          <a:prstGeom prst="ellipse">
            <a:avLst/>
          </a:prstGeom>
          <a:solidFill>
            <a:srgbClr val="2ABB9B"/>
          </a:solidFill>
          <a:ln w="12700">
            <a:solidFill>
              <a:srgbClr val="2ABB9B"/>
            </a:solidFill>
            <a:prstDash val="solid"/>
          </a:ln>
        </p:spPr>
        <p:txBody>
          <a:bodyPr/>
          <a:lstStyle/>
          <a:p>
            <a:endParaRPr lang="de-DE"/>
          </a:p>
        </p:txBody>
      </p:sp>
      <p:sp>
        <p:nvSpPr>
          <p:cNvPr id="3" name="Text 1">
            <a:extLst>
              <a:ext uri="{FF2B5EF4-FFF2-40B4-BE49-F238E27FC236}">
                <a16:creationId xmlns:a16="http://schemas.microsoft.com/office/drawing/2014/main" id="{55369BE3-3DCC-89F5-CD32-6961692CE9C9}"/>
              </a:ext>
            </a:extLst>
          </p:cNvPr>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2ABB9B"/>
                </a:solidFill>
                <a:latin typeface="Calibri" pitchFamily="34" charset="0"/>
                <a:ea typeface="Calibri" pitchFamily="34" charset="-122"/>
                <a:cs typeface="Calibri" pitchFamily="34" charset="-120"/>
              </a:rPr>
              <a:t>BACKEND</a:t>
            </a:r>
            <a:endParaRPr lang="en-US" sz="1100"/>
          </a:p>
        </p:txBody>
      </p:sp>
      <p:sp>
        <p:nvSpPr>
          <p:cNvPr id="4" name="Text 2">
            <a:extLst>
              <a:ext uri="{FF2B5EF4-FFF2-40B4-BE49-F238E27FC236}">
                <a16:creationId xmlns:a16="http://schemas.microsoft.com/office/drawing/2014/main" id="{BF8499BF-42D6-1306-B9F4-4A2D44393546}"/>
              </a:ext>
            </a:extLst>
          </p:cNvPr>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pitchFamily="34" charset="0"/>
                <a:ea typeface="Calibri" pitchFamily="34" charset="-122"/>
                <a:cs typeface="Calibri" pitchFamily="34" charset="-120"/>
              </a:rPr>
              <a:t>Marco</a:t>
            </a:r>
            <a:endParaRPr lang="en-US" sz="1100"/>
          </a:p>
        </p:txBody>
      </p:sp>
      <p:sp>
        <p:nvSpPr>
          <p:cNvPr id="5" name="Text 3">
            <a:extLst>
              <a:ext uri="{FF2B5EF4-FFF2-40B4-BE49-F238E27FC236}">
                <a16:creationId xmlns:a16="http://schemas.microsoft.com/office/drawing/2014/main" id="{5405A756-06B2-1569-E948-EF4DDA83C946}"/>
              </a:ext>
            </a:extLst>
          </p:cNvPr>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Was macht das Backend</a:t>
            </a:r>
            <a:endParaRPr lang="en-US" sz="4000"/>
          </a:p>
        </p:txBody>
      </p:sp>
      <p:sp>
        <p:nvSpPr>
          <p:cNvPr id="6" name="Shape 4">
            <a:extLst>
              <a:ext uri="{FF2B5EF4-FFF2-40B4-BE49-F238E27FC236}">
                <a16:creationId xmlns:a16="http://schemas.microsoft.com/office/drawing/2014/main" id="{10CB3A17-C198-93E0-43FB-5BFFED055DA0}"/>
              </a:ext>
            </a:extLst>
          </p:cNvPr>
          <p:cNvSpPr/>
          <p:nvPr/>
        </p:nvSpPr>
        <p:spPr>
          <a:xfrm>
            <a:off x="5486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7" name="Shape 5">
            <a:extLst>
              <a:ext uri="{FF2B5EF4-FFF2-40B4-BE49-F238E27FC236}">
                <a16:creationId xmlns:a16="http://schemas.microsoft.com/office/drawing/2014/main" id="{1D3BB33B-2B6B-DB14-7A41-1DE2CF8F9491}"/>
              </a:ext>
            </a:extLst>
          </p:cNvPr>
          <p:cNvSpPr/>
          <p:nvPr/>
        </p:nvSpPr>
        <p:spPr>
          <a:xfrm>
            <a:off x="868680" y="2423160"/>
            <a:ext cx="164592" cy="164592"/>
          </a:xfrm>
          <a:prstGeom prst="ellipse">
            <a:avLst/>
          </a:prstGeom>
          <a:solidFill>
            <a:srgbClr val="2ABB9B"/>
          </a:solidFill>
          <a:ln w="12700">
            <a:solidFill>
              <a:srgbClr val="2ABB9B"/>
            </a:solidFill>
            <a:prstDash val="solid"/>
          </a:ln>
        </p:spPr>
        <p:txBody>
          <a:bodyPr/>
          <a:lstStyle/>
          <a:p>
            <a:endParaRPr lang="de-DE"/>
          </a:p>
        </p:txBody>
      </p:sp>
      <p:sp>
        <p:nvSpPr>
          <p:cNvPr id="8" name="Text 6">
            <a:extLst>
              <a:ext uri="{FF2B5EF4-FFF2-40B4-BE49-F238E27FC236}">
                <a16:creationId xmlns:a16="http://schemas.microsoft.com/office/drawing/2014/main" id="{8EDF4E9E-83DB-5089-6330-F0288D507C0F}"/>
              </a:ext>
            </a:extLst>
          </p:cNvPr>
          <p:cNvSpPr/>
          <p:nvPr/>
        </p:nvSpPr>
        <p:spPr>
          <a:xfrm>
            <a:off x="1097280" y="2377440"/>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1</a:t>
            </a:r>
            <a:endParaRPr lang="en-US" sz="1000"/>
          </a:p>
        </p:txBody>
      </p:sp>
      <p:sp>
        <p:nvSpPr>
          <p:cNvPr id="9" name="Text 7">
            <a:extLst>
              <a:ext uri="{FF2B5EF4-FFF2-40B4-BE49-F238E27FC236}">
                <a16:creationId xmlns:a16="http://schemas.microsoft.com/office/drawing/2014/main" id="{24FBF451-E5C2-1D04-7A47-02E5502AC95D}"/>
              </a:ext>
            </a:extLst>
          </p:cNvPr>
          <p:cNvSpPr/>
          <p:nvPr/>
        </p:nvSpPr>
        <p:spPr>
          <a:xfrm>
            <a:off x="868680"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Frage empfangen</a:t>
            </a:r>
            <a:endParaRPr lang="en-US" sz="2000"/>
          </a:p>
        </p:txBody>
      </p:sp>
      <p:sp>
        <p:nvSpPr>
          <p:cNvPr id="10" name="Text 8">
            <a:extLst>
              <a:ext uri="{FF2B5EF4-FFF2-40B4-BE49-F238E27FC236}">
                <a16:creationId xmlns:a16="http://schemas.microsoft.com/office/drawing/2014/main" id="{6D7605CD-3D91-8A23-92AE-28DD5B61CD46}"/>
              </a:ext>
            </a:extLst>
          </p:cNvPr>
          <p:cNvSpPr/>
          <p:nvPr/>
        </p:nvSpPr>
        <p:spPr>
          <a:xfrm>
            <a:off x="868680" y="3383280"/>
            <a:ext cx="3108960" cy="2377440"/>
          </a:xfrm>
          <a:prstGeom prst="rect">
            <a:avLst/>
          </a:prstGeom>
          <a:noFill/>
          <a:ln/>
        </p:spPr>
        <p:txBody>
          <a:bodyPr wrap="square" lIns="0" tIns="0" rIns="0" bIns="0" rtlCol="0" anchor="t"/>
          <a:lstStyle/>
          <a:p>
            <a:r>
              <a:rPr lang="en-US" sz="1400" dirty="0">
                <a:solidFill>
                  <a:srgbClr val="5A6A7A"/>
                </a:solidFill>
                <a:ea typeface="+mn-lt"/>
                <a:cs typeface="+mn-lt"/>
              </a:rPr>
              <a:t>Die Website (Frontend) </a:t>
            </a:r>
            <a:r>
              <a:rPr lang="en-US" sz="1400" dirty="0" err="1">
                <a:solidFill>
                  <a:srgbClr val="5A6A7A"/>
                </a:solidFill>
                <a:ea typeface="+mn-lt"/>
                <a:cs typeface="+mn-lt"/>
              </a:rPr>
              <a:t>sendet</a:t>
            </a:r>
            <a:r>
              <a:rPr lang="en-US" sz="1400" dirty="0">
                <a:solidFill>
                  <a:srgbClr val="5A6A7A"/>
                </a:solidFill>
                <a:ea typeface="+mn-lt"/>
                <a:cs typeface="+mn-lt"/>
              </a:rPr>
              <a:t> </a:t>
            </a:r>
            <a:r>
              <a:rPr lang="en-US" sz="1400" dirty="0" err="1">
                <a:solidFill>
                  <a:srgbClr val="5A6A7A"/>
                </a:solidFill>
                <a:ea typeface="+mn-lt"/>
                <a:cs typeface="+mn-lt"/>
              </a:rPr>
              <a:t>eine</a:t>
            </a:r>
            <a:r>
              <a:rPr lang="en-US" sz="1400" dirty="0">
                <a:solidFill>
                  <a:srgbClr val="5A6A7A"/>
                </a:solidFill>
                <a:ea typeface="+mn-lt"/>
                <a:cs typeface="+mn-lt"/>
              </a:rPr>
              <a:t> HTTP-</a:t>
            </a:r>
            <a:r>
              <a:rPr lang="en-US" sz="1400" dirty="0" err="1">
                <a:solidFill>
                  <a:srgbClr val="5A6A7A"/>
                </a:solidFill>
                <a:ea typeface="+mn-lt"/>
                <a:cs typeface="+mn-lt"/>
              </a:rPr>
              <a:t>Anfrage</a:t>
            </a:r>
            <a:r>
              <a:rPr lang="en-US" sz="1400" dirty="0">
                <a:solidFill>
                  <a:srgbClr val="5A6A7A"/>
                </a:solidFill>
                <a:ea typeface="+mn-lt"/>
                <a:cs typeface="+mn-lt"/>
              </a:rPr>
              <a:t> an das Backend – </a:t>
            </a:r>
            <a:r>
              <a:rPr lang="en-US" sz="1400" dirty="0" err="1">
                <a:solidFill>
                  <a:srgbClr val="5A6A7A"/>
                </a:solidFill>
                <a:ea typeface="+mn-lt"/>
                <a:cs typeface="+mn-lt"/>
              </a:rPr>
              <a:t>beispielsweise</a:t>
            </a:r>
            <a:r>
              <a:rPr lang="en-US" sz="1400" dirty="0">
                <a:solidFill>
                  <a:srgbClr val="5A6A7A"/>
                </a:solidFill>
                <a:ea typeface="+mn-lt"/>
                <a:cs typeface="+mn-lt"/>
              </a:rPr>
              <a:t>, um </a:t>
            </a:r>
            <a:r>
              <a:rPr lang="en-US" sz="1400" dirty="0" err="1">
                <a:solidFill>
                  <a:srgbClr val="5A6A7A"/>
                </a:solidFill>
                <a:ea typeface="+mn-lt"/>
                <a:cs typeface="+mn-lt"/>
              </a:rPr>
              <a:t>einen</a:t>
            </a:r>
            <a:r>
              <a:rPr lang="en-US" sz="1400" dirty="0">
                <a:solidFill>
                  <a:srgbClr val="5A6A7A"/>
                </a:solidFill>
                <a:ea typeface="+mn-lt"/>
                <a:cs typeface="+mn-lt"/>
              </a:rPr>
              <a:t> </a:t>
            </a:r>
            <a:r>
              <a:rPr lang="en-US" sz="1400" dirty="0" err="1">
                <a:solidFill>
                  <a:srgbClr val="5A6A7A"/>
                </a:solidFill>
                <a:ea typeface="+mn-lt"/>
                <a:cs typeface="+mn-lt"/>
              </a:rPr>
              <a:t>bestimmten</a:t>
            </a:r>
            <a:r>
              <a:rPr lang="en-US" sz="1400" dirty="0">
                <a:solidFill>
                  <a:srgbClr val="5A6A7A"/>
                </a:solidFill>
                <a:ea typeface="+mn-lt"/>
                <a:cs typeface="+mn-lt"/>
              </a:rPr>
              <a:t> Kurs </a:t>
            </a:r>
            <a:r>
              <a:rPr lang="en-US" sz="1400" dirty="0" err="1">
                <a:solidFill>
                  <a:srgbClr val="5A6A7A"/>
                </a:solidFill>
                <a:ea typeface="+mn-lt"/>
                <a:cs typeface="+mn-lt"/>
              </a:rPr>
              <a:t>über</a:t>
            </a:r>
            <a:r>
              <a:rPr lang="en-US" sz="1400" dirty="0">
                <a:solidFill>
                  <a:srgbClr val="5A6A7A"/>
                </a:solidFill>
                <a:ea typeface="+mn-lt"/>
                <a:cs typeface="+mn-lt"/>
              </a:rPr>
              <a:t> /courses/1 </a:t>
            </a:r>
            <a:r>
              <a:rPr lang="en-US" sz="1400" dirty="0" err="1">
                <a:solidFill>
                  <a:srgbClr val="5A6A7A"/>
                </a:solidFill>
                <a:ea typeface="+mn-lt"/>
                <a:cs typeface="+mn-lt"/>
              </a:rPr>
              <a:t>oder</a:t>
            </a:r>
            <a:r>
              <a:rPr lang="en-US" sz="1400" dirty="0">
                <a:solidFill>
                  <a:srgbClr val="5A6A7A"/>
                </a:solidFill>
                <a:ea typeface="+mn-lt"/>
                <a:cs typeface="+mn-lt"/>
              </a:rPr>
              <a:t> </a:t>
            </a:r>
            <a:r>
              <a:rPr lang="en-US" sz="1400" dirty="0" err="1">
                <a:solidFill>
                  <a:srgbClr val="5A6A7A"/>
                </a:solidFill>
                <a:ea typeface="+mn-lt"/>
                <a:cs typeface="+mn-lt"/>
              </a:rPr>
              <a:t>einen</a:t>
            </a:r>
            <a:r>
              <a:rPr lang="en-US" sz="1400" dirty="0">
                <a:solidFill>
                  <a:srgbClr val="5A6A7A"/>
                </a:solidFill>
                <a:ea typeface="+mn-lt"/>
                <a:cs typeface="+mn-lt"/>
              </a:rPr>
              <a:t> </a:t>
            </a:r>
            <a:r>
              <a:rPr lang="en-US" sz="1400" dirty="0" err="1">
                <a:solidFill>
                  <a:srgbClr val="5A6A7A"/>
                </a:solidFill>
                <a:ea typeface="+mn-lt"/>
                <a:cs typeface="+mn-lt"/>
              </a:rPr>
              <a:t>Benutzer</a:t>
            </a:r>
            <a:r>
              <a:rPr lang="en-US" sz="1400" dirty="0">
                <a:solidFill>
                  <a:srgbClr val="5A6A7A"/>
                </a:solidFill>
                <a:ea typeface="+mn-lt"/>
                <a:cs typeface="+mn-lt"/>
              </a:rPr>
              <a:t> </a:t>
            </a:r>
            <a:r>
              <a:rPr lang="en-US" sz="1400" dirty="0" err="1">
                <a:solidFill>
                  <a:srgbClr val="5A6A7A"/>
                </a:solidFill>
                <a:ea typeface="+mn-lt"/>
                <a:cs typeface="+mn-lt"/>
              </a:rPr>
              <a:t>über</a:t>
            </a:r>
            <a:r>
              <a:rPr lang="en-US" sz="1400" dirty="0">
                <a:solidFill>
                  <a:srgbClr val="5A6A7A"/>
                </a:solidFill>
                <a:ea typeface="+mn-lt"/>
                <a:cs typeface="+mn-lt"/>
              </a:rPr>
              <a:t> /users/UUID </a:t>
            </a:r>
            <a:r>
              <a:rPr lang="en-US" sz="1400" dirty="0" err="1">
                <a:solidFill>
                  <a:srgbClr val="5A6A7A"/>
                </a:solidFill>
                <a:ea typeface="+mn-lt"/>
                <a:cs typeface="+mn-lt"/>
              </a:rPr>
              <a:t>abzufragen</a:t>
            </a:r>
            <a:endParaRPr lang="en-US" dirty="0" err="1"/>
          </a:p>
        </p:txBody>
      </p:sp>
      <p:sp>
        <p:nvSpPr>
          <p:cNvPr id="11" name="Shape 9">
            <a:extLst>
              <a:ext uri="{FF2B5EF4-FFF2-40B4-BE49-F238E27FC236}">
                <a16:creationId xmlns:a16="http://schemas.microsoft.com/office/drawing/2014/main" id="{93E6AD8B-1520-FC4C-0DA4-4FA4E48D1E6E}"/>
              </a:ext>
            </a:extLst>
          </p:cNvPr>
          <p:cNvSpPr/>
          <p:nvPr/>
        </p:nvSpPr>
        <p:spPr>
          <a:xfrm>
            <a:off x="44348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2" name="Shape 10">
            <a:extLst>
              <a:ext uri="{FF2B5EF4-FFF2-40B4-BE49-F238E27FC236}">
                <a16:creationId xmlns:a16="http://schemas.microsoft.com/office/drawing/2014/main" id="{C3FDD0BF-6734-5C13-00DF-033B5FCA4194}"/>
              </a:ext>
            </a:extLst>
          </p:cNvPr>
          <p:cNvSpPr/>
          <p:nvPr/>
        </p:nvSpPr>
        <p:spPr>
          <a:xfrm>
            <a:off x="4754880" y="2423160"/>
            <a:ext cx="164592" cy="164592"/>
          </a:xfrm>
          <a:prstGeom prst="ellipse">
            <a:avLst/>
          </a:prstGeom>
          <a:solidFill>
            <a:srgbClr val="2ABB9B"/>
          </a:solidFill>
          <a:ln w="12700">
            <a:solidFill>
              <a:srgbClr val="2ABB9B"/>
            </a:solidFill>
            <a:prstDash val="solid"/>
          </a:ln>
        </p:spPr>
        <p:txBody>
          <a:bodyPr/>
          <a:lstStyle/>
          <a:p>
            <a:endParaRPr lang="de-DE"/>
          </a:p>
        </p:txBody>
      </p:sp>
      <p:sp>
        <p:nvSpPr>
          <p:cNvPr id="13" name="Text 11">
            <a:extLst>
              <a:ext uri="{FF2B5EF4-FFF2-40B4-BE49-F238E27FC236}">
                <a16:creationId xmlns:a16="http://schemas.microsoft.com/office/drawing/2014/main" id="{96C75BC7-C7E2-7DC7-D8C5-45FB475649A5}"/>
              </a:ext>
            </a:extLst>
          </p:cNvPr>
          <p:cNvSpPr/>
          <p:nvPr/>
        </p:nvSpPr>
        <p:spPr>
          <a:xfrm>
            <a:off x="4983480" y="2377440"/>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2</a:t>
            </a:r>
            <a:endParaRPr lang="en-US" sz="1000"/>
          </a:p>
        </p:txBody>
      </p:sp>
      <p:sp>
        <p:nvSpPr>
          <p:cNvPr id="14" name="Text 12">
            <a:extLst>
              <a:ext uri="{FF2B5EF4-FFF2-40B4-BE49-F238E27FC236}">
                <a16:creationId xmlns:a16="http://schemas.microsoft.com/office/drawing/2014/main" id="{56801294-BDB1-BF31-CFBD-E9A51FB17F89}"/>
              </a:ext>
            </a:extLst>
          </p:cNvPr>
          <p:cNvSpPr/>
          <p:nvPr/>
        </p:nvSpPr>
        <p:spPr>
          <a:xfrm>
            <a:off x="4754880"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Daten holen</a:t>
            </a:r>
            <a:endParaRPr lang="en-US" sz="2000"/>
          </a:p>
        </p:txBody>
      </p:sp>
      <p:sp>
        <p:nvSpPr>
          <p:cNvPr id="15" name="Text 13">
            <a:extLst>
              <a:ext uri="{FF2B5EF4-FFF2-40B4-BE49-F238E27FC236}">
                <a16:creationId xmlns:a16="http://schemas.microsoft.com/office/drawing/2014/main" id="{EE6F63F1-CB74-36B3-EC97-412E5C8028E3}"/>
              </a:ext>
            </a:extLst>
          </p:cNvPr>
          <p:cNvSpPr/>
          <p:nvPr/>
        </p:nvSpPr>
        <p:spPr>
          <a:xfrm>
            <a:off x="4754880" y="3383280"/>
            <a:ext cx="3108960" cy="2377440"/>
          </a:xfrm>
          <a:prstGeom prst="rect">
            <a:avLst/>
          </a:prstGeom>
          <a:noFill/>
          <a:ln/>
        </p:spPr>
        <p:txBody>
          <a:bodyPr wrap="square" lIns="0" tIns="0" rIns="0" bIns="0" rtlCol="0" anchor="t"/>
          <a:lstStyle/>
          <a:p>
            <a:r>
              <a:rPr lang="en-US" sz="1400" dirty="0">
                <a:solidFill>
                  <a:srgbClr val="5A6A7A"/>
                </a:solidFill>
                <a:ea typeface="+mn-lt"/>
                <a:cs typeface="+mn-lt"/>
              </a:rPr>
              <a:t>Das Python-Backend </a:t>
            </a:r>
            <a:r>
              <a:rPr lang="en-US" sz="1400" dirty="0" err="1">
                <a:solidFill>
                  <a:srgbClr val="5A6A7A"/>
                </a:solidFill>
                <a:ea typeface="+mn-lt"/>
                <a:cs typeface="+mn-lt"/>
              </a:rPr>
              <a:t>kommuniziert</a:t>
            </a:r>
            <a:r>
              <a:rPr lang="en-US" sz="1400" dirty="0">
                <a:solidFill>
                  <a:srgbClr val="5A6A7A"/>
                </a:solidFill>
                <a:ea typeface="+mn-lt"/>
                <a:cs typeface="+mn-lt"/>
              </a:rPr>
              <a:t> </a:t>
            </a:r>
            <a:r>
              <a:rPr lang="en-US" sz="1400" dirty="0" err="1">
                <a:solidFill>
                  <a:srgbClr val="5A6A7A"/>
                </a:solidFill>
                <a:ea typeface="+mn-lt"/>
                <a:cs typeface="+mn-lt"/>
              </a:rPr>
              <a:t>mit</a:t>
            </a:r>
            <a:r>
              <a:rPr lang="en-US" sz="1400" dirty="0">
                <a:solidFill>
                  <a:srgbClr val="5A6A7A"/>
                </a:solidFill>
                <a:ea typeface="+mn-lt"/>
                <a:cs typeface="+mn-lt"/>
              </a:rPr>
              <a:t> dem Datenbankcontainer, um die angeforderten Datensätze abzurufen.</a:t>
            </a:r>
            <a:endParaRPr lang="en-US" dirty="0">
              <a:ea typeface="+mn-lt"/>
              <a:cs typeface="+mn-lt"/>
            </a:endParaRPr>
          </a:p>
        </p:txBody>
      </p:sp>
      <p:sp>
        <p:nvSpPr>
          <p:cNvPr id="16" name="Shape 14">
            <a:extLst>
              <a:ext uri="{FF2B5EF4-FFF2-40B4-BE49-F238E27FC236}">
                <a16:creationId xmlns:a16="http://schemas.microsoft.com/office/drawing/2014/main" id="{14FA914C-43CB-2806-8F9D-99B22B4FB5C5}"/>
              </a:ext>
            </a:extLst>
          </p:cNvPr>
          <p:cNvSpPr/>
          <p:nvPr/>
        </p:nvSpPr>
        <p:spPr>
          <a:xfrm>
            <a:off x="8321040" y="2103120"/>
            <a:ext cx="3657600" cy="3840480"/>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7" name="Shape 15">
            <a:extLst>
              <a:ext uri="{FF2B5EF4-FFF2-40B4-BE49-F238E27FC236}">
                <a16:creationId xmlns:a16="http://schemas.microsoft.com/office/drawing/2014/main" id="{4510794D-732C-FFE5-176B-FF4185C32B44}"/>
              </a:ext>
            </a:extLst>
          </p:cNvPr>
          <p:cNvSpPr/>
          <p:nvPr/>
        </p:nvSpPr>
        <p:spPr>
          <a:xfrm>
            <a:off x="8641080" y="2423160"/>
            <a:ext cx="164592" cy="164592"/>
          </a:xfrm>
          <a:prstGeom prst="ellipse">
            <a:avLst/>
          </a:prstGeom>
          <a:solidFill>
            <a:srgbClr val="2ABB9B"/>
          </a:solidFill>
          <a:ln w="12700">
            <a:solidFill>
              <a:srgbClr val="2ABB9B"/>
            </a:solidFill>
            <a:prstDash val="solid"/>
          </a:ln>
        </p:spPr>
        <p:txBody>
          <a:bodyPr/>
          <a:lstStyle/>
          <a:p>
            <a:endParaRPr lang="de-DE"/>
          </a:p>
        </p:txBody>
      </p:sp>
      <p:sp>
        <p:nvSpPr>
          <p:cNvPr id="18" name="Text 16">
            <a:extLst>
              <a:ext uri="{FF2B5EF4-FFF2-40B4-BE49-F238E27FC236}">
                <a16:creationId xmlns:a16="http://schemas.microsoft.com/office/drawing/2014/main" id="{1A7C9A04-7B4C-5BD4-86B4-97D761CFE794}"/>
              </a:ext>
            </a:extLst>
          </p:cNvPr>
          <p:cNvSpPr/>
          <p:nvPr/>
        </p:nvSpPr>
        <p:spPr>
          <a:xfrm>
            <a:off x="8869680" y="2377440"/>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3</a:t>
            </a:r>
            <a:endParaRPr lang="en-US" sz="1000"/>
          </a:p>
        </p:txBody>
      </p:sp>
      <p:sp>
        <p:nvSpPr>
          <p:cNvPr id="19" name="Text 17">
            <a:extLst>
              <a:ext uri="{FF2B5EF4-FFF2-40B4-BE49-F238E27FC236}">
                <a16:creationId xmlns:a16="http://schemas.microsoft.com/office/drawing/2014/main" id="{7BF8EADB-76E0-7364-4931-164CB89E39CF}"/>
              </a:ext>
            </a:extLst>
          </p:cNvPr>
          <p:cNvSpPr/>
          <p:nvPr/>
        </p:nvSpPr>
        <p:spPr>
          <a:xfrm>
            <a:off x="8641080" y="2788920"/>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Antwort schicken</a:t>
            </a:r>
            <a:endParaRPr lang="en-US" sz="2000"/>
          </a:p>
        </p:txBody>
      </p:sp>
      <p:sp>
        <p:nvSpPr>
          <p:cNvPr id="20" name="Text 18">
            <a:extLst>
              <a:ext uri="{FF2B5EF4-FFF2-40B4-BE49-F238E27FC236}">
                <a16:creationId xmlns:a16="http://schemas.microsoft.com/office/drawing/2014/main" id="{3BC0DDF1-30BC-9395-8A26-78F29DD15C8B}"/>
              </a:ext>
            </a:extLst>
          </p:cNvPr>
          <p:cNvSpPr/>
          <p:nvPr/>
        </p:nvSpPr>
        <p:spPr>
          <a:xfrm>
            <a:off x="8641080" y="3383280"/>
            <a:ext cx="3108960" cy="2377440"/>
          </a:xfrm>
          <a:prstGeom prst="rect">
            <a:avLst/>
          </a:prstGeom>
          <a:noFill/>
          <a:ln/>
        </p:spPr>
        <p:txBody>
          <a:bodyPr wrap="square" lIns="0" tIns="0" rIns="0" bIns="0" rtlCol="0" anchor="t"/>
          <a:lstStyle/>
          <a:p>
            <a:r>
              <a:rPr lang="en-US" sz="1400">
                <a:solidFill>
                  <a:srgbClr val="5A6A7A"/>
                </a:solidFill>
                <a:ea typeface="+mn-lt"/>
                <a:cs typeface="+mn-lt"/>
              </a:rPr>
              <a:t>Das Backend verpackt die abgerufene Datenbankzeile und sendet sie als saubere JSON-Antwort an das Frontend zurück.</a:t>
            </a:r>
            <a:endParaRPr lang="en-US">
              <a:ea typeface="+mn-lt"/>
              <a:cs typeface="+mn-lt"/>
            </a:endParaRPr>
          </a:p>
        </p:txBody>
      </p:sp>
      <p:sp>
        <p:nvSpPr>
          <p:cNvPr id="21" name="Text 19">
            <a:extLst>
              <a:ext uri="{FF2B5EF4-FFF2-40B4-BE49-F238E27FC236}">
                <a16:creationId xmlns:a16="http://schemas.microsoft.com/office/drawing/2014/main" id="{6687D7B2-5432-E436-EDCE-11E0F7B6582C}"/>
              </a:ext>
            </a:extLst>
          </p:cNvPr>
          <p:cNvSpPr/>
          <p:nvPr/>
        </p:nvSpPr>
        <p:spPr>
          <a:xfrm>
            <a:off x="548640" y="5989320"/>
            <a:ext cx="11064240" cy="365760"/>
          </a:xfrm>
          <a:prstGeom prst="rect">
            <a:avLst/>
          </a:prstGeom>
          <a:noFill/>
          <a:ln/>
        </p:spPr>
        <p:txBody>
          <a:bodyPr wrap="square" lIns="0" tIns="0" rIns="0" bIns="0" rtlCol="0" anchor="ctr"/>
          <a:lstStyle/>
          <a:p>
            <a:pPr marL="0" indent="0" algn="ctr">
              <a:buNone/>
            </a:pPr>
            <a:r>
              <a:rPr lang="en-US" sz="1400" i="1">
                <a:solidFill>
                  <a:srgbClr val="8C97A1"/>
                </a:solidFill>
                <a:latin typeface="Calibri" pitchFamily="34" charset="0"/>
                <a:ea typeface="Calibri" pitchFamily="34" charset="-122"/>
                <a:cs typeface="Calibri" pitchFamily="34" charset="-120"/>
              </a:rPr>
              <a:t>Gebaut mit Python und einer Bibliothek namens Flask. Schlank und gut zu lesen.</a:t>
            </a:r>
            <a:endParaRPr lang="en-US" sz="1400"/>
          </a:p>
        </p:txBody>
      </p:sp>
      <p:sp>
        <p:nvSpPr>
          <p:cNvPr id="22" name="Shape 20">
            <a:extLst>
              <a:ext uri="{FF2B5EF4-FFF2-40B4-BE49-F238E27FC236}">
                <a16:creationId xmlns:a16="http://schemas.microsoft.com/office/drawing/2014/main" id="{84DC0D84-14F6-76F6-0C40-A7A6CD9BB8A8}"/>
              </a:ext>
            </a:extLst>
          </p:cNvPr>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23" name="Text 21">
            <a:extLst>
              <a:ext uri="{FF2B5EF4-FFF2-40B4-BE49-F238E27FC236}">
                <a16:creationId xmlns:a16="http://schemas.microsoft.com/office/drawing/2014/main" id="{35065067-2DA8-FC8F-46A4-2EEB9F8BD2AD}"/>
              </a:ext>
            </a:extLst>
          </p:cNvPr>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4" name="Text 22">
            <a:extLst>
              <a:ext uri="{FF2B5EF4-FFF2-40B4-BE49-F238E27FC236}">
                <a16:creationId xmlns:a16="http://schemas.microsoft.com/office/drawing/2014/main" id="{BAEE37AE-8BA3-5DD0-46F5-14042378D5C4}"/>
              </a:ext>
            </a:extLst>
          </p:cNvPr>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9 / 16</a:t>
            </a:r>
            <a:endParaRPr lang="en-US" sz="1000"/>
          </a:p>
        </p:txBody>
      </p:sp>
    </p:spTree>
    <p:extLst>
      <p:ext uri="{BB962C8B-B14F-4D97-AF65-F5344CB8AC3E}">
        <p14:creationId xmlns:p14="http://schemas.microsoft.com/office/powerpoint/2010/main" val="3764044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73913378-7925-D9C6-D2AF-9926D86C48E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5264D99-8388-8D79-13B1-5B51D8FEC49F}"/>
              </a:ext>
            </a:extLst>
          </p:cNvPr>
          <p:cNvSpPr/>
          <p:nvPr/>
        </p:nvSpPr>
        <p:spPr>
          <a:xfrm>
            <a:off x="548640" y="502920"/>
            <a:ext cx="164592" cy="164592"/>
          </a:xfrm>
          <a:prstGeom prst="ellipse">
            <a:avLst/>
          </a:prstGeom>
          <a:solidFill>
            <a:srgbClr val="2ABB9B"/>
          </a:solidFill>
          <a:ln w="12700">
            <a:solidFill>
              <a:srgbClr val="2ABB9B"/>
            </a:solidFill>
            <a:prstDash val="solid"/>
          </a:ln>
        </p:spPr>
        <p:txBody>
          <a:bodyPr/>
          <a:lstStyle/>
          <a:p>
            <a:endParaRPr lang="de-DE"/>
          </a:p>
        </p:txBody>
      </p:sp>
      <p:sp>
        <p:nvSpPr>
          <p:cNvPr id="3" name="Text 1">
            <a:extLst>
              <a:ext uri="{FF2B5EF4-FFF2-40B4-BE49-F238E27FC236}">
                <a16:creationId xmlns:a16="http://schemas.microsoft.com/office/drawing/2014/main" id="{6F56B919-45B5-BC9B-337E-5BBF972ECB54}"/>
              </a:ext>
            </a:extLst>
          </p:cNvPr>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2ABB9B"/>
                </a:solidFill>
                <a:latin typeface="Calibri" pitchFamily="34" charset="0"/>
                <a:ea typeface="Calibri" pitchFamily="34" charset="-122"/>
                <a:cs typeface="Calibri" pitchFamily="34" charset="-120"/>
              </a:rPr>
              <a:t>BACKEND</a:t>
            </a:r>
            <a:endParaRPr lang="en-US" sz="1100"/>
          </a:p>
        </p:txBody>
      </p:sp>
      <p:sp>
        <p:nvSpPr>
          <p:cNvPr id="4" name="Text 2">
            <a:extLst>
              <a:ext uri="{FF2B5EF4-FFF2-40B4-BE49-F238E27FC236}">
                <a16:creationId xmlns:a16="http://schemas.microsoft.com/office/drawing/2014/main" id="{E15746E6-E94C-6D04-1F43-6466B3ABBFD8}"/>
              </a:ext>
            </a:extLst>
          </p:cNvPr>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pitchFamily="34" charset="0"/>
                <a:ea typeface="Calibri" pitchFamily="34" charset="-122"/>
                <a:cs typeface="Calibri" pitchFamily="34" charset="-120"/>
              </a:rPr>
              <a:t>Marco</a:t>
            </a:r>
            <a:endParaRPr lang="en-US" sz="1100"/>
          </a:p>
        </p:txBody>
      </p:sp>
      <p:sp>
        <p:nvSpPr>
          <p:cNvPr id="5" name="Text 3">
            <a:extLst>
              <a:ext uri="{FF2B5EF4-FFF2-40B4-BE49-F238E27FC236}">
                <a16:creationId xmlns:a16="http://schemas.microsoft.com/office/drawing/2014/main" id="{5438B48D-5EA5-CC00-8375-6EB13C39B6CB}"/>
              </a:ext>
            </a:extLst>
          </p:cNvPr>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Was macht das Backend</a:t>
            </a:r>
            <a:endParaRPr lang="en-US" sz="4000"/>
          </a:p>
        </p:txBody>
      </p:sp>
      <p:sp>
        <p:nvSpPr>
          <p:cNvPr id="6" name="Shape 4">
            <a:extLst>
              <a:ext uri="{FF2B5EF4-FFF2-40B4-BE49-F238E27FC236}">
                <a16:creationId xmlns:a16="http://schemas.microsoft.com/office/drawing/2014/main" id="{B39C3AED-D6FD-08B2-A2DA-B9D887B46130}"/>
              </a:ext>
            </a:extLst>
          </p:cNvPr>
          <p:cNvSpPr/>
          <p:nvPr/>
        </p:nvSpPr>
        <p:spPr>
          <a:xfrm>
            <a:off x="548640" y="3100153"/>
            <a:ext cx="5092535" cy="2892927"/>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1" name="Shape 9">
            <a:extLst>
              <a:ext uri="{FF2B5EF4-FFF2-40B4-BE49-F238E27FC236}">
                <a16:creationId xmlns:a16="http://schemas.microsoft.com/office/drawing/2014/main" id="{BCF1BDCD-7F6A-C94F-5649-A57FEEA2C13B}"/>
              </a:ext>
            </a:extLst>
          </p:cNvPr>
          <p:cNvSpPr/>
          <p:nvPr/>
        </p:nvSpPr>
        <p:spPr>
          <a:xfrm>
            <a:off x="6473438" y="3100153"/>
            <a:ext cx="5231080" cy="2892927"/>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6" name="Shape 14">
            <a:extLst>
              <a:ext uri="{FF2B5EF4-FFF2-40B4-BE49-F238E27FC236}">
                <a16:creationId xmlns:a16="http://schemas.microsoft.com/office/drawing/2014/main" id="{534C4B5E-1029-D6B9-989F-91470B829B30}"/>
              </a:ext>
            </a:extLst>
          </p:cNvPr>
          <p:cNvSpPr/>
          <p:nvPr/>
        </p:nvSpPr>
        <p:spPr>
          <a:xfrm>
            <a:off x="3303716" y="1826029"/>
            <a:ext cx="5785262" cy="1069572"/>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7" name="Shape 15">
            <a:extLst>
              <a:ext uri="{FF2B5EF4-FFF2-40B4-BE49-F238E27FC236}">
                <a16:creationId xmlns:a16="http://schemas.microsoft.com/office/drawing/2014/main" id="{EBD9515F-8CBE-7624-7167-964D38C3C190}"/>
              </a:ext>
            </a:extLst>
          </p:cNvPr>
          <p:cNvSpPr/>
          <p:nvPr/>
        </p:nvSpPr>
        <p:spPr>
          <a:xfrm>
            <a:off x="3603963" y="2027316"/>
            <a:ext cx="164592" cy="164592"/>
          </a:xfrm>
          <a:prstGeom prst="ellipse">
            <a:avLst/>
          </a:prstGeom>
          <a:solidFill>
            <a:srgbClr val="2ABB9B"/>
          </a:solidFill>
          <a:ln w="12700">
            <a:solidFill>
              <a:srgbClr val="2ABB9B"/>
            </a:solidFill>
            <a:prstDash val="solid"/>
          </a:ln>
        </p:spPr>
        <p:txBody>
          <a:bodyPr/>
          <a:lstStyle/>
          <a:p>
            <a:endParaRPr lang="de-DE"/>
          </a:p>
        </p:txBody>
      </p:sp>
      <p:sp>
        <p:nvSpPr>
          <p:cNvPr id="18" name="Text 16">
            <a:extLst>
              <a:ext uri="{FF2B5EF4-FFF2-40B4-BE49-F238E27FC236}">
                <a16:creationId xmlns:a16="http://schemas.microsoft.com/office/drawing/2014/main" id="{12CA54E9-6B36-B0A7-E434-D10D6DB05FF6}"/>
              </a:ext>
            </a:extLst>
          </p:cNvPr>
          <p:cNvSpPr/>
          <p:nvPr/>
        </p:nvSpPr>
        <p:spPr>
          <a:xfrm>
            <a:off x="3832563" y="1981596"/>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3</a:t>
            </a:r>
            <a:endParaRPr lang="en-US" sz="1000"/>
          </a:p>
        </p:txBody>
      </p:sp>
      <p:sp>
        <p:nvSpPr>
          <p:cNvPr id="19" name="Text 17">
            <a:extLst>
              <a:ext uri="{FF2B5EF4-FFF2-40B4-BE49-F238E27FC236}">
                <a16:creationId xmlns:a16="http://schemas.microsoft.com/office/drawing/2014/main" id="{50371E10-75F1-5771-000F-B6C9F8BE5CBD}"/>
              </a:ext>
            </a:extLst>
          </p:cNvPr>
          <p:cNvSpPr/>
          <p:nvPr/>
        </p:nvSpPr>
        <p:spPr>
          <a:xfrm>
            <a:off x="726785" y="3182290"/>
            <a:ext cx="3108960" cy="502920"/>
          </a:xfrm>
          <a:prstGeom prst="rect">
            <a:avLst/>
          </a:prstGeom>
          <a:noFill/>
          <a:ln/>
        </p:spPr>
        <p:txBody>
          <a:bodyPr wrap="square" lIns="0" tIns="0" rIns="0" bIns="0" rtlCol="0" anchor="t"/>
          <a:lstStyle/>
          <a:p>
            <a:pPr marL="0" indent="0">
              <a:buNone/>
            </a:pPr>
            <a:r>
              <a:rPr lang="en-US" sz="2000" b="1" dirty="0" err="1">
                <a:solidFill>
                  <a:srgbClr val="213547"/>
                </a:solidFill>
                <a:ea typeface="+mn-lt"/>
                <a:cs typeface="+mn-lt"/>
              </a:rPr>
              <a:t>Datenserialisierung</a:t>
            </a:r>
            <a:endParaRPr lang="en-US" dirty="0" err="1"/>
          </a:p>
        </p:txBody>
      </p:sp>
      <p:sp>
        <p:nvSpPr>
          <p:cNvPr id="20" name="Text 18">
            <a:extLst>
              <a:ext uri="{FF2B5EF4-FFF2-40B4-BE49-F238E27FC236}">
                <a16:creationId xmlns:a16="http://schemas.microsoft.com/office/drawing/2014/main" id="{1D58F1A9-9BC6-376E-BB65-951471DF89C4}"/>
              </a:ext>
            </a:extLst>
          </p:cNvPr>
          <p:cNvSpPr/>
          <p:nvPr/>
        </p:nvSpPr>
        <p:spPr>
          <a:xfrm>
            <a:off x="5800898" y="1978033"/>
            <a:ext cx="3455323" cy="665415"/>
          </a:xfrm>
          <a:prstGeom prst="rect">
            <a:avLst/>
          </a:prstGeom>
          <a:noFill/>
          <a:ln/>
        </p:spPr>
        <p:txBody>
          <a:bodyPr wrap="square" lIns="0" tIns="0" rIns="0" bIns="0" rtlCol="0" anchor="t"/>
          <a:lstStyle/>
          <a:p>
            <a:r>
              <a:rPr lang="en-US" sz="1400">
                <a:solidFill>
                  <a:srgbClr val="5A6A7A"/>
                </a:solidFill>
                <a:ea typeface="+mn-lt"/>
                <a:cs typeface="+mn-lt"/>
              </a:rPr>
              <a:t>Das Backend verpackt die abgerufene Datenbankzeile und sendet sie als saubere JSON-Antwort an das Frontend zurück.</a:t>
            </a:r>
            <a:endParaRPr lang="en-US">
              <a:ea typeface="+mn-lt"/>
              <a:cs typeface="+mn-lt"/>
            </a:endParaRPr>
          </a:p>
        </p:txBody>
      </p:sp>
      <p:sp>
        <p:nvSpPr>
          <p:cNvPr id="21" name="Text 19">
            <a:extLst>
              <a:ext uri="{FF2B5EF4-FFF2-40B4-BE49-F238E27FC236}">
                <a16:creationId xmlns:a16="http://schemas.microsoft.com/office/drawing/2014/main" id="{937F288F-362D-D996-3A7B-C6A5AEB5F66D}"/>
              </a:ext>
            </a:extLst>
          </p:cNvPr>
          <p:cNvSpPr/>
          <p:nvPr/>
        </p:nvSpPr>
        <p:spPr>
          <a:xfrm>
            <a:off x="548640" y="5989320"/>
            <a:ext cx="11064240" cy="365760"/>
          </a:xfrm>
          <a:prstGeom prst="rect">
            <a:avLst/>
          </a:prstGeom>
          <a:noFill/>
          <a:ln/>
        </p:spPr>
        <p:txBody>
          <a:bodyPr wrap="square" lIns="0" tIns="0" rIns="0" bIns="0" rtlCol="0" anchor="ctr"/>
          <a:lstStyle/>
          <a:p>
            <a:pPr marL="0" indent="0" algn="ctr">
              <a:buNone/>
            </a:pPr>
            <a:r>
              <a:rPr lang="en-US" sz="1400" i="1">
                <a:solidFill>
                  <a:srgbClr val="8C97A1"/>
                </a:solidFill>
                <a:latin typeface="Calibri" pitchFamily="34" charset="0"/>
                <a:ea typeface="Calibri" pitchFamily="34" charset="-122"/>
                <a:cs typeface="Calibri" pitchFamily="34" charset="-120"/>
              </a:rPr>
              <a:t>Gebaut mit Python und einer Bibliothek namens Flask. Schlank und gut zu lesen.</a:t>
            </a:r>
            <a:endParaRPr lang="en-US" sz="1400"/>
          </a:p>
        </p:txBody>
      </p:sp>
      <p:sp>
        <p:nvSpPr>
          <p:cNvPr id="22" name="Shape 20">
            <a:extLst>
              <a:ext uri="{FF2B5EF4-FFF2-40B4-BE49-F238E27FC236}">
                <a16:creationId xmlns:a16="http://schemas.microsoft.com/office/drawing/2014/main" id="{AFC3DB1B-B92E-CFA6-0B13-24547376957E}"/>
              </a:ext>
            </a:extLst>
          </p:cNvPr>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23" name="Text 21">
            <a:extLst>
              <a:ext uri="{FF2B5EF4-FFF2-40B4-BE49-F238E27FC236}">
                <a16:creationId xmlns:a16="http://schemas.microsoft.com/office/drawing/2014/main" id="{DD8C0E54-853A-3F31-3487-3A7519A4337A}"/>
              </a:ext>
            </a:extLst>
          </p:cNvPr>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4" name="Text 22">
            <a:extLst>
              <a:ext uri="{FF2B5EF4-FFF2-40B4-BE49-F238E27FC236}">
                <a16:creationId xmlns:a16="http://schemas.microsoft.com/office/drawing/2014/main" id="{8A3D8481-B31F-E156-4AD6-2AA7CE4D4AF5}"/>
              </a:ext>
            </a:extLst>
          </p:cNvPr>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9 / 16</a:t>
            </a:r>
            <a:endParaRPr lang="en-US" sz="1000"/>
          </a:p>
        </p:txBody>
      </p:sp>
      <p:sp>
        <p:nvSpPr>
          <p:cNvPr id="7" name="Text 17">
            <a:extLst>
              <a:ext uri="{FF2B5EF4-FFF2-40B4-BE49-F238E27FC236}">
                <a16:creationId xmlns:a16="http://schemas.microsoft.com/office/drawing/2014/main" id="{5FBFCA7D-656E-6967-52FD-CE5F67335569}"/>
              </a:ext>
            </a:extLst>
          </p:cNvPr>
          <p:cNvSpPr/>
          <p:nvPr/>
        </p:nvSpPr>
        <p:spPr>
          <a:xfrm>
            <a:off x="3749105" y="2538218"/>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Antwort schicken</a:t>
            </a:r>
            <a:endParaRPr lang="en-US" sz="2000"/>
          </a:p>
        </p:txBody>
      </p:sp>
      <p:graphicFrame>
        <p:nvGraphicFramePr>
          <p:cNvPr id="10" name="Table 9">
            <a:extLst>
              <a:ext uri="{FF2B5EF4-FFF2-40B4-BE49-F238E27FC236}">
                <a16:creationId xmlns:a16="http://schemas.microsoft.com/office/drawing/2014/main" id="{9B9A1DD5-DFAA-E89C-A2BB-7B9373285F73}"/>
              </a:ext>
            </a:extLst>
          </p:cNvPr>
          <p:cNvGraphicFramePr>
            <a:graphicFrameLocks noGrp="1"/>
          </p:cNvGraphicFramePr>
          <p:nvPr>
            <p:extLst>
              <p:ext uri="{D42A27DB-BD31-4B8C-83A1-F6EECF244321}">
                <p14:modId xmlns:p14="http://schemas.microsoft.com/office/powerpoint/2010/main" val="107642563"/>
              </p:ext>
            </p:extLst>
          </p:nvPr>
        </p:nvGraphicFramePr>
        <p:xfrm>
          <a:off x="562707" y="3552092"/>
          <a:ext cx="5088060" cy="2414895"/>
        </p:xfrm>
        <a:graphic>
          <a:graphicData uri="http://schemas.openxmlformats.org/drawingml/2006/table">
            <a:tbl>
              <a:tblPr bandRow="1">
                <a:tableStyleId>{5C22544A-7EE6-4342-B048-85BDC9FD1C3A}</a:tableStyleId>
              </a:tblPr>
              <a:tblGrid>
                <a:gridCol w="5088060">
                  <a:extLst>
                    <a:ext uri="{9D8B030D-6E8A-4147-A177-3AD203B41FA5}">
                      <a16:colId xmlns:a16="http://schemas.microsoft.com/office/drawing/2014/main" val="4098664762"/>
                    </a:ext>
                  </a:extLst>
                </a:gridCol>
              </a:tblGrid>
              <a:tr h="2414895">
                <a:tc>
                  <a:txBody>
                    <a:bodyPr/>
                    <a:lstStyle/>
                    <a:p>
                      <a:pPr rtl="0" fontAlgn="t">
                        <a:buNone/>
                      </a:pPr>
                      <a:r>
                        <a:rPr lang="en-US" sz="1800" b="0" i="0" u="none" strike="noStrike" dirty="0" err="1">
                          <a:solidFill>
                            <a:srgbClr val="FFFFFF"/>
                          </a:solidFill>
                          <a:effectLst/>
                          <a:latin typeface="Consolas"/>
                        </a:rPr>
                        <a:t>user_model</a:t>
                      </a:r>
                      <a:r>
                        <a:rPr lang="en-US" sz="1800" b="0" i="0" u="none" strike="noStrike" dirty="0">
                          <a:solidFill>
                            <a:srgbClr val="FFFFFF"/>
                          </a:solidFill>
                          <a:effectLst/>
                          <a:latin typeface="Consolas"/>
                        </a:rPr>
                        <a:t> = </a:t>
                      </a:r>
                      <a:r>
                        <a:rPr lang="en-US" sz="1800" b="0" i="0" u="none" strike="noStrike" dirty="0" err="1">
                          <a:solidFill>
                            <a:srgbClr val="FFFFFF"/>
                          </a:solidFill>
                          <a:effectLst/>
                          <a:highlight>
                            <a:srgbClr val="808000"/>
                          </a:highlight>
                          <a:latin typeface="Consolas"/>
                        </a:rPr>
                        <a:t>api.model</a:t>
                      </a:r>
                      <a:r>
                        <a:rPr lang="en-US" sz="1800" b="0" i="0" u="none" strike="noStrike" dirty="0">
                          <a:solidFill>
                            <a:srgbClr val="FFFFFF"/>
                          </a:solidFill>
                          <a:effectLst/>
                          <a:highlight>
                            <a:srgbClr val="808000"/>
                          </a:highlight>
                          <a:latin typeface="Consolas"/>
                        </a:rPr>
                        <a:t>(</a:t>
                      </a:r>
                      <a:br>
                        <a:rPr lang="en-US" sz="1800" b="0" i="0" u="none" strike="noStrike" dirty="0">
                          <a:solidFill>
                            <a:srgbClr val="FFFFFF"/>
                          </a:solidFill>
                          <a:effectLst/>
                          <a:highlight>
                            <a:srgbClr val="808000"/>
                          </a:highlight>
                          <a:latin typeface="Consolas"/>
                        </a:rPr>
                      </a:br>
                      <a:r>
                        <a:rPr lang="en-US" sz="1800" b="0" i="0" u="none" strike="noStrike" dirty="0">
                          <a:solidFill>
                            <a:srgbClr val="FFFFFF"/>
                          </a:solidFill>
                          <a:effectLst/>
                          <a:highlight>
                            <a:srgbClr val="808000"/>
                          </a:highlight>
                          <a:latin typeface="Consolas"/>
                        </a:rPr>
                        <a:t>    </a:t>
                      </a:r>
                      <a:r>
                        <a:rPr lang="en-US" sz="1800" b="0" i="0" u="none" strike="noStrike" dirty="0">
                          <a:solidFill>
                            <a:srgbClr val="A2FCA2"/>
                          </a:solidFill>
                          <a:effectLst/>
                          <a:highlight>
                            <a:srgbClr val="808000"/>
                          </a:highlight>
                          <a:latin typeface="Consolas"/>
                        </a:rPr>
                        <a:t>"User"</a:t>
                      </a:r>
                      <a:r>
                        <a:rPr lang="en-US" sz="1800" b="0" i="0" u="none" strike="noStrike" dirty="0">
                          <a:solidFill>
                            <a:srgbClr val="FFFFFF"/>
                          </a:solidFill>
                          <a:effectLst/>
                          <a:highlight>
                            <a:srgbClr val="808000"/>
                          </a:highlight>
                          <a:latin typeface="Consolas"/>
                        </a:rPr>
                        <a:t>,</a:t>
                      </a:r>
                      <a:br>
                        <a:rPr lang="en-US" sz="1800" b="0" i="0" u="none" strike="noStrike" dirty="0">
                          <a:solidFill>
                            <a:srgbClr val="FFFFFF"/>
                          </a:solidFill>
                          <a:effectLst/>
                          <a:highlight>
                            <a:srgbClr val="808000"/>
                          </a:highlight>
                          <a:latin typeface="Consolas"/>
                        </a:rPr>
                      </a:br>
                      <a:r>
                        <a:rPr lang="en-US" sz="1800" b="0" i="0" u="none" strike="noStrike" dirty="0">
                          <a:solidFill>
                            <a:srgbClr val="FFFFFF"/>
                          </a:solidFill>
                          <a:effectLst/>
                          <a:latin typeface="Consolas"/>
                        </a:rPr>
                        <a:t>    {</a:t>
                      </a:r>
                      <a:br>
                        <a:rPr lang="en-US" sz="1800" b="0" i="0" u="none" strike="noStrike" dirty="0">
                          <a:solidFill>
                            <a:srgbClr val="FFFFFF"/>
                          </a:solidFill>
                          <a:effectLst/>
                          <a:latin typeface="Consolas"/>
                        </a:rPr>
                      </a:br>
                      <a:r>
                        <a:rPr lang="en-US" sz="1800" b="0" i="0" u="none" strike="noStrike" dirty="0">
                          <a:solidFill>
                            <a:srgbClr val="FFFFFF"/>
                          </a:solidFill>
                          <a:effectLst/>
                          <a:latin typeface="Consolas"/>
                        </a:rPr>
                        <a:t>        </a:t>
                      </a:r>
                      <a:r>
                        <a:rPr lang="en-US" sz="1800" b="0" i="0" u="none" strike="noStrike" dirty="0">
                          <a:solidFill>
                            <a:srgbClr val="A2FCA2"/>
                          </a:solidFill>
                          <a:effectLst/>
                          <a:latin typeface="Consolas"/>
                        </a:rPr>
                        <a:t>"id"</a:t>
                      </a:r>
                      <a:r>
                        <a:rPr lang="en-US" sz="1800" b="0" i="0" u="none" strike="noStrike" dirty="0">
                          <a:solidFill>
                            <a:srgbClr val="FFFFFF"/>
                          </a:solidFill>
                          <a:effectLst/>
                          <a:latin typeface="Consolas"/>
                        </a:rPr>
                        <a:t>: </a:t>
                      </a:r>
                      <a:r>
                        <a:rPr lang="en-US" sz="1800" b="0" i="0" u="none" strike="noStrike" dirty="0" err="1">
                          <a:solidFill>
                            <a:srgbClr val="FFFFFF"/>
                          </a:solidFill>
                          <a:effectLst/>
                          <a:latin typeface="Consolas"/>
                        </a:rPr>
                        <a:t>fields.String</a:t>
                      </a:r>
                      <a:r>
                        <a:rPr lang="en-US" sz="1800" b="0" i="0" u="none" strike="noStrike" dirty="0">
                          <a:solidFill>
                            <a:srgbClr val="FFFFFF"/>
                          </a:solidFill>
                          <a:effectLst/>
                          <a:latin typeface="Consolas"/>
                        </a:rPr>
                        <a:t>(),</a:t>
                      </a:r>
                      <a:br>
                        <a:rPr lang="en-US" sz="1800" b="0" i="0" u="none" strike="noStrike" dirty="0">
                          <a:solidFill>
                            <a:srgbClr val="FFFFFF"/>
                          </a:solidFill>
                          <a:effectLst/>
                          <a:latin typeface="Consolas"/>
                        </a:rPr>
                      </a:br>
                      <a:r>
                        <a:rPr lang="en-US" sz="1800" b="0" i="0" u="none" strike="noStrike" dirty="0">
                          <a:solidFill>
                            <a:srgbClr val="FFFFFF"/>
                          </a:solidFill>
                          <a:effectLst/>
                          <a:latin typeface="Consolas"/>
                        </a:rPr>
                        <a:t>        </a:t>
                      </a:r>
                      <a:r>
                        <a:rPr lang="en-US" sz="1800" b="0" i="0" u="none" strike="noStrike" dirty="0">
                          <a:solidFill>
                            <a:srgbClr val="A2FCA2"/>
                          </a:solidFill>
                          <a:effectLst/>
                          <a:latin typeface="Consolas"/>
                        </a:rPr>
                        <a:t>"</a:t>
                      </a:r>
                      <a:r>
                        <a:rPr lang="en-US" sz="1800" b="0" i="0" u="none" strike="noStrike" dirty="0" err="1">
                          <a:solidFill>
                            <a:srgbClr val="A2FCA2"/>
                          </a:solidFill>
                          <a:effectLst/>
                          <a:latin typeface="Consolas"/>
                        </a:rPr>
                        <a:t>firstname</a:t>
                      </a:r>
                      <a:r>
                        <a:rPr lang="en-US" sz="1800" b="0" i="0" u="none" strike="noStrike" dirty="0">
                          <a:solidFill>
                            <a:srgbClr val="A2FCA2"/>
                          </a:solidFill>
                          <a:effectLst/>
                          <a:latin typeface="Consolas"/>
                        </a:rPr>
                        <a:t>"</a:t>
                      </a:r>
                      <a:r>
                        <a:rPr lang="en-US" sz="1800" b="0" i="0" u="none" strike="noStrike" dirty="0">
                          <a:solidFill>
                            <a:srgbClr val="FFFFFF"/>
                          </a:solidFill>
                          <a:effectLst/>
                          <a:latin typeface="Consolas"/>
                        </a:rPr>
                        <a:t>: </a:t>
                      </a:r>
                      <a:r>
                        <a:rPr lang="en-US" sz="1800" b="0" i="0" u="none" strike="noStrike" dirty="0" err="1">
                          <a:solidFill>
                            <a:srgbClr val="FFFFFF"/>
                          </a:solidFill>
                          <a:effectLst/>
                          <a:latin typeface="Consolas"/>
                        </a:rPr>
                        <a:t>fields.String</a:t>
                      </a:r>
                      <a:r>
                        <a:rPr lang="en-US" sz="1800" b="0" i="0" u="none" strike="noStrike" dirty="0">
                          <a:solidFill>
                            <a:srgbClr val="FFFFFF"/>
                          </a:solidFill>
                          <a:effectLst/>
                          <a:latin typeface="Consolas"/>
                        </a:rPr>
                        <a:t>(),</a:t>
                      </a:r>
                      <a:br>
                        <a:rPr lang="en-US" sz="1800" b="0" i="0" u="none" strike="noStrike" dirty="0">
                          <a:solidFill>
                            <a:srgbClr val="FFFFFF"/>
                          </a:solidFill>
                          <a:effectLst/>
                          <a:latin typeface="Consolas"/>
                        </a:rPr>
                      </a:br>
                      <a:r>
                        <a:rPr lang="en-US" sz="1800" b="0" i="0" u="none" strike="noStrike" dirty="0">
                          <a:solidFill>
                            <a:srgbClr val="FFFFFF"/>
                          </a:solidFill>
                          <a:effectLst/>
                          <a:latin typeface="Consolas"/>
                        </a:rPr>
                        <a:t>        </a:t>
                      </a:r>
                      <a:r>
                        <a:rPr lang="en-US" sz="1800" b="0" i="0" u="none" strike="noStrike" dirty="0">
                          <a:solidFill>
                            <a:srgbClr val="A2FCA2"/>
                          </a:solidFill>
                          <a:effectLst/>
                          <a:latin typeface="Consolas"/>
                        </a:rPr>
                        <a:t>...</a:t>
                      </a:r>
                      <a:br>
                        <a:rPr lang="en-US" sz="1800" b="0" i="0" u="none" strike="noStrike" dirty="0">
                          <a:solidFill>
                            <a:srgbClr val="FFFFFF"/>
                          </a:solidFill>
                          <a:effectLst/>
                          <a:latin typeface="Consolas"/>
                        </a:rPr>
                      </a:br>
                      <a:r>
                        <a:rPr lang="en-US" sz="1800" b="0" i="0" u="none" strike="noStrike" dirty="0">
                          <a:solidFill>
                            <a:srgbClr val="FFFFFF"/>
                          </a:solidFill>
                          <a:effectLst/>
                          <a:latin typeface="Consolas"/>
                        </a:rPr>
                        <a:t>    },</a:t>
                      </a:r>
                      <a:br>
                        <a:rPr lang="en-US" sz="1800" b="0" i="0" u="none" strike="noStrike" dirty="0">
                          <a:solidFill>
                            <a:srgbClr val="FFFFFF"/>
                          </a:solidFill>
                          <a:effectLst/>
                          <a:latin typeface="Consolas"/>
                        </a:rPr>
                      </a:br>
                      <a:r>
                        <a:rPr lang="en-US" sz="1800" b="0" i="0" u="none" strike="noStrike" dirty="0">
                          <a:solidFill>
                            <a:srgbClr val="FFFFFF"/>
                          </a:solidFill>
                          <a:effectLst/>
                          <a:latin typeface="Consolas"/>
                        </a:rPr>
                        <a:t>)</a:t>
                      </a:r>
                      <a:endParaRPr lang="en-US" dirty="0">
                        <a:effectLst/>
                        <a:latin typeface="Consolas"/>
                      </a:endParaRPr>
                    </a:p>
                  </a:txBody>
                  <a:tcPr marL="63500" marR="63500" marT="63500" marB="63500">
                    <a:lnL>
                      <a:noFill/>
                    </a:lnL>
                    <a:lnR>
                      <a:noFill/>
                    </a:lnR>
                    <a:lnT>
                      <a:noFill/>
                    </a:lnT>
                    <a:lnB>
                      <a:noFill/>
                    </a:lnB>
                    <a:solidFill>
                      <a:srgbClr val="333333"/>
                    </a:solidFill>
                  </a:tcPr>
                </a:tc>
                <a:extLst>
                  <a:ext uri="{0D108BD9-81ED-4DB2-BD59-A6C34878D82A}">
                    <a16:rowId xmlns:a16="http://schemas.microsoft.com/office/drawing/2014/main" val="2896465354"/>
                  </a:ext>
                </a:extLst>
              </a:tr>
            </a:tbl>
          </a:graphicData>
        </a:graphic>
      </p:graphicFrame>
      <p:graphicFrame>
        <p:nvGraphicFramePr>
          <p:cNvPr id="13" name="Table 12">
            <a:extLst>
              <a:ext uri="{FF2B5EF4-FFF2-40B4-BE49-F238E27FC236}">
                <a16:creationId xmlns:a16="http://schemas.microsoft.com/office/drawing/2014/main" id="{4D7EDAAE-6E93-47CE-F51A-192216F87276}"/>
              </a:ext>
            </a:extLst>
          </p:cNvPr>
          <p:cNvGraphicFramePr>
            <a:graphicFrameLocks noGrp="1"/>
          </p:cNvGraphicFramePr>
          <p:nvPr>
            <p:extLst>
              <p:ext uri="{D42A27DB-BD31-4B8C-83A1-F6EECF244321}">
                <p14:modId xmlns:p14="http://schemas.microsoft.com/office/powerpoint/2010/main" val="2298236057"/>
              </p:ext>
            </p:extLst>
          </p:nvPr>
        </p:nvGraphicFramePr>
        <p:xfrm>
          <a:off x="6471138" y="3540369"/>
          <a:ext cx="5240398" cy="2426630"/>
        </p:xfrm>
        <a:graphic>
          <a:graphicData uri="http://schemas.openxmlformats.org/drawingml/2006/table">
            <a:tbl>
              <a:tblPr bandRow="1">
                <a:tableStyleId>{5C22544A-7EE6-4342-B048-85BDC9FD1C3A}</a:tableStyleId>
              </a:tblPr>
              <a:tblGrid>
                <a:gridCol w="5240398">
                  <a:extLst>
                    <a:ext uri="{9D8B030D-6E8A-4147-A177-3AD203B41FA5}">
                      <a16:colId xmlns:a16="http://schemas.microsoft.com/office/drawing/2014/main" val="4076008570"/>
                    </a:ext>
                  </a:extLst>
                </a:gridCol>
              </a:tblGrid>
              <a:tr h="2426630">
                <a:tc>
                  <a:txBody>
                    <a:bodyPr/>
                    <a:lstStyle/>
                    <a:p>
                      <a:pPr rtl="0" fontAlgn="t">
                        <a:buNone/>
                      </a:pPr>
                      <a:r>
                        <a:rPr lang="en-US" sz="1800" b="0" i="0" u="none" strike="noStrike" dirty="0">
                          <a:solidFill>
                            <a:srgbClr val="FC9B9B"/>
                          </a:solidFill>
                          <a:effectLst/>
                          <a:latin typeface="Consolas"/>
                        </a:rPr>
                        <a:t>@api</a:t>
                      </a:r>
                      <a:r>
                        <a:rPr lang="en-US" sz="1800" b="0" i="0" u="none" strike="noStrike" dirty="0">
                          <a:solidFill>
                            <a:srgbClr val="FFFFFF"/>
                          </a:solidFill>
                          <a:effectLst/>
                          <a:latin typeface="Consolas"/>
                        </a:rPr>
                        <a:t>.route(</a:t>
                      </a:r>
                      <a:r>
                        <a:rPr lang="en-US" sz="1800" b="0" i="0" u="none" strike="noStrike" dirty="0">
                          <a:solidFill>
                            <a:srgbClr val="A2FCA2"/>
                          </a:solidFill>
                          <a:effectLst/>
                          <a:latin typeface="Consolas"/>
                        </a:rPr>
                        <a:t>"/&lt;string:id&gt;"</a:t>
                      </a:r>
                      <a:r>
                        <a:rPr lang="en-US" sz="1800" b="0" i="0" u="none" strike="noStrike" dirty="0">
                          <a:solidFill>
                            <a:srgbClr val="FFFFFF"/>
                          </a:solidFill>
                          <a:effectLst/>
                          <a:latin typeface="Consolas"/>
                        </a:rPr>
                        <a:t>)</a:t>
                      </a:r>
                      <a:br>
                        <a:rPr lang="en-US" sz="1800" b="0" i="0" u="none" strike="noStrike" dirty="0">
                          <a:solidFill>
                            <a:srgbClr val="FFFFFF"/>
                          </a:solidFill>
                          <a:effectLst/>
                          <a:latin typeface="Consolas"/>
                        </a:rPr>
                      </a:br>
                      <a:r>
                        <a:rPr lang="en-US" sz="1800" b="0" i="0" u="none" strike="noStrike" dirty="0">
                          <a:solidFill>
                            <a:srgbClr val="FCC28C"/>
                          </a:solidFill>
                          <a:effectLst/>
                          <a:latin typeface="Consolas"/>
                        </a:rPr>
                        <a:t>class</a:t>
                      </a:r>
                      <a:r>
                        <a:rPr lang="en-US" sz="1800" b="0" i="0" u="none" strike="noStrike" dirty="0">
                          <a:solidFill>
                            <a:srgbClr val="FFFFFF"/>
                          </a:solidFill>
                          <a:effectLst/>
                          <a:latin typeface="Consolas"/>
                        </a:rPr>
                        <a:t> </a:t>
                      </a:r>
                      <a:r>
                        <a:rPr lang="en-US" sz="1800" b="0" i="0" u="none" strike="noStrike" dirty="0" err="1">
                          <a:solidFill>
                            <a:srgbClr val="FFFFFF"/>
                          </a:solidFill>
                          <a:effectLst/>
                          <a:latin typeface="Consolas"/>
                        </a:rPr>
                        <a:t>UserController</a:t>
                      </a:r>
                      <a:r>
                        <a:rPr lang="en-US" sz="1800" b="0" i="0" u="none" strike="noStrike" dirty="0">
                          <a:solidFill>
                            <a:srgbClr val="FFFFFF"/>
                          </a:solidFill>
                          <a:effectLst/>
                          <a:latin typeface="Consolas"/>
                        </a:rPr>
                        <a:t>(Resource):</a:t>
                      </a:r>
                      <a:br>
                        <a:rPr lang="en-US" sz="1800" b="0" i="0" u="none" strike="noStrike" dirty="0">
                          <a:solidFill>
                            <a:srgbClr val="FFFFFF"/>
                          </a:solidFill>
                          <a:effectLst/>
                          <a:latin typeface="Consolas"/>
                        </a:rPr>
                      </a:br>
                      <a:r>
                        <a:rPr lang="en-US" sz="1800" b="0" i="0" u="none" strike="noStrike" dirty="0">
                          <a:solidFill>
                            <a:srgbClr val="FFFFFF"/>
                          </a:solidFill>
                          <a:effectLst/>
                          <a:latin typeface="Consolas"/>
                        </a:rPr>
                        <a:t>    </a:t>
                      </a:r>
                      <a:r>
                        <a:rPr lang="en-US" sz="1800" b="0" i="0" u="none" strike="noStrike" dirty="0">
                          <a:solidFill>
                            <a:srgbClr val="FC9B9B"/>
                          </a:solidFill>
                          <a:effectLst/>
                          <a:highlight>
                            <a:srgbClr val="808000"/>
                          </a:highlight>
                          <a:latin typeface="Consolas"/>
                        </a:rPr>
                        <a:t>@api</a:t>
                      </a:r>
                      <a:r>
                        <a:rPr lang="en-US" sz="1800" b="0" i="0" u="none" strike="noStrike" dirty="0">
                          <a:solidFill>
                            <a:srgbClr val="FFFFFF"/>
                          </a:solidFill>
                          <a:effectLst/>
                          <a:highlight>
                            <a:srgbClr val="808000"/>
                          </a:highlight>
                          <a:latin typeface="Consolas"/>
                        </a:rPr>
                        <a:t>.marshal_with(user_model)</a:t>
                      </a:r>
                      <a:br>
                        <a:rPr lang="en-US" sz="1800" b="0" i="0" u="none" strike="noStrike" dirty="0">
                          <a:solidFill>
                            <a:srgbClr val="FFFFFF"/>
                          </a:solidFill>
                          <a:effectLst/>
                          <a:latin typeface="Consolas"/>
                        </a:rPr>
                      </a:br>
                      <a:r>
                        <a:rPr lang="en-US" sz="1800" b="0" i="0" u="none" strike="noStrike" dirty="0">
                          <a:solidFill>
                            <a:srgbClr val="FFFFFF"/>
                          </a:solidFill>
                          <a:effectLst/>
                          <a:latin typeface="Consolas"/>
                        </a:rPr>
                        <a:t>    def </a:t>
                      </a:r>
                      <a:r>
                        <a:rPr lang="en-US" sz="1800" b="0" i="0" u="none" strike="noStrike" dirty="0">
                          <a:solidFill>
                            <a:srgbClr val="FCC28C"/>
                          </a:solidFill>
                          <a:effectLst/>
                          <a:latin typeface="Consolas"/>
                        </a:rPr>
                        <a:t>get</a:t>
                      </a:r>
                      <a:r>
                        <a:rPr lang="en-US" sz="1800" b="0" i="0" u="none" strike="noStrike" dirty="0">
                          <a:solidFill>
                            <a:srgbClr val="FFFFFF"/>
                          </a:solidFill>
                          <a:effectLst/>
                          <a:latin typeface="Consolas"/>
                        </a:rPr>
                        <a:t>(self, id):</a:t>
                      </a:r>
                      <a:endParaRPr lang="en-US" dirty="0">
                        <a:effectLst/>
                        <a:latin typeface="Consolas"/>
                      </a:endParaRPr>
                    </a:p>
                    <a:p>
                      <a:pPr lvl="0">
                        <a:buNone/>
                      </a:pPr>
                      <a:r>
                        <a:rPr lang="en-US" sz="1800" b="0" i="0" u="none" strike="noStrike">
                          <a:solidFill>
                            <a:srgbClr val="FFFFFF"/>
                          </a:solidFill>
                          <a:effectLst/>
                          <a:latin typeface="Consolas"/>
                        </a:rPr>
                        <a:t>        ...</a:t>
                      </a:r>
                      <a:br>
                        <a:rPr lang="en-US" sz="1800" b="0" i="0" u="none" strike="noStrike" dirty="0">
                          <a:solidFill>
                            <a:srgbClr val="FFFFFF"/>
                          </a:solidFill>
                          <a:effectLst/>
                          <a:latin typeface="Consolas"/>
                        </a:rPr>
                      </a:br>
                      <a:br>
                        <a:rPr lang="en-US" sz="1800" b="0" i="0" u="none" strike="noStrike" dirty="0">
                          <a:solidFill>
                            <a:srgbClr val="FFFFFF"/>
                          </a:solidFill>
                          <a:effectLst/>
                          <a:latin typeface="Consolas"/>
                        </a:rPr>
                      </a:br>
                      <a:endParaRPr lang="en-US" dirty="0">
                        <a:effectLst/>
                        <a:latin typeface="Consolas"/>
                      </a:endParaRPr>
                    </a:p>
                  </a:txBody>
                  <a:tcPr marL="63500" marR="63500" marT="63500" marB="63500">
                    <a:lnL>
                      <a:noFill/>
                    </a:lnL>
                    <a:lnR>
                      <a:noFill/>
                    </a:lnR>
                    <a:lnT>
                      <a:noFill/>
                    </a:lnT>
                    <a:lnB>
                      <a:noFill/>
                    </a:lnB>
                    <a:solidFill>
                      <a:srgbClr val="333333"/>
                    </a:solidFill>
                  </a:tcPr>
                </a:tc>
                <a:extLst>
                  <a:ext uri="{0D108BD9-81ED-4DB2-BD59-A6C34878D82A}">
                    <a16:rowId xmlns:a16="http://schemas.microsoft.com/office/drawing/2014/main" val="511491758"/>
                  </a:ext>
                </a:extLst>
              </a:tr>
            </a:tbl>
          </a:graphicData>
        </a:graphic>
      </p:graphicFrame>
      <p:sp>
        <p:nvSpPr>
          <p:cNvPr id="14" name="Text 17">
            <a:extLst>
              <a:ext uri="{FF2B5EF4-FFF2-40B4-BE49-F238E27FC236}">
                <a16:creationId xmlns:a16="http://schemas.microsoft.com/office/drawing/2014/main" id="{9426D06D-B9F6-F1A3-8D8D-10414BD466DF}"/>
              </a:ext>
            </a:extLst>
          </p:cNvPr>
          <p:cNvSpPr/>
          <p:nvPr/>
        </p:nvSpPr>
        <p:spPr>
          <a:xfrm>
            <a:off x="6635215" y="3182290"/>
            <a:ext cx="3108960" cy="502920"/>
          </a:xfrm>
          <a:prstGeom prst="rect">
            <a:avLst/>
          </a:prstGeom>
          <a:noFill/>
          <a:ln/>
        </p:spPr>
        <p:txBody>
          <a:bodyPr wrap="square" lIns="0" tIns="0" rIns="0" bIns="0" rtlCol="0" anchor="t"/>
          <a:lstStyle/>
          <a:p>
            <a:r>
              <a:rPr lang="en-US" sz="2000" b="1" dirty="0" err="1">
                <a:solidFill>
                  <a:srgbClr val="213547"/>
                </a:solidFill>
                <a:ea typeface="+mn-lt"/>
                <a:cs typeface="+mn-lt"/>
              </a:rPr>
              <a:t>FlaskX</a:t>
            </a:r>
            <a:r>
              <a:rPr lang="en-US" sz="2000" b="1" dirty="0">
                <a:solidFill>
                  <a:srgbClr val="213547"/>
                </a:solidFill>
                <a:ea typeface="+mn-lt"/>
                <a:cs typeface="+mn-lt"/>
              </a:rPr>
              <a:t> Data Marshalling</a:t>
            </a:r>
            <a:endParaRPr lang="en-US" dirty="0" err="1"/>
          </a:p>
        </p:txBody>
      </p:sp>
    </p:spTree>
    <p:extLst>
      <p:ext uri="{BB962C8B-B14F-4D97-AF65-F5344CB8AC3E}">
        <p14:creationId xmlns:p14="http://schemas.microsoft.com/office/powerpoint/2010/main" val="4201147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840217E0-2797-EC99-8AD5-6EA77EC9A49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9348FDE-F5E8-AA22-E465-EAE7C1027392}"/>
              </a:ext>
            </a:extLst>
          </p:cNvPr>
          <p:cNvSpPr/>
          <p:nvPr/>
        </p:nvSpPr>
        <p:spPr>
          <a:xfrm>
            <a:off x="548640" y="502920"/>
            <a:ext cx="164592" cy="164592"/>
          </a:xfrm>
          <a:prstGeom prst="ellipse">
            <a:avLst/>
          </a:prstGeom>
          <a:solidFill>
            <a:srgbClr val="2ABB9B"/>
          </a:solidFill>
          <a:ln w="12700">
            <a:solidFill>
              <a:srgbClr val="2ABB9B"/>
            </a:solidFill>
            <a:prstDash val="solid"/>
          </a:ln>
        </p:spPr>
        <p:txBody>
          <a:bodyPr/>
          <a:lstStyle/>
          <a:p>
            <a:endParaRPr lang="de-DE"/>
          </a:p>
        </p:txBody>
      </p:sp>
      <p:sp>
        <p:nvSpPr>
          <p:cNvPr id="3" name="Text 1">
            <a:extLst>
              <a:ext uri="{FF2B5EF4-FFF2-40B4-BE49-F238E27FC236}">
                <a16:creationId xmlns:a16="http://schemas.microsoft.com/office/drawing/2014/main" id="{B7E9FB25-7137-F4DC-6CCB-CB47281E6A88}"/>
              </a:ext>
            </a:extLst>
          </p:cNvPr>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2ABB9B"/>
                </a:solidFill>
                <a:latin typeface="Calibri" pitchFamily="34" charset="0"/>
                <a:ea typeface="Calibri" pitchFamily="34" charset="-122"/>
                <a:cs typeface="Calibri" pitchFamily="34" charset="-120"/>
              </a:rPr>
              <a:t>BACKEND</a:t>
            </a:r>
            <a:endParaRPr lang="en-US" sz="1100"/>
          </a:p>
        </p:txBody>
      </p:sp>
      <p:sp>
        <p:nvSpPr>
          <p:cNvPr id="4" name="Text 2">
            <a:extLst>
              <a:ext uri="{FF2B5EF4-FFF2-40B4-BE49-F238E27FC236}">
                <a16:creationId xmlns:a16="http://schemas.microsoft.com/office/drawing/2014/main" id="{E8360F25-CC70-366D-234E-B4EA173B79A2}"/>
              </a:ext>
            </a:extLst>
          </p:cNvPr>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pitchFamily="34" charset="0"/>
                <a:ea typeface="Calibri" pitchFamily="34" charset="-122"/>
                <a:cs typeface="Calibri" pitchFamily="34" charset="-120"/>
              </a:rPr>
              <a:t>Marco</a:t>
            </a:r>
            <a:endParaRPr lang="en-US" sz="1100"/>
          </a:p>
        </p:txBody>
      </p:sp>
      <p:sp>
        <p:nvSpPr>
          <p:cNvPr id="5" name="Text 3">
            <a:extLst>
              <a:ext uri="{FF2B5EF4-FFF2-40B4-BE49-F238E27FC236}">
                <a16:creationId xmlns:a16="http://schemas.microsoft.com/office/drawing/2014/main" id="{38DA038A-2C1C-D414-C4AD-63AFD4E7F4CD}"/>
              </a:ext>
            </a:extLst>
          </p:cNvPr>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Was macht das Backend</a:t>
            </a:r>
            <a:endParaRPr lang="en-US" sz="4000"/>
          </a:p>
        </p:txBody>
      </p:sp>
      <p:sp>
        <p:nvSpPr>
          <p:cNvPr id="16" name="Shape 14">
            <a:extLst>
              <a:ext uri="{FF2B5EF4-FFF2-40B4-BE49-F238E27FC236}">
                <a16:creationId xmlns:a16="http://schemas.microsoft.com/office/drawing/2014/main" id="{69533B03-4E52-6DB3-F28A-7E315AA277FA}"/>
              </a:ext>
            </a:extLst>
          </p:cNvPr>
          <p:cNvSpPr/>
          <p:nvPr/>
        </p:nvSpPr>
        <p:spPr>
          <a:xfrm>
            <a:off x="3303716" y="1826029"/>
            <a:ext cx="5785262" cy="1069572"/>
          </a:xfrm>
          <a:prstGeom prst="rect">
            <a:avLst/>
          </a:prstGeom>
          <a:solidFill>
            <a:srgbClr val="FFFFFF"/>
          </a:solidFill>
          <a:ln w="9525">
            <a:solidFill>
              <a:srgbClr val="EBE6DE"/>
            </a:solidFill>
            <a:prstDash val="solid"/>
          </a:ln>
          <a:effectLst>
            <a:outerShdw blurRad="177800" dist="38100" dir="5400000" algn="bl" rotWithShape="0">
              <a:srgbClr val="000000">
                <a:alpha val="5000"/>
              </a:srgbClr>
            </a:outerShdw>
          </a:effectLst>
        </p:spPr>
        <p:txBody>
          <a:bodyPr/>
          <a:lstStyle/>
          <a:p>
            <a:endParaRPr lang="de-DE"/>
          </a:p>
        </p:txBody>
      </p:sp>
      <p:sp>
        <p:nvSpPr>
          <p:cNvPr id="17" name="Shape 15">
            <a:extLst>
              <a:ext uri="{FF2B5EF4-FFF2-40B4-BE49-F238E27FC236}">
                <a16:creationId xmlns:a16="http://schemas.microsoft.com/office/drawing/2014/main" id="{0FF27579-9FCA-EE72-E50B-68DD3DDBE042}"/>
              </a:ext>
            </a:extLst>
          </p:cNvPr>
          <p:cNvSpPr/>
          <p:nvPr/>
        </p:nvSpPr>
        <p:spPr>
          <a:xfrm>
            <a:off x="3603963" y="2027316"/>
            <a:ext cx="164592" cy="164592"/>
          </a:xfrm>
          <a:prstGeom prst="ellipse">
            <a:avLst/>
          </a:prstGeom>
          <a:solidFill>
            <a:srgbClr val="2ABB9B"/>
          </a:solidFill>
          <a:ln w="12700">
            <a:solidFill>
              <a:srgbClr val="2ABB9B"/>
            </a:solidFill>
            <a:prstDash val="solid"/>
          </a:ln>
        </p:spPr>
        <p:txBody>
          <a:bodyPr/>
          <a:lstStyle/>
          <a:p>
            <a:endParaRPr lang="de-DE"/>
          </a:p>
        </p:txBody>
      </p:sp>
      <p:sp>
        <p:nvSpPr>
          <p:cNvPr id="18" name="Text 16">
            <a:extLst>
              <a:ext uri="{FF2B5EF4-FFF2-40B4-BE49-F238E27FC236}">
                <a16:creationId xmlns:a16="http://schemas.microsoft.com/office/drawing/2014/main" id="{B2649ED4-D76D-AAFB-0FD9-AA6E6DD3E92C}"/>
              </a:ext>
            </a:extLst>
          </p:cNvPr>
          <p:cNvSpPr/>
          <p:nvPr/>
        </p:nvSpPr>
        <p:spPr>
          <a:xfrm>
            <a:off x="3832563" y="1981596"/>
            <a:ext cx="2926080" cy="274320"/>
          </a:xfrm>
          <a:prstGeom prst="rect">
            <a:avLst/>
          </a:prstGeom>
          <a:noFill/>
          <a:ln/>
        </p:spPr>
        <p:txBody>
          <a:bodyPr wrap="square" lIns="0" tIns="0" rIns="0" bIns="0" rtlCol="0" anchor="ctr"/>
          <a:lstStyle/>
          <a:p>
            <a:pPr marL="0" indent="0">
              <a:buNone/>
            </a:pPr>
            <a:r>
              <a:rPr lang="en-US" sz="1000" b="1" kern="0" spc="300">
                <a:solidFill>
                  <a:srgbClr val="2ABB9B"/>
                </a:solidFill>
                <a:latin typeface="Calibri" pitchFamily="34" charset="0"/>
                <a:ea typeface="Calibri" pitchFamily="34" charset="-122"/>
                <a:cs typeface="Calibri" pitchFamily="34" charset="-120"/>
              </a:rPr>
              <a:t>SCHRITT 3</a:t>
            </a:r>
            <a:endParaRPr lang="en-US" sz="1000"/>
          </a:p>
        </p:txBody>
      </p:sp>
      <p:sp>
        <p:nvSpPr>
          <p:cNvPr id="20" name="Text 18">
            <a:extLst>
              <a:ext uri="{FF2B5EF4-FFF2-40B4-BE49-F238E27FC236}">
                <a16:creationId xmlns:a16="http://schemas.microsoft.com/office/drawing/2014/main" id="{05A63D68-5F7C-D562-B2F1-5E6215488FE9}"/>
              </a:ext>
            </a:extLst>
          </p:cNvPr>
          <p:cNvSpPr/>
          <p:nvPr/>
        </p:nvSpPr>
        <p:spPr>
          <a:xfrm>
            <a:off x="5800898" y="1978033"/>
            <a:ext cx="3455323" cy="665415"/>
          </a:xfrm>
          <a:prstGeom prst="rect">
            <a:avLst/>
          </a:prstGeom>
          <a:noFill/>
          <a:ln/>
        </p:spPr>
        <p:txBody>
          <a:bodyPr wrap="square" lIns="0" tIns="0" rIns="0" bIns="0" rtlCol="0" anchor="t"/>
          <a:lstStyle/>
          <a:p>
            <a:r>
              <a:rPr lang="en-US" sz="1400">
                <a:solidFill>
                  <a:srgbClr val="5A6A7A"/>
                </a:solidFill>
                <a:ea typeface="+mn-lt"/>
                <a:cs typeface="+mn-lt"/>
              </a:rPr>
              <a:t>Das Backend verpackt die abgerufene Datenbankzeile und sendet sie als saubere JSON-Antwort an das Frontend zurück.</a:t>
            </a:r>
            <a:endParaRPr lang="en-US">
              <a:ea typeface="+mn-lt"/>
              <a:cs typeface="+mn-lt"/>
            </a:endParaRPr>
          </a:p>
        </p:txBody>
      </p:sp>
      <p:sp>
        <p:nvSpPr>
          <p:cNvPr id="21" name="Text 19">
            <a:extLst>
              <a:ext uri="{FF2B5EF4-FFF2-40B4-BE49-F238E27FC236}">
                <a16:creationId xmlns:a16="http://schemas.microsoft.com/office/drawing/2014/main" id="{9505FF72-CD9C-0255-3778-7432CE948306}"/>
              </a:ext>
            </a:extLst>
          </p:cNvPr>
          <p:cNvSpPr/>
          <p:nvPr/>
        </p:nvSpPr>
        <p:spPr>
          <a:xfrm>
            <a:off x="548640" y="5989320"/>
            <a:ext cx="11064240" cy="365760"/>
          </a:xfrm>
          <a:prstGeom prst="rect">
            <a:avLst/>
          </a:prstGeom>
          <a:noFill/>
          <a:ln/>
        </p:spPr>
        <p:txBody>
          <a:bodyPr wrap="square" lIns="0" tIns="0" rIns="0" bIns="0" rtlCol="0" anchor="ctr"/>
          <a:lstStyle/>
          <a:p>
            <a:pPr marL="0" indent="0" algn="ctr">
              <a:buNone/>
            </a:pPr>
            <a:r>
              <a:rPr lang="en-US" sz="1400" i="1">
                <a:solidFill>
                  <a:srgbClr val="8C97A1"/>
                </a:solidFill>
                <a:latin typeface="Calibri" pitchFamily="34" charset="0"/>
                <a:ea typeface="Calibri" pitchFamily="34" charset="-122"/>
                <a:cs typeface="Calibri" pitchFamily="34" charset="-120"/>
              </a:rPr>
              <a:t>Gebaut mit Python und einer Bibliothek namens Flask. Schlank und gut zu lesen.</a:t>
            </a:r>
            <a:endParaRPr lang="en-US" sz="1400"/>
          </a:p>
        </p:txBody>
      </p:sp>
      <p:sp>
        <p:nvSpPr>
          <p:cNvPr id="22" name="Shape 20">
            <a:extLst>
              <a:ext uri="{FF2B5EF4-FFF2-40B4-BE49-F238E27FC236}">
                <a16:creationId xmlns:a16="http://schemas.microsoft.com/office/drawing/2014/main" id="{CD3F710B-4756-6293-F7D3-5B309D90BFA1}"/>
              </a:ext>
            </a:extLst>
          </p:cNvPr>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23" name="Text 21">
            <a:extLst>
              <a:ext uri="{FF2B5EF4-FFF2-40B4-BE49-F238E27FC236}">
                <a16:creationId xmlns:a16="http://schemas.microsoft.com/office/drawing/2014/main" id="{FB500DD6-12E6-D692-0F49-86AEDE311470}"/>
              </a:ext>
            </a:extLst>
          </p:cNvPr>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24" name="Text 22">
            <a:extLst>
              <a:ext uri="{FF2B5EF4-FFF2-40B4-BE49-F238E27FC236}">
                <a16:creationId xmlns:a16="http://schemas.microsoft.com/office/drawing/2014/main" id="{61094239-ED9B-952E-CAFD-42EC8172557A}"/>
              </a:ext>
            </a:extLst>
          </p:cNvPr>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9 / 16</a:t>
            </a:r>
            <a:endParaRPr lang="en-US" sz="1000"/>
          </a:p>
        </p:txBody>
      </p:sp>
      <p:sp>
        <p:nvSpPr>
          <p:cNvPr id="7" name="Text 17">
            <a:extLst>
              <a:ext uri="{FF2B5EF4-FFF2-40B4-BE49-F238E27FC236}">
                <a16:creationId xmlns:a16="http://schemas.microsoft.com/office/drawing/2014/main" id="{C8D4C0C5-C647-23D1-6F9E-F5B8E9AE65A6}"/>
              </a:ext>
            </a:extLst>
          </p:cNvPr>
          <p:cNvSpPr/>
          <p:nvPr/>
        </p:nvSpPr>
        <p:spPr>
          <a:xfrm>
            <a:off x="3749105" y="2538218"/>
            <a:ext cx="3108960" cy="502920"/>
          </a:xfrm>
          <a:prstGeom prst="rect">
            <a:avLst/>
          </a:prstGeom>
          <a:noFill/>
          <a:ln/>
        </p:spPr>
        <p:txBody>
          <a:bodyPr wrap="square" lIns="0" tIns="0" rIns="0" bIns="0" rtlCol="0" anchor="t"/>
          <a:lstStyle/>
          <a:p>
            <a:pPr marL="0" indent="0">
              <a:buNone/>
            </a:pPr>
            <a:r>
              <a:rPr lang="en-US" sz="2000" b="1">
                <a:solidFill>
                  <a:srgbClr val="213547"/>
                </a:solidFill>
                <a:latin typeface="Calibri" pitchFamily="34" charset="0"/>
                <a:ea typeface="Calibri" pitchFamily="34" charset="-122"/>
                <a:cs typeface="Calibri" pitchFamily="34" charset="-120"/>
              </a:rPr>
              <a:t>Antwort schicken</a:t>
            </a:r>
            <a:endParaRPr lang="en-US" sz="2000"/>
          </a:p>
        </p:txBody>
      </p:sp>
      <p:pic>
        <p:nvPicPr>
          <p:cNvPr id="6" name="Picture 5" descr="A screenshot of a computer program&#10;&#10;AI-generated content may be incorrect.">
            <a:extLst>
              <a:ext uri="{FF2B5EF4-FFF2-40B4-BE49-F238E27FC236}">
                <a16:creationId xmlns:a16="http://schemas.microsoft.com/office/drawing/2014/main" id="{00BA18DC-5BA9-1F56-E89A-AB9D681371A1}"/>
              </a:ext>
            </a:extLst>
          </p:cNvPr>
          <p:cNvPicPr>
            <a:picLocks noChangeAspect="1"/>
          </p:cNvPicPr>
          <p:nvPr/>
        </p:nvPicPr>
        <p:blipFill>
          <a:blip r:embed="rId3"/>
          <a:stretch>
            <a:fillRect/>
          </a:stretch>
        </p:blipFill>
        <p:spPr>
          <a:xfrm>
            <a:off x="638628" y="3035755"/>
            <a:ext cx="4909457" cy="2854778"/>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73221EF9-D942-48FC-7137-2246C92B3B3E}"/>
              </a:ext>
            </a:extLst>
          </p:cNvPr>
          <p:cNvPicPr>
            <a:picLocks noChangeAspect="1"/>
          </p:cNvPicPr>
          <p:nvPr/>
        </p:nvPicPr>
        <p:blipFill>
          <a:blip r:embed="rId4"/>
          <a:srcRect l="43" t="36" r="-336" b="20202"/>
          <a:stretch>
            <a:fillRect/>
          </a:stretch>
        </p:blipFill>
        <p:spPr>
          <a:xfrm>
            <a:off x="6400654" y="3035709"/>
            <a:ext cx="5416489" cy="2886968"/>
          </a:xfrm>
          <a:prstGeom prst="rect">
            <a:avLst/>
          </a:prstGeom>
        </p:spPr>
      </p:pic>
    </p:spTree>
    <p:extLst>
      <p:ext uri="{BB962C8B-B14F-4D97-AF65-F5344CB8AC3E}">
        <p14:creationId xmlns:p14="http://schemas.microsoft.com/office/powerpoint/2010/main" val="841754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ellipse">
            <a:avLst/>
          </a:prstGeom>
          <a:solidFill>
            <a:srgbClr val="2ABB9B"/>
          </a:solidFill>
          <a:ln w="12700">
            <a:solidFill>
              <a:srgbClr val="2ABB9B"/>
            </a:solidFill>
            <a:prstDash val="solid"/>
          </a:ln>
        </p:spPr>
        <p:txBody>
          <a:bodyPr/>
          <a:lstStyle/>
          <a:p>
            <a:endParaRPr lang="de-DE"/>
          </a:p>
        </p:txBody>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2ABB9B"/>
                </a:solidFill>
                <a:latin typeface="Calibri" pitchFamily="34" charset="0"/>
                <a:ea typeface="Calibri" pitchFamily="34" charset="-122"/>
                <a:cs typeface="Calibri" pitchFamily="34" charset="-120"/>
              </a:rPr>
              <a:t>BACKEND</a:t>
            </a:r>
            <a:endParaRPr lang="en-US" sz="1100"/>
          </a:p>
        </p:txBody>
      </p:sp>
      <p:sp>
        <p:nvSpPr>
          <p:cNvPr id="4" name="Text 2"/>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pitchFamily="34" charset="0"/>
                <a:ea typeface="Calibri" pitchFamily="34" charset="-122"/>
                <a:cs typeface="Calibri" pitchFamily="34" charset="-120"/>
              </a:rPr>
              <a:t>Marco</a:t>
            </a:r>
            <a:endParaRPr lang="en-US" sz="1100"/>
          </a:p>
        </p:txBody>
      </p:sp>
      <p:sp>
        <p:nvSpPr>
          <p:cNvPr id="5" name="Text 3"/>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Eine Sache lief nicht wie geplant</a:t>
            </a:r>
            <a:endParaRPr lang="en-US" sz="4000"/>
          </a:p>
        </p:txBody>
      </p:sp>
      <p:sp>
        <p:nvSpPr>
          <p:cNvPr id="6" name="Text 4"/>
          <p:cNvSpPr/>
          <p:nvPr/>
        </p:nvSpPr>
        <p:spPr>
          <a:xfrm>
            <a:off x="548640" y="2103120"/>
            <a:ext cx="5486400" cy="457200"/>
          </a:xfrm>
          <a:prstGeom prst="rect">
            <a:avLst/>
          </a:prstGeom>
          <a:noFill/>
          <a:ln/>
        </p:spPr>
        <p:txBody>
          <a:bodyPr wrap="square" lIns="0" tIns="0" rIns="0" bIns="0" rtlCol="0" anchor="ctr"/>
          <a:lstStyle/>
          <a:p>
            <a:pPr marL="0" indent="0">
              <a:buNone/>
            </a:pPr>
            <a:r>
              <a:rPr lang="en-US" sz="2000" b="1">
                <a:solidFill>
                  <a:srgbClr val="8C97A1"/>
                </a:solidFill>
                <a:latin typeface="Calibri" pitchFamily="34" charset="0"/>
                <a:ea typeface="Calibri" pitchFamily="34" charset="-122"/>
                <a:cs typeface="Calibri" pitchFamily="34" charset="-120"/>
              </a:rPr>
              <a:t>Geplant war</a:t>
            </a:r>
            <a:endParaRPr lang="en-US" sz="2000"/>
          </a:p>
        </p:txBody>
      </p:sp>
      <p:sp>
        <p:nvSpPr>
          <p:cNvPr id="7" name="Text 5"/>
          <p:cNvSpPr/>
          <p:nvPr/>
        </p:nvSpPr>
        <p:spPr>
          <a:xfrm>
            <a:off x="548640" y="2606040"/>
            <a:ext cx="5212080" cy="2286000"/>
          </a:xfrm>
          <a:prstGeom prst="rect">
            <a:avLst/>
          </a:prstGeom>
          <a:noFill/>
          <a:ln/>
        </p:spPr>
        <p:txBody>
          <a:bodyPr wrap="square" lIns="0" tIns="0" rIns="0" bIns="0" rtlCol="0" anchor="t"/>
          <a:lstStyle/>
          <a:p>
            <a:pPr marL="0" indent="0">
              <a:buNone/>
            </a:pPr>
            <a:r>
              <a:rPr lang="en-US" sz="1500">
                <a:solidFill>
                  <a:srgbClr val="5A6A7A"/>
                </a:solidFill>
                <a:latin typeface="Calibri" pitchFamily="34" charset="0"/>
                <a:ea typeface="Calibri" pitchFamily="34" charset="-122"/>
                <a:cs typeface="Calibri" pitchFamily="34" charset="-120"/>
              </a:rPr>
              <a:t>Wir wollten einen Vermittler zwischen Backend und Datenbank benutzen, der die Arbeit vereinfacht. Das Werkzeug heißt ORDS und kommt von Oracle.</a:t>
            </a:r>
            <a:endParaRPr lang="en-US" sz="1500"/>
          </a:p>
        </p:txBody>
      </p:sp>
      <p:sp>
        <p:nvSpPr>
          <p:cNvPr id="8" name="Shape 6"/>
          <p:cNvSpPr/>
          <p:nvPr/>
        </p:nvSpPr>
        <p:spPr>
          <a:xfrm>
            <a:off x="6035040" y="2103120"/>
            <a:ext cx="5852160" cy="4023360"/>
          </a:xfrm>
          <a:prstGeom prst="rect">
            <a:avLst/>
          </a:prstGeom>
          <a:solidFill>
            <a:srgbClr val="2ABB9B"/>
          </a:solidFill>
          <a:ln w="12700">
            <a:solidFill>
              <a:srgbClr val="2ABB9B"/>
            </a:solidFill>
            <a:prstDash val="solid"/>
          </a:ln>
        </p:spPr>
        <p:txBody>
          <a:bodyPr/>
          <a:lstStyle/>
          <a:p>
            <a:endParaRPr lang="de-DE"/>
          </a:p>
        </p:txBody>
      </p:sp>
      <p:sp>
        <p:nvSpPr>
          <p:cNvPr id="9" name="Text 7"/>
          <p:cNvSpPr/>
          <p:nvPr/>
        </p:nvSpPr>
        <p:spPr>
          <a:xfrm>
            <a:off x="6355080" y="2286000"/>
            <a:ext cx="5486400" cy="54864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Was geworden ist</a:t>
            </a:r>
            <a:endParaRPr lang="en-US" sz="2000"/>
          </a:p>
        </p:txBody>
      </p:sp>
      <p:sp>
        <p:nvSpPr>
          <p:cNvPr id="10" name="Text 8"/>
          <p:cNvSpPr/>
          <p:nvPr/>
        </p:nvSpPr>
        <p:spPr>
          <a:xfrm>
            <a:off x="6355080" y="2880360"/>
            <a:ext cx="5212080" cy="3108960"/>
          </a:xfrm>
          <a:prstGeom prst="rect">
            <a:avLst/>
          </a:prstGeom>
          <a:noFill/>
          <a:ln/>
        </p:spPr>
        <p:txBody>
          <a:bodyPr wrap="square" lIns="0" tIns="0" rIns="0" bIns="0" rtlCol="0" anchor="t"/>
          <a:lstStyle/>
          <a:p>
            <a:pPr marL="0" indent="0">
              <a:buNone/>
            </a:pPr>
            <a:r>
              <a:rPr lang="en-US" sz="1500">
                <a:solidFill>
                  <a:srgbClr val="FFFFFF"/>
                </a:solidFill>
                <a:latin typeface="Calibri" pitchFamily="34" charset="0"/>
                <a:ea typeface="Calibri" pitchFamily="34" charset="-122"/>
                <a:cs typeface="Calibri" pitchFamily="34" charset="-120"/>
              </a:rPr>
              <a:t>Das Setup hat einfach nicht stabil funktioniert. Bei jedem Versuch hatten wir neue Probleme. Im Lauf des Projekts haben wir es daher sein gelassen und sprechen direkt mit der Datenbank.</a:t>
            </a:r>
            <a:endParaRPr lang="en-US" sz="1500"/>
          </a:p>
          <a:p>
            <a:pPr marL="0" indent="0">
              <a:buNone/>
            </a:pPr>
            <a:endParaRPr lang="en-US" sz="1500"/>
          </a:p>
          <a:p>
            <a:pPr marL="0" indent="0">
              <a:buNone/>
            </a:pPr>
            <a:r>
              <a:rPr lang="en-US" sz="1500">
                <a:solidFill>
                  <a:srgbClr val="FFFFFF"/>
                </a:solidFill>
                <a:latin typeface="Calibri" pitchFamily="34" charset="0"/>
                <a:ea typeface="Calibri" pitchFamily="34" charset="-122"/>
                <a:cs typeface="Calibri" pitchFamily="34" charset="-120"/>
              </a:rPr>
              <a:t>Wir lassen das Thema bewusst offen für die nächste Klasse.</a:t>
            </a:r>
            <a:endParaRPr lang="en-US" sz="1500"/>
          </a:p>
        </p:txBody>
      </p:sp>
      <p:sp>
        <p:nvSpPr>
          <p:cNvPr id="11" name="Shape 9"/>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12" name="Text 10"/>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13" name="Text 11"/>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10 / 16</a:t>
            </a:r>
            <a:endParaRPr lang="en-US" sz="1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F3612830-D4C4-8C33-C410-C750B73044B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2283B9-91A7-940B-5BDC-E6A1D4BDB16B}"/>
              </a:ext>
            </a:extLst>
          </p:cNvPr>
          <p:cNvSpPr/>
          <p:nvPr/>
        </p:nvSpPr>
        <p:spPr>
          <a:xfrm>
            <a:off x="548640" y="502920"/>
            <a:ext cx="164592" cy="164592"/>
          </a:xfrm>
          <a:prstGeom prst="ellipse">
            <a:avLst/>
          </a:prstGeom>
          <a:solidFill>
            <a:srgbClr val="2ABB9B"/>
          </a:solidFill>
          <a:ln w="12700">
            <a:solidFill>
              <a:srgbClr val="2ABB9B"/>
            </a:solidFill>
            <a:prstDash val="solid"/>
          </a:ln>
        </p:spPr>
        <p:txBody>
          <a:bodyPr/>
          <a:lstStyle/>
          <a:p>
            <a:endParaRPr lang="de-DE"/>
          </a:p>
        </p:txBody>
      </p:sp>
      <p:sp>
        <p:nvSpPr>
          <p:cNvPr id="3" name="Text 1">
            <a:extLst>
              <a:ext uri="{FF2B5EF4-FFF2-40B4-BE49-F238E27FC236}">
                <a16:creationId xmlns:a16="http://schemas.microsoft.com/office/drawing/2014/main" id="{FCF61DA9-9B7C-78E6-31DB-D0CB04A5E7EB}"/>
              </a:ext>
            </a:extLst>
          </p:cNvPr>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2ABB9B"/>
                </a:solidFill>
                <a:latin typeface="Calibri" pitchFamily="34" charset="0"/>
                <a:ea typeface="Calibri" pitchFamily="34" charset="-122"/>
                <a:cs typeface="Calibri" pitchFamily="34" charset="-120"/>
              </a:rPr>
              <a:t>BACKEND</a:t>
            </a:r>
            <a:endParaRPr lang="en-US" sz="1100"/>
          </a:p>
        </p:txBody>
      </p:sp>
      <p:sp>
        <p:nvSpPr>
          <p:cNvPr id="4" name="Text 2">
            <a:extLst>
              <a:ext uri="{FF2B5EF4-FFF2-40B4-BE49-F238E27FC236}">
                <a16:creationId xmlns:a16="http://schemas.microsoft.com/office/drawing/2014/main" id="{7EDEE7B7-9CDA-3232-68C9-64F98C46CEA8}"/>
              </a:ext>
            </a:extLst>
          </p:cNvPr>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pitchFamily="34" charset="0"/>
                <a:ea typeface="Calibri" pitchFamily="34" charset="-122"/>
                <a:cs typeface="Calibri" pitchFamily="34" charset="-120"/>
              </a:rPr>
              <a:t>Marco</a:t>
            </a:r>
            <a:endParaRPr lang="en-US" sz="1100"/>
          </a:p>
        </p:txBody>
      </p:sp>
      <p:sp>
        <p:nvSpPr>
          <p:cNvPr id="5" name="Text 3">
            <a:extLst>
              <a:ext uri="{FF2B5EF4-FFF2-40B4-BE49-F238E27FC236}">
                <a16:creationId xmlns:a16="http://schemas.microsoft.com/office/drawing/2014/main" id="{C795BF7E-4139-999E-ED86-2935F538449F}"/>
              </a:ext>
            </a:extLst>
          </p:cNvPr>
          <p:cNvSpPr/>
          <p:nvPr/>
        </p:nvSpPr>
        <p:spPr>
          <a:xfrm>
            <a:off x="548640" y="868680"/>
            <a:ext cx="11155680" cy="1097280"/>
          </a:xfrm>
          <a:prstGeom prst="rect">
            <a:avLst/>
          </a:prstGeom>
          <a:noFill/>
          <a:ln/>
        </p:spPr>
        <p:txBody>
          <a:bodyPr wrap="square" lIns="0" tIns="0" rIns="0" bIns="0" rtlCol="0" anchor="t"/>
          <a:lstStyle/>
          <a:p>
            <a:r>
              <a:rPr lang="en-US" sz="4000" b="1" dirty="0">
                <a:solidFill>
                  <a:srgbClr val="213547"/>
                </a:solidFill>
                <a:latin typeface="Calibri"/>
                <a:ea typeface="Calibri"/>
                <a:cs typeface="Calibri"/>
              </a:rPr>
              <a:t>Do's und Dones</a:t>
            </a:r>
            <a:endParaRPr lang="en-US" dirty="0"/>
          </a:p>
        </p:txBody>
      </p:sp>
      <p:sp>
        <p:nvSpPr>
          <p:cNvPr id="8" name="Shape 6">
            <a:extLst>
              <a:ext uri="{FF2B5EF4-FFF2-40B4-BE49-F238E27FC236}">
                <a16:creationId xmlns:a16="http://schemas.microsoft.com/office/drawing/2014/main" id="{50F81CCD-D178-7E5D-9759-FA7CAED1444D}"/>
              </a:ext>
            </a:extLst>
          </p:cNvPr>
          <p:cNvSpPr/>
          <p:nvPr/>
        </p:nvSpPr>
        <p:spPr>
          <a:xfrm>
            <a:off x="6035040" y="2103120"/>
            <a:ext cx="5852160" cy="4023360"/>
          </a:xfrm>
          <a:prstGeom prst="rect">
            <a:avLst/>
          </a:prstGeom>
          <a:solidFill>
            <a:srgbClr val="2ABB9B">
              <a:alpha val="30000"/>
            </a:srgbClr>
          </a:solidFill>
          <a:ln w="12700">
            <a:noFill/>
            <a:prstDash val="solid"/>
          </a:ln>
        </p:spPr>
        <p:txBody>
          <a:bodyPr/>
          <a:lstStyle/>
          <a:p>
            <a:endParaRPr lang="de-DE"/>
          </a:p>
        </p:txBody>
      </p:sp>
      <p:sp>
        <p:nvSpPr>
          <p:cNvPr id="9" name="Text 7">
            <a:extLst>
              <a:ext uri="{FF2B5EF4-FFF2-40B4-BE49-F238E27FC236}">
                <a16:creationId xmlns:a16="http://schemas.microsoft.com/office/drawing/2014/main" id="{917E3A1F-11A8-78A3-37F1-01D9DA8A8BEA}"/>
              </a:ext>
            </a:extLst>
          </p:cNvPr>
          <p:cNvSpPr/>
          <p:nvPr/>
        </p:nvSpPr>
        <p:spPr>
          <a:xfrm>
            <a:off x="6355080" y="2286000"/>
            <a:ext cx="5486400" cy="548640"/>
          </a:xfrm>
          <a:prstGeom prst="rect">
            <a:avLst/>
          </a:prstGeom>
          <a:noFill/>
          <a:ln/>
        </p:spPr>
        <p:txBody>
          <a:bodyPr wrap="square" lIns="0" tIns="0" rIns="0" bIns="0" rtlCol="0" anchor="ctr"/>
          <a:lstStyle/>
          <a:p>
            <a:r>
              <a:rPr lang="en-US" sz="2000" b="1" dirty="0" err="1">
                <a:solidFill>
                  <a:srgbClr val="2ABB9B"/>
                </a:solidFill>
                <a:latin typeface="Calibri"/>
                <a:ea typeface="Calibri"/>
                <a:cs typeface="Calibri"/>
              </a:rPr>
              <a:t>Kommt</a:t>
            </a:r>
            <a:r>
              <a:rPr lang="en-US" sz="2000" b="1" dirty="0">
                <a:solidFill>
                  <a:srgbClr val="2ABB9B"/>
                </a:solidFill>
                <a:latin typeface="Calibri"/>
                <a:ea typeface="Calibri"/>
                <a:cs typeface="Calibri"/>
              </a:rPr>
              <a:t> noch</a:t>
            </a:r>
            <a:endParaRPr lang="en-US" sz="2000" b="1" dirty="0">
              <a:solidFill>
                <a:srgbClr val="2ABB9B"/>
              </a:solidFill>
              <a:ea typeface="Calibri"/>
              <a:cs typeface="Calibri"/>
            </a:endParaRPr>
          </a:p>
        </p:txBody>
      </p:sp>
      <p:sp>
        <p:nvSpPr>
          <p:cNvPr id="11" name="Shape 9">
            <a:extLst>
              <a:ext uri="{FF2B5EF4-FFF2-40B4-BE49-F238E27FC236}">
                <a16:creationId xmlns:a16="http://schemas.microsoft.com/office/drawing/2014/main" id="{23887839-2E0C-B1D7-CC2A-689E6D2B88B8}"/>
              </a:ext>
            </a:extLst>
          </p:cNvPr>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12" name="Text 10">
            <a:extLst>
              <a:ext uri="{FF2B5EF4-FFF2-40B4-BE49-F238E27FC236}">
                <a16:creationId xmlns:a16="http://schemas.microsoft.com/office/drawing/2014/main" id="{F4837DD1-5BCF-DA90-30DC-1A8A33DA1378}"/>
              </a:ext>
            </a:extLst>
          </p:cNvPr>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13" name="Text 11">
            <a:extLst>
              <a:ext uri="{FF2B5EF4-FFF2-40B4-BE49-F238E27FC236}">
                <a16:creationId xmlns:a16="http://schemas.microsoft.com/office/drawing/2014/main" id="{151DDF32-352A-AF36-1FCF-55E001B8F9BC}"/>
              </a:ext>
            </a:extLst>
          </p:cNvPr>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a:ea typeface="Calibri"/>
                <a:cs typeface="Calibri"/>
              </a:rPr>
              <a:t>11 / 16</a:t>
            </a:r>
            <a:endParaRPr lang="en-US" sz="1000">
              <a:latin typeface="Calibri"/>
              <a:ea typeface="Calibri"/>
              <a:cs typeface="Calibri"/>
            </a:endParaRPr>
          </a:p>
        </p:txBody>
      </p:sp>
      <p:sp>
        <p:nvSpPr>
          <p:cNvPr id="15" name="Text 4">
            <a:extLst>
              <a:ext uri="{FF2B5EF4-FFF2-40B4-BE49-F238E27FC236}">
                <a16:creationId xmlns:a16="http://schemas.microsoft.com/office/drawing/2014/main" id="{36D2D80B-1FB9-C944-8205-047DF334C388}"/>
              </a:ext>
            </a:extLst>
          </p:cNvPr>
          <p:cNvSpPr/>
          <p:nvPr/>
        </p:nvSpPr>
        <p:spPr>
          <a:xfrm>
            <a:off x="548640" y="2103120"/>
            <a:ext cx="5486400" cy="457200"/>
          </a:xfrm>
          <a:prstGeom prst="rect">
            <a:avLst/>
          </a:prstGeom>
          <a:noFill/>
          <a:ln/>
        </p:spPr>
        <p:txBody>
          <a:bodyPr wrap="square" lIns="0" tIns="0" rIns="0" bIns="0" rtlCol="0" anchor="ctr"/>
          <a:lstStyle/>
          <a:p>
            <a:pPr marL="0" indent="0">
              <a:buNone/>
            </a:pPr>
            <a:r>
              <a:rPr lang="en-US" sz="2000" b="1">
                <a:solidFill>
                  <a:srgbClr val="213547"/>
                </a:solidFill>
                <a:latin typeface="Calibri" pitchFamily="34" charset="0"/>
                <a:ea typeface="Calibri" pitchFamily="34" charset="-122"/>
                <a:cs typeface="Calibri" pitchFamily="34" charset="-120"/>
              </a:rPr>
              <a:t>Schon fertig</a:t>
            </a:r>
            <a:endParaRPr lang="en-US" sz="2000"/>
          </a:p>
        </p:txBody>
      </p:sp>
      <p:sp>
        <p:nvSpPr>
          <p:cNvPr id="17" name="Text 5">
            <a:extLst>
              <a:ext uri="{FF2B5EF4-FFF2-40B4-BE49-F238E27FC236}">
                <a16:creationId xmlns:a16="http://schemas.microsoft.com/office/drawing/2014/main" id="{14EB4F1E-B48D-2050-FE3F-842F1560F4EE}"/>
              </a:ext>
            </a:extLst>
          </p:cNvPr>
          <p:cNvSpPr/>
          <p:nvPr/>
        </p:nvSpPr>
        <p:spPr>
          <a:xfrm>
            <a:off x="548640" y="2606040"/>
            <a:ext cx="5029200" cy="3291840"/>
          </a:xfrm>
          <a:prstGeom prst="rect">
            <a:avLst/>
          </a:prstGeom>
          <a:noFill/>
          <a:ln/>
        </p:spPr>
        <p:txBody>
          <a:bodyPr wrap="square" lIns="0" tIns="0" rIns="0" bIns="0" rtlCol="0" anchor="t"/>
          <a:lstStyle/>
          <a:p>
            <a:pPr marL="342900" indent="-342900">
              <a:spcAft>
                <a:spcPts val="800"/>
              </a:spcAft>
              <a:buSzPct val="100000"/>
              <a:buFont typeface="Arial"/>
              <a:buChar char="✓"/>
            </a:pPr>
            <a:r>
              <a:rPr lang="en-US" sz="1600" dirty="0">
                <a:solidFill>
                  <a:srgbClr val="5A6A7A"/>
                </a:solidFill>
                <a:ea typeface="Calibri"/>
                <a:cs typeface="Calibri"/>
              </a:rPr>
              <a:t>API-</a:t>
            </a:r>
            <a:r>
              <a:rPr lang="en-US" sz="1600" dirty="0" err="1">
                <a:solidFill>
                  <a:srgbClr val="5A6A7A"/>
                </a:solidFill>
                <a:ea typeface="Calibri"/>
                <a:cs typeface="Calibri"/>
              </a:rPr>
              <a:t>Endpunkte</a:t>
            </a:r>
            <a:r>
              <a:rPr lang="en-US" sz="1600" dirty="0">
                <a:solidFill>
                  <a:srgbClr val="5A6A7A"/>
                </a:solidFill>
                <a:ea typeface="Calibri"/>
                <a:cs typeface="Calibri"/>
              </a:rPr>
              <a:t> für </a:t>
            </a:r>
            <a:r>
              <a:rPr lang="en-US" sz="1600" dirty="0" err="1">
                <a:solidFill>
                  <a:srgbClr val="5A6A7A"/>
                </a:solidFill>
                <a:ea typeface="Calibri"/>
                <a:cs typeface="Calibri"/>
              </a:rPr>
              <a:t>Kurse</a:t>
            </a:r>
            <a:r>
              <a:rPr lang="en-US" sz="1600" dirty="0">
                <a:solidFill>
                  <a:srgbClr val="5A6A7A"/>
                </a:solidFill>
                <a:ea typeface="Calibri"/>
                <a:cs typeface="Calibri"/>
              </a:rPr>
              <a:t> und </a:t>
            </a:r>
            <a:r>
              <a:rPr lang="en-US" sz="1600" dirty="0" err="1">
                <a:solidFill>
                  <a:srgbClr val="5A6A7A"/>
                </a:solidFill>
                <a:ea typeface="Calibri"/>
                <a:cs typeface="Calibri"/>
              </a:rPr>
              <a:t>Benutzer</a:t>
            </a:r>
          </a:p>
          <a:p>
            <a:pPr marL="342900" indent="-342900">
              <a:spcAft>
                <a:spcPts val="800"/>
              </a:spcAft>
              <a:buSzPct val="100000"/>
              <a:buFont typeface="Arial"/>
              <a:buChar char="✓"/>
            </a:pPr>
            <a:r>
              <a:rPr lang="en-US" sz="1600" dirty="0" err="1">
                <a:solidFill>
                  <a:srgbClr val="5A6A7A"/>
                </a:solidFill>
                <a:ea typeface="+mn-lt"/>
                <a:cs typeface="+mn-lt"/>
              </a:rPr>
              <a:t>Datenbankverbindung</a:t>
            </a:r>
            <a:r>
              <a:rPr lang="en-US" sz="1600" dirty="0">
                <a:solidFill>
                  <a:srgbClr val="5A6A7A"/>
                </a:solidFill>
                <a:ea typeface="+mn-lt"/>
                <a:cs typeface="+mn-lt"/>
              </a:rPr>
              <a:t> </a:t>
            </a:r>
            <a:r>
              <a:rPr lang="en-US" sz="1600" dirty="0" err="1">
                <a:solidFill>
                  <a:srgbClr val="5A6A7A"/>
                </a:solidFill>
                <a:ea typeface="+mn-lt"/>
                <a:cs typeface="+mn-lt"/>
              </a:rPr>
              <a:t>mit</a:t>
            </a:r>
            <a:r>
              <a:rPr lang="en-US" sz="1600" dirty="0">
                <a:solidFill>
                  <a:srgbClr val="5A6A7A"/>
                </a:solidFill>
                <a:ea typeface="+mn-lt"/>
                <a:cs typeface="+mn-lt"/>
              </a:rPr>
              <a:t> Pooling </a:t>
            </a:r>
            <a:r>
              <a:rPr lang="en-US" sz="1600" dirty="0" err="1">
                <a:solidFill>
                  <a:srgbClr val="5A6A7A"/>
                </a:solidFill>
                <a:ea typeface="+mn-lt"/>
                <a:cs typeface="+mn-lt"/>
              </a:rPr>
              <a:t>als</a:t>
            </a:r>
            <a:r>
              <a:rPr lang="en-US" sz="1600" dirty="0">
                <a:solidFill>
                  <a:srgbClr val="5A6A7A"/>
                </a:solidFill>
                <a:ea typeface="+mn-lt"/>
                <a:cs typeface="+mn-lt"/>
              </a:rPr>
              <a:t> </a:t>
            </a:r>
            <a:r>
              <a:rPr lang="en-US" sz="1600" dirty="0" err="1">
                <a:solidFill>
                  <a:srgbClr val="5A6A7A"/>
                </a:solidFill>
                <a:ea typeface="+mn-lt"/>
                <a:cs typeface="+mn-lt"/>
              </a:rPr>
              <a:t>Ressourcenverwaltung</a:t>
            </a:r>
            <a:endParaRPr lang="en-US" sz="1600">
              <a:solidFill>
                <a:srgbClr val="5A6A7A"/>
              </a:solidFill>
              <a:ea typeface="+mn-lt"/>
              <a:cs typeface="+mn-lt"/>
            </a:endParaRPr>
          </a:p>
          <a:p>
            <a:pPr marL="342900" indent="-342900">
              <a:spcAft>
                <a:spcPts val="800"/>
              </a:spcAft>
              <a:buSzPct val="100000"/>
              <a:buChar char="✓"/>
            </a:pPr>
            <a:r>
              <a:rPr lang="en-US" sz="1600">
                <a:solidFill>
                  <a:srgbClr val="5A6A7A"/>
                </a:solidFill>
                <a:latin typeface="Calibri"/>
                <a:ea typeface="Calibri"/>
                <a:cs typeface="Calibri"/>
              </a:rPr>
              <a:t>CORS</a:t>
            </a:r>
            <a:endParaRPr lang="en-US" sz="1600" dirty="0">
              <a:solidFill>
                <a:srgbClr val="5A6A7A"/>
              </a:solidFill>
              <a:latin typeface="Calibri"/>
              <a:ea typeface="Calibri"/>
              <a:cs typeface="Calibri"/>
            </a:endParaRPr>
          </a:p>
          <a:p>
            <a:pPr marL="342900" indent="-342900">
              <a:spcAft>
                <a:spcPts val="800"/>
              </a:spcAft>
              <a:buSzPct val="100000"/>
              <a:buChar char="✓"/>
            </a:pPr>
            <a:r>
              <a:rPr lang="en-US" sz="1600" dirty="0" err="1">
                <a:solidFill>
                  <a:srgbClr val="5A6A7A"/>
                </a:solidFill>
                <a:ea typeface="Calibri"/>
                <a:cs typeface="Calibri"/>
              </a:rPr>
              <a:t>Datenbank</a:t>
            </a:r>
            <a:r>
              <a:rPr lang="en-US" sz="1600" dirty="0">
                <a:solidFill>
                  <a:srgbClr val="5A6A7A"/>
                </a:solidFill>
                <a:ea typeface="Calibri"/>
                <a:cs typeface="Calibri"/>
              </a:rPr>
              <a:t> SQL-</a:t>
            </a:r>
            <a:r>
              <a:rPr lang="en-US" sz="1600" dirty="0" err="1">
                <a:solidFill>
                  <a:srgbClr val="5A6A7A"/>
                </a:solidFill>
                <a:ea typeface="Calibri"/>
                <a:cs typeface="Calibri"/>
              </a:rPr>
              <a:t>Abfragen</a:t>
            </a:r>
          </a:p>
        </p:txBody>
      </p:sp>
      <p:sp>
        <p:nvSpPr>
          <p:cNvPr id="19" name="Text 8">
            <a:extLst>
              <a:ext uri="{FF2B5EF4-FFF2-40B4-BE49-F238E27FC236}">
                <a16:creationId xmlns:a16="http://schemas.microsoft.com/office/drawing/2014/main" id="{FCD32F72-7C1E-45FE-6821-BAEC37B61A78}"/>
              </a:ext>
            </a:extLst>
          </p:cNvPr>
          <p:cNvSpPr/>
          <p:nvPr/>
        </p:nvSpPr>
        <p:spPr>
          <a:xfrm>
            <a:off x="6355080" y="2880360"/>
            <a:ext cx="5212080" cy="3108960"/>
          </a:xfrm>
          <a:prstGeom prst="rect">
            <a:avLst/>
          </a:prstGeom>
          <a:noFill/>
          <a:ln/>
        </p:spPr>
        <p:txBody>
          <a:bodyPr wrap="square" lIns="0" tIns="0" rIns="0" bIns="0" rtlCol="0" anchor="t"/>
          <a:lstStyle/>
          <a:p>
            <a:pPr marL="342900" indent="-342900">
              <a:spcAft>
                <a:spcPts val="800"/>
              </a:spcAft>
              <a:buSzPct val="100000"/>
              <a:buFont typeface="Arial"/>
              <a:buChar char="•"/>
            </a:pPr>
            <a:r>
              <a:rPr lang="en-US" sz="1600" dirty="0">
                <a:solidFill>
                  <a:srgbClr val="213547"/>
                </a:solidFill>
                <a:latin typeface="Calibri"/>
                <a:ea typeface="Calibri"/>
                <a:cs typeface="Calibri"/>
              </a:rPr>
              <a:t>API-</a:t>
            </a:r>
            <a:r>
              <a:rPr lang="en-US" sz="1600" dirty="0" err="1">
                <a:solidFill>
                  <a:srgbClr val="213547"/>
                </a:solidFill>
                <a:latin typeface="Calibri"/>
                <a:ea typeface="Calibri"/>
                <a:cs typeface="Calibri"/>
              </a:rPr>
              <a:t>Endpunkte</a:t>
            </a:r>
            <a:r>
              <a:rPr lang="en-US" sz="1600" dirty="0">
                <a:solidFill>
                  <a:srgbClr val="213547"/>
                </a:solidFill>
                <a:latin typeface="Calibri"/>
                <a:ea typeface="Calibri"/>
                <a:cs typeface="Calibri"/>
              </a:rPr>
              <a:t> für </a:t>
            </a:r>
            <a:r>
              <a:rPr lang="en-US" sz="1600" dirty="0" err="1">
                <a:solidFill>
                  <a:srgbClr val="213547"/>
                </a:solidFill>
                <a:latin typeface="Calibri"/>
                <a:ea typeface="Calibri"/>
                <a:cs typeface="Calibri"/>
              </a:rPr>
              <a:t>andere</a:t>
            </a:r>
            <a:r>
              <a:rPr lang="en-US" sz="1600" dirty="0">
                <a:solidFill>
                  <a:srgbClr val="213547"/>
                </a:solidFill>
                <a:latin typeface="Calibri"/>
                <a:ea typeface="Calibri"/>
                <a:cs typeface="Calibri"/>
              </a:rPr>
              <a:t> </a:t>
            </a:r>
            <a:r>
              <a:rPr lang="en-US" sz="1600" dirty="0" err="1">
                <a:solidFill>
                  <a:srgbClr val="213547"/>
                </a:solidFill>
                <a:latin typeface="Calibri"/>
                <a:ea typeface="Calibri"/>
                <a:cs typeface="Calibri"/>
              </a:rPr>
              <a:t>Tabellen</a:t>
            </a:r>
            <a:r>
              <a:rPr lang="en-US" sz="1600" dirty="0">
                <a:solidFill>
                  <a:srgbClr val="213547"/>
                </a:solidFill>
                <a:latin typeface="Calibri"/>
                <a:ea typeface="Calibri"/>
                <a:cs typeface="Calibri"/>
              </a:rPr>
              <a:t> </a:t>
            </a:r>
            <a:r>
              <a:rPr lang="en-US" sz="1600" dirty="0" err="1">
                <a:solidFill>
                  <a:srgbClr val="213547"/>
                </a:solidFill>
                <a:latin typeface="Calibri"/>
                <a:ea typeface="Calibri"/>
                <a:cs typeface="Calibri"/>
              </a:rPr>
              <a:t>aus</a:t>
            </a:r>
            <a:r>
              <a:rPr lang="en-US" sz="1600" dirty="0">
                <a:solidFill>
                  <a:srgbClr val="213547"/>
                </a:solidFill>
                <a:latin typeface="Calibri"/>
                <a:ea typeface="Calibri"/>
                <a:cs typeface="Calibri"/>
              </a:rPr>
              <a:t> der </a:t>
            </a:r>
            <a:r>
              <a:rPr lang="en-US" sz="1600" dirty="0" err="1">
                <a:solidFill>
                  <a:srgbClr val="213547"/>
                </a:solidFill>
                <a:latin typeface="Calibri"/>
                <a:ea typeface="Calibri"/>
                <a:cs typeface="Calibri"/>
              </a:rPr>
              <a:t>Datenbank</a:t>
            </a:r>
            <a:r>
              <a:rPr lang="en-US" sz="1600" dirty="0">
                <a:solidFill>
                  <a:srgbClr val="213547"/>
                </a:solidFill>
                <a:latin typeface="Calibri"/>
                <a:ea typeface="Calibri"/>
                <a:cs typeface="Calibri"/>
              </a:rPr>
              <a:t> (</a:t>
            </a:r>
            <a:r>
              <a:rPr lang="en-US" sz="1600" dirty="0" err="1">
                <a:solidFill>
                  <a:srgbClr val="213547"/>
                </a:solidFill>
                <a:latin typeface="Calibri"/>
                <a:ea typeface="Calibri"/>
                <a:cs typeface="Calibri"/>
              </a:rPr>
              <a:t>Warenkorb</a:t>
            </a:r>
            <a:r>
              <a:rPr lang="en-US" sz="1600" dirty="0">
                <a:solidFill>
                  <a:srgbClr val="213547"/>
                </a:solidFill>
                <a:latin typeface="Calibri"/>
                <a:ea typeface="Calibri"/>
                <a:cs typeface="Calibri"/>
              </a:rPr>
              <a:t>, Tokens, </a:t>
            </a:r>
            <a:r>
              <a:rPr lang="en-US" sz="1600" dirty="0" err="1">
                <a:solidFill>
                  <a:srgbClr val="213547"/>
                </a:solidFill>
                <a:latin typeface="Calibri"/>
                <a:ea typeface="Calibri"/>
                <a:cs typeface="Calibri"/>
              </a:rPr>
              <a:t>Rechnungen</a:t>
            </a:r>
            <a:r>
              <a:rPr lang="en-US" sz="1600" dirty="0">
                <a:solidFill>
                  <a:srgbClr val="213547"/>
                </a:solidFill>
                <a:latin typeface="Calibri"/>
                <a:ea typeface="Calibri"/>
                <a:cs typeface="Calibri"/>
              </a:rPr>
              <a:t> und Firmen)</a:t>
            </a:r>
          </a:p>
          <a:p>
            <a:pPr marL="342900" indent="-342900">
              <a:spcAft>
                <a:spcPts val="800"/>
              </a:spcAft>
              <a:buSzPct val="100000"/>
              <a:buFont typeface="Arial"/>
              <a:buChar char="•"/>
            </a:pPr>
            <a:r>
              <a:rPr lang="en-US" sz="1600" dirty="0">
                <a:solidFill>
                  <a:srgbClr val="213547"/>
                </a:solidFill>
                <a:ea typeface="Calibri"/>
                <a:cs typeface="Calibri"/>
              </a:rPr>
              <a:t>Erzeugungen von PDF </a:t>
            </a:r>
            <a:r>
              <a:rPr lang="en-US" sz="1600" dirty="0" err="1">
                <a:solidFill>
                  <a:srgbClr val="213547"/>
                </a:solidFill>
                <a:ea typeface="Calibri"/>
                <a:cs typeface="Calibri"/>
              </a:rPr>
              <a:t>Zertifikate</a:t>
            </a:r>
            <a:endParaRPr lang="en-US" sz="1600">
              <a:solidFill>
                <a:srgbClr val="213547"/>
              </a:solidFill>
              <a:ea typeface="Calibri"/>
              <a:cs typeface="Calibri"/>
            </a:endParaRPr>
          </a:p>
          <a:p>
            <a:pPr marL="342900" indent="-342900">
              <a:spcAft>
                <a:spcPts val="800"/>
              </a:spcAft>
              <a:buSzPct val="100000"/>
              <a:buFont typeface="Arial"/>
              <a:buChar char="•"/>
            </a:pPr>
            <a:r>
              <a:rPr lang="en-US" sz="1600">
                <a:solidFill>
                  <a:srgbClr val="213547"/>
                </a:solidFill>
                <a:ea typeface="Calibri"/>
                <a:cs typeface="Calibri"/>
              </a:rPr>
              <a:t>KI Integration</a:t>
            </a:r>
            <a:endParaRPr lang="en-US" sz="1600" dirty="0">
              <a:solidFill>
                <a:srgbClr val="213547"/>
              </a:solidFill>
              <a:ea typeface="Calibri"/>
              <a:cs typeface="Calibri"/>
            </a:endParaRPr>
          </a:p>
        </p:txBody>
      </p:sp>
    </p:spTree>
    <p:extLst>
      <p:ext uri="{BB962C8B-B14F-4D97-AF65-F5344CB8AC3E}">
        <p14:creationId xmlns:p14="http://schemas.microsoft.com/office/powerpoint/2010/main" val="2861230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0" cy="6858000"/>
          </a:xfrm>
          <a:prstGeom prst="rect">
            <a:avLst/>
          </a:prstGeom>
          <a:solidFill>
            <a:srgbClr val="ADD345"/>
          </a:solidFill>
          <a:ln w="12700">
            <a:solidFill>
              <a:srgbClr val="ADD345"/>
            </a:solidFill>
            <a:prstDash val="solid"/>
          </a:ln>
        </p:spPr>
        <p:txBody>
          <a:bodyPr/>
          <a:lstStyle/>
          <a:p>
            <a:endParaRPr lang="de-DE"/>
          </a:p>
        </p:txBody>
      </p:sp>
      <p:sp>
        <p:nvSpPr>
          <p:cNvPr id="3" name="Text 1"/>
          <p:cNvSpPr/>
          <p:nvPr/>
        </p:nvSpPr>
        <p:spPr>
          <a:xfrm>
            <a:off x="1463040" y="2560320"/>
            <a:ext cx="7315200" cy="365760"/>
          </a:xfrm>
          <a:prstGeom prst="rect">
            <a:avLst/>
          </a:prstGeom>
          <a:noFill/>
          <a:ln/>
        </p:spPr>
        <p:txBody>
          <a:bodyPr wrap="square" lIns="0" tIns="0" rIns="0" bIns="0" rtlCol="0" anchor="ctr"/>
          <a:lstStyle/>
          <a:p>
            <a:pPr marL="0" indent="0">
              <a:buNone/>
            </a:pPr>
            <a:r>
              <a:rPr lang="en-US" sz="1400" b="1" kern="0" spc="600">
                <a:solidFill>
                  <a:srgbClr val="ADD345"/>
                </a:solidFill>
                <a:latin typeface="Calibri" pitchFamily="34" charset="0"/>
                <a:ea typeface="Calibri" pitchFamily="34" charset="-122"/>
                <a:cs typeface="Calibri" pitchFamily="34" charset="-120"/>
              </a:rPr>
              <a:t>TEIL 3  .  TIM</a:t>
            </a:r>
            <a:endParaRPr lang="en-US" sz="1400"/>
          </a:p>
        </p:txBody>
      </p:sp>
      <p:sp>
        <p:nvSpPr>
          <p:cNvPr id="4" name="Text 2"/>
          <p:cNvSpPr/>
          <p:nvPr/>
        </p:nvSpPr>
        <p:spPr>
          <a:xfrm>
            <a:off x="1463040" y="2926080"/>
            <a:ext cx="10515600" cy="1645920"/>
          </a:xfrm>
          <a:prstGeom prst="rect">
            <a:avLst/>
          </a:prstGeom>
          <a:noFill/>
          <a:ln/>
        </p:spPr>
        <p:txBody>
          <a:bodyPr wrap="square" lIns="0" tIns="0" rIns="0" bIns="0" rtlCol="0" anchor="t"/>
          <a:lstStyle/>
          <a:p>
            <a:pPr marL="0" indent="0">
              <a:buNone/>
            </a:pPr>
            <a:r>
              <a:rPr lang="en-US" sz="9600" b="1">
                <a:solidFill>
                  <a:srgbClr val="213547"/>
                </a:solidFill>
                <a:latin typeface="Calibri" pitchFamily="34" charset="0"/>
                <a:ea typeface="Calibri" pitchFamily="34" charset="-122"/>
                <a:cs typeface="Calibri" pitchFamily="34" charset="-120"/>
              </a:rPr>
              <a:t>Datenbank</a:t>
            </a:r>
            <a:endParaRPr lang="en-US" sz="9600"/>
          </a:p>
        </p:txBody>
      </p:sp>
      <p:sp>
        <p:nvSpPr>
          <p:cNvPr id="5" name="Text 3"/>
          <p:cNvSpPr/>
          <p:nvPr/>
        </p:nvSpPr>
        <p:spPr>
          <a:xfrm>
            <a:off x="1463040" y="4480560"/>
            <a:ext cx="10058400" cy="548640"/>
          </a:xfrm>
          <a:prstGeom prst="rect">
            <a:avLst/>
          </a:prstGeom>
          <a:noFill/>
          <a:ln/>
        </p:spPr>
        <p:txBody>
          <a:bodyPr wrap="square" lIns="0" tIns="0" rIns="0" bIns="0" rtlCol="0" anchor="ctr"/>
          <a:lstStyle/>
          <a:p>
            <a:pPr marL="0" indent="0">
              <a:buNone/>
            </a:pPr>
            <a:r>
              <a:rPr lang="en-US" sz="2200">
                <a:solidFill>
                  <a:srgbClr val="5A6A7A"/>
                </a:solidFill>
                <a:latin typeface="Calibri" pitchFamily="34" charset="0"/>
                <a:ea typeface="Calibri" pitchFamily="34" charset="-122"/>
                <a:cs typeface="Calibri" pitchFamily="34" charset="-120"/>
              </a:rPr>
              <a:t>Wo alle Daten gespeichert sind.</a:t>
            </a:r>
            <a:endParaRPr lang="en-US" sz="2200"/>
          </a:p>
        </p:txBody>
      </p:sp>
      <p:sp>
        <p:nvSpPr>
          <p:cNvPr id="6" name="Shape 4"/>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7" name="Text 5"/>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8" name="Text 6"/>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12 / 16</a:t>
            </a:r>
            <a:endParaRPr lang="en-US"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714375" y="2358330"/>
            <a:ext cx="5238750" cy="2381250"/>
          </a:xfrm>
          <a:prstGeom prst="rect">
            <a:avLst/>
          </a:prstGeom>
          <a:noFill/>
          <a:ln>
            <a:noFill/>
          </a:ln>
        </p:spPr>
      </p:pic>
      <p:pic>
        <p:nvPicPr>
          <p:cNvPr id="85" name="Google Shape;85;p13" descr="image.png"/>
          <p:cNvPicPr preferRelativeResize="0"/>
          <p:nvPr/>
        </p:nvPicPr>
        <p:blipFill rotWithShape="1">
          <a:blip r:embed="rId3">
            <a:alphaModFix/>
          </a:blip>
          <a:srcRect/>
          <a:stretch/>
        </p:blipFill>
        <p:spPr>
          <a:xfrm>
            <a:off x="6238875" y="2358330"/>
            <a:ext cx="5238750" cy="2381250"/>
          </a:xfrm>
          <a:prstGeom prst="rect">
            <a:avLst/>
          </a:prstGeom>
          <a:noFill/>
          <a:ln>
            <a:noFill/>
          </a:ln>
        </p:spPr>
      </p:pic>
      <p:sp>
        <p:nvSpPr>
          <p:cNvPr id="86" name="Google Shape;86;p13"/>
          <p:cNvSpPr/>
          <p:nvPr/>
        </p:nvSpPr>
        <p:spPr>
          <a:xfrm>
            <a:off x="714375" y="6296025"/>
            <a:ext cx="10763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3"/>
          <p:cNvSpPr txBox="1"/>
          <p:nvPr/>
        </p:nvSpPr>
        <p:spPr>
          <a:xfrm>
            <a:off x="714375" y="6419850"/>
            <a:ext cx="10763250" cy="2000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1" u="none" strike="noStrike" cap="none">
                <a:solidFill>
                  <a:srgbClr val="4A5568"/>
                </a:solidFill>
                <a:latin typeface="Calibri"/>
                <a:ea typeface="Calibri"/>
                <a:cs typeface="Calibri"/>
                <a:sym typeface="Calibri"/>
              </a:rPr>
              <a:t>pxsng</a:t>
            </a:r>
            <a:r>
              <a:rPr lang="en-US" sz="1200" b="0" i="0" u="none" strike="noStrike" cap="none">
                <a:solidFill>
                  <a:srgbClr val="1A2536"/>
                </a:solidFill>
                <a:latin typeface="Calibri"/>
                <a:ea typeface="Calibri"/>
                <a:cs typeface="Calibri"/>
                <a:sym typeface="Calibri"/>
              </a:rPr>
              <a:t> </a:t>
            </a:r>
            <a:r>
              <a:rPr lang="en-US" sz="1200" b="0" i="0" u="none" strike="noStrike" cap="none">
                <a:solidFill>
                  <a:srgbClr val="718096"/>
                </a:solidFill>
                <a:latin typeface="Calibri"/>
                <a:ea typeface="Calibri"/>
                <a:cs typeface="Calibri"/>
                <a:sym typeface="Calibri"/>
              </a:rPr>
              <a:t>12 / 16</a:t>
            </a:r>
            <a:endParaRPr/>
          </a:p>
        </p:txBody>
      </p:sp>
      <p:sp>
        <p:nvSpPr>
          <p:cNvPr id="88" name="Google Shape;88;p13"/>
          <p:cNvSpPr txBox="1"/>
          <p:nvPr/>
        </p:nvSpPr>
        <p:spPr>
          <a:xfrm>
            <a:off x="714375" y="438150"/>
            <a:ext cx="1380380" cy="1809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DATENBANK</a:t>
            </a:r>
            <a:endParaRPr/>
          </a:p>
        </p:txBody>
      </p:sp>
      <p:sp>
        <p:nvSpPr>
          <p:cNvPr id="89" name="Google Shape;89;p13"/>
          <p:cNvSpPr txBox="1"/>
          <p:nvPr/>
        </p:nvSpPr>
        <p:spPr>
          <a:xfrm>
            <a:off x="11240095" y="428625"/>
            <a:ext cx="237529"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718096"/>
                </a:solidFill>
                <a:latin typeface="Calibri"/>
                <a:ea typeface="Calibri"/>
                <a:cs typeface="Calibri"/>
                <a:sym typeface="Calibri"/>
              </a:rPr>
              <a:t> Tim </a:t>
            </a:r>
            <a:endParaRPr/>
          </a:p>
        </p:txBody>
      </p:sp>
      <p:sp>
        <p:nvSpPr>
          <p:cNvPr id="90" name="Google Shape;90;p13"/>
          <p:cNvSpPr txBox="1"/>
          <p:nvPr/>
        </p:nvSpPr>
        <p:spPr>
          <a:xfrm>
            <a:off x="714375" y="866775"/>
            <a:ext cx="11301412" cy="48190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3300" b="1" i="0" u="none" strike="noStrike" cap="none">
                <a:solidFill>
                  <a:srgbClr val="1A2536"/>
                </a:solidFill>
                <a:latin typeface="Calibri"/>
                <a:ea typeface="Calibri"/>
                <a:cs typeface="Calibri"/>
                <a:sym typeface="Calibri"/>
              </a:rPr>
              <a:t>Was wird gespeichert?</a:t>
            </a:r>
            <a:endParaRPr/>
          </a:p>
        </p:txBody>
      </p:sp>
      <p:sp>
        <p:nvSpPr>
          <p:cNvPr id="91" name="Google Shape;91;p13"/>
          <p:cNvSpPr txBox="1"/>
          <p:nvPr/>
        </p:nvSpPr>
        <p:spPr>
          <a:xfrm>
            <a:off x="714375" y="1520130"/>
            <a:ext cx="10001250" cy="552450"/>
          </a:xfrm>
          <a:prstGeom prst="rect">
            <a:avLst/>
          </a:prstGeom>
          <a:noFill/>
          <a:ln>
            <a:noFill/>
          </a:ln>
        </p:spPr>
        <p:txBody>
          <a:bodyPr spcFirstLastPara="1" wrap="square" lIns="0" tIns="0" rIns="0" bIns="0" anchor="t" anchorCtr="0">
            <a:spAutoFit/>
          </a:bodyPr>
          <a:lstStyle/>
          <a:p>
            <a:pPr marL="0" marR="0" lvl="0" indent="0" algn="l" rtl="0">
              <a:lnSpc>
                <a:spcPct val="145000"/>
              </a:lnSpc>
              <a:spcBef>
                <a:spcPts val="0"/>
              </a:spcBef>
              <a:spcAft>
                <a:spcPts val="0"/>
              </a:spcAft>
              <a:buNone/>
            </a:pPr>
            <a:r>
              <a:rPr lang="en-US" sz="1500" b="0" i="0" u="none" strike="noStrike" cap="none">
                <a:solidFill>
                  <a:srgbClr val="4A5568"/>
                </a:solidFill>
                <a:latin typeface="Calibri"/>
                <a:ea typeface="Calibri"/>
                <a:cs typeface="Calibri"/>
                <a:sym typeface="Calibri"/>
              </a:rPr>
              <a:t>Ein umfangreiches, extensives Custom-Schema, das direkt aus unserem ER-Diagramm für alle künftigen Features generiert wurde.</a:t>
            </a:r>
            <a:endParaRPr/>
          </a:p>
        </p:txBody>
      </p:sp>
      <p:sp>
        <p:nvSpPr>
          <p:cNvPr id="92" name="Google Shape;92;p13"/>
          <p:cNvSpPr txBox="1"/>
          <p:nvPr/>
        </p:nvSpPr>
        <p:spPr>
          <a:xfrm>
            <a:off x="714375" y="5810250"/>
            <a:ext cx="10763250"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25" b="0" i="1" u="none" strike="noStrike" cap="none">
                <a:solidFill>
                  <a:srgbClr val="718096"/>
                </a:solidFill>
                <a:latin typeface="Calibri"/>
                <a:ea typeface="Calibri"/>
                <a:cs typeface="Calibri"/>
                <a:sym typeface="Calibri"/>
              </a:rPr>
              <a:t>Vorteil: Datenintegrität durch ein professionell modelliertes ER-Schema.</a:t>
            </a:r>
            <a:endParaRPr/>
          </a:p>
        </p:txBody>
      </p:sp>
      <p:sp>
        <p:nvSpPr>
          <p:cNvPr id="93" name="Google Shape;93;p13"/>
          <p:cNvSpPr txBox="1"/>
          <p:nvPr/>
        </p:nvSpPr>
        <p:spPr>
          <a:xfrm>
            <a:off x="1057275" y="2701230"/>
            <a:ext cx="4552950" cy="1714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STRUKTUR</a:t>
            </a:r>
            <a:endParaRPr/>
          </a:p>
        </p:txBody>
      </p:sp>
      <p:sp>
        <p:nvSpPr>
          <p:cNvPr id="94" name="Google Shape;94;p13"/>
          <p:cNvSpPr txBox="1"/>
          <p:nvPr/>
        </p:nvSpPr>
        <p:spPr>
          <a:xfrm>
            <a:off x="1057275" y="3044130"/>
            <a:ext cx="478059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A2536"/>
                </a:solidFill>
                <a:latin typeface="Calibri"/>
                <a:ea typeface="Calibri"/>
                <a:cs typeface="Calibri"/>
                <a:sym typeface="Calibri"/>
              </a:rPr>
              <a:t>16 Tabellen &amp; 22 Beziehungen</a:t>
            </a:r>
            <a:endParaRPr/>
          </a:p>
        </p:txBody>
      </p:sp>
      <p:sp>
        <p:nvSpPr>
          <p:cNvPr id="95" name="Google Shape;95;p13"/>
          <p:cNvSpPr txBox="1"/>
          <p:nvPr/>
        </p:nvSpPr>
        <p:spPr>
          <a:xfrm>
            <a:off x="1057275" y="3520380"/>
            <a:ext cx="4552950" cy="497085"/>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4A5568"/>
                </a:solidFill>
                <a:latin typeface="Calibri"/>
                <a:ea typeface="Calibri"/>
                <a:cs typeface="Calibri"/>
                <a:sym typeface="Calibri"/>
              </a:rPr>
              <a:t>Umfasst alle logischen Bereiche wie Stammdaten, Personen, Kurse und Rechnungsdaten sauber normalisiert.</a:t>
            </a:r>
            <a:endParaRPr/>
          </a:p>
        </p:txBody>
      </p:sp>
      <p:sp>
        <p:nvSpPr>
          <p:cNvPr id="96" name="Google Shape;96;p13"/>
          <p:cNvSpPr txBox="1"/>
          <p:nvPr/>
        </p:nvSpPr>
        <p:spPr>
          <a:xfrm>
            <a:off x="6581775" y="2701230"/>
            <a:ext cx="4552950" cy="1714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PROJEKT-ZIEL</a:t>
            </a:r>
            <a:endParaRPr/>
          </a:p>
        </p:txBody>
      </p:sp>
      <p:sp>
        <p:nvSpPr>
          <p:cNvPr id="97" name="Google Shape;97;p13"/>
          <p:cNvSpPr txBox="1"/>
          <p:nvPr/>
        </p:nvSpPr>
        <p:spPr>
          <a:xfrm>
            <a:off x="6581775" y="3044130"/>
            <a:ext cx="478059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A2536"/>
                </a:solidFill>
                <a:latin typeface="Calibri"/>
                <a:ea typeface="Calibri"/>
                <a:cs typeface="Calibri"/>
                <a:sym typeface="Calibri"/>
              </a:rPr>
              <a:t>Zukunftssicher aufgebaut</a:t>
            </a:r>
            <a:endParaRPr/>
          </a:p>
        </p:txBody>
      </p:sp>
      <p:sp>
        <p:nvSpPr>
          <p:cNvPr id="98" name="Google Shape;98;p13"/>
          <p:cNvSpPr txBox="1"/>
          <p:nvPr/>
        </p:nvSpPr>
        <p:spPr>
          <a:xfrm>
            <a:off x="6581775" y="3520380"/>
            <a:ext cx="4552950" cy="497085"/>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4A5568"/>
                </a:solidFill>
                <a:latin typeface="Calibri"/>
                <a:ea typeface="Calibri"/>
                <a:cs typeface="Calibri"/>
                <a:sym typeface="Calibri"/>
              </a:rPr>
              <a:t>Das Schema ist direkt so ausgelegt, dass wir alle aktuellen und künftigen Use-Cases direkt abbilden können.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3" name="Google Shape;103;p14" descr="image.png"/>
          <p:cNvPicPr preferRelativeResize="0"/>
          <p:nvPr/>
        </p:nvPicPr>
        <p:blipFill rotWithShape="1">
          <a:blip r:embed="rId3">
            <a:alphaModFix/>
          </a:blip>
          <a:srcRect/>
          <a:stretch/>
        </p:blipFill>
        <p:spPr>
          <a:xfrm>
            <a:off x="714375" y="2358330"/>
            <a:ext cx="5238750" cy="2381250"/>
          </a:xfrm>
          <a:prstGeom prst="rect">
            <a:avLst/>
          </a:prstGeom>
          <a:noFill/>
          <a:ln>
            <a:noFill/>
          </a:ln>
        </p:spPr>
      </p:pic>
      <p:pic>
        <p:nvPicPr>
          <p:cNvPr id="104" name="Google Shape;104;p14" descr="image.png"/>
          <p:cNvPicPr preferRelativeResize="0"/>
          <p:nvPr/>
        </p:nvPicPr>
        <p:blipFill rotWithShape="1">
          <a:blip r:embed="rId3">
            <a:alphaModFix/>
          </a:blip>
          <a:srcRect/>
          <a:stretch/>
        </p:blipFill>
        <p:spPr>
          <a:xfrm>
            <a:off x="6238875" y="2358330"/>
            <a:ext cx="5238750" cy="2381250"/>
          </a:xfrm>
          <a:prstGeom prst="rect">
            <a:avLst/>
          </a:prstGeom>
          <a:noFill/>
          <a:ln>
            <a:noFill/>
          </a:ln>
        </p:spPr>
      </p:pic>
      <p:sp>
        <p:nvSpPr>
          <p:cNvPr id="105" name="Google Shape;105;p14"/>
          <p:cNvSpPr/>
          <p:nvPr/>
        </p:nvSpPr>
        <p:spPr>
          <a:xfrm>
            <a:off x="714375" y="6296025"/>
            <a:ext cx="10763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4"/>
          <p:cNvSpPr txBox="1"/>
          <p:nvPr/>
        </p:nvSpPr>
        <p:spPr>
          <a:xfrm>
            <a:off x="714375" y="6419850"/>
            <a:ext cx="10763250" cy="2000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1" u="none" strike="noStrike" cap="none">
                <a:solidFill>
                  <a:srgbClr val="4A5568"/>
                </a:solidFill>
                <a:latin typeface="Calibri"/>
                <a:ea typeface="Calibri"/>
                <a:cs typeface="Calibri"/>
                <a:sym typeface="Calibri"/>
              </a:rPr>
              <a:t>pxsng</a:t>
            </a:r>
            <a:r>
              <a:rPr lang="en-US" sz="1200" b="0" i="0" u="none" strike="noStrike" cap="none">
                <a:solidFill>
                  <a:srgbClr val="1A2536"/>
                </a:solidFill>
                <a:latin typeface="Calibri"/>
                <a:ea typeface="Calibri"/>
                <a:cs typeface="Calibri"/>
                <a:sym typeface="Calibri"/>
              </a:rPr>
              <a:t> </a:t>
            </a:r>
            <a:r>
              <a:rPr lang="en-US" sz="1200" b="0" i="0" u="none" strike="noStrike" cap="none">
                <a:solidFill>
                  <a:srgbClr val="718096"/>
                </a:solidFill>
                <a:latin typeface="Calibri"/>
                <a:ea typeface="Calibri"/>
                <a:cs typeface="Calibri"/>
                <a:sym typeface="Calibri"/>
              </a:rPr>
              <a:t>13 / 16</a:t>
            </a:r>
            <a:endParaRPr/>
          </a:p>
        </p:txBody>
      </p:sp>
      <p:sp>
        <p:nvSpPr>
          <p:cNvPr id="107" name="Google Shape;107;p14"/>
          <p:cNvSpPr txBox="1"/>
          <p:nvPr/>
        </p:nvSpPr>
        <p:spPr>
          <a:xfrm>
            <a:off x="714375" y="438150"/>
            <a:ext cx="1380380" cy="1809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DATENBANK</a:t>
            </a:r>
            <a:endParaRPr/>
          </a:p>
        </p:txBody>
      </p:sp>
      <p:sp>
        <p:nvSpPr>
          <p:cNvPr id="108" name="Google Shape;108;p14"/>
          <p:cNvSpPr txBox="1"/>
          <p:nvPr/>
        </p:nvSpPr>
        <p:spPr>
          <a:xfrm>
            <a:off x="11240095" y="428625"/>
            <a:ext cx="237529"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718096"/>
                </a:solidFill>
                <a:latin typeface="Calibri"/>
                <a:ea typeface="Calibri"/>
                <a:cs typeface="Calibri"/>
                <a:sym typeface="Calibri"/>
              </a:rPr>
              <a:t> Tim </a:t>
            </a:r>
            <a:endParaRPr/>
          </a:p>
        </p:txBody>
      </p:sp>
      <p:sp>
        <p:nvSpPr>
          <p:cNvPr id="109" name="Google Shape;109;p14"/>
          <p:cNvSpPr txBox="1"/>
          <p:nvPr/>
        </p:nvSpPr>
        <p:spPr>
          <a:xfrm>
            <a:off x="714375" y="866775"/>
            <a:ext cx="11301412" cy="48190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3300" b="1" i="0" u="none" strike="noStrike" cap="none">
                <a:solidFill>
                  <a:srgbClr val="1A2536"/>
                </a:solidFill>
                <a:latin typeface="Calibri"/>
                <a:ea typeface="Calibri"/>
                <a:cs typeface="Calibri"/>
                <a:sym typeface="Calibri"/>
              </a:rPr>
              <a:t>Die Architektur wurde angepasst</a:t>
            </a:r>
            <a:endParaRPr/>
          </a:p>
        </p:txBody>
      </p:sp>
      <p:sp>
        <p:nvSpPr>
          <p:cNvPr id="110" name="Google Shape;110;p14"/>
          <p:cNvSpPr txBox="1"/>
          <p:nvPr/>
        </p:nvSpPr>
        <p:spPr>
          <a:xfrm>
            <a:off x="714375" y="1520130"/>
            <a:ext cx="10001250" cy="552450"/>
          </a:xfrm>
          <a:prstGeom prst="rect">
            <a:avLst/>
          </a:prstGeom>
          <a:noFill/>
          <a:ln>
            <a:noFill/>
          </a:ln>
        </p:spPr>
        <p:txBody>
          <a:bodyPr spcFirstLastPara="1" wrap="square" lIns="0" tIns="0" rIns="0" bIns="0" anchor="t" anchorCtr="0">
            <a:spAutoFit/>
          </a:bodyPr>
          <a:lstStyle/>
          <a:p>
            <a:pPr marL="0" marR="0" lvl="0" indent="0" algn="l" rtl="0">
              <a:lnSpc>
                <a:spcPct val="145000"/>
              </a:lnSpc>
              <a:spcBef>
                <a:spcPts val="0"/>
              </a:spcBef>
              <a:spcAft>
                <a:spcPts val="0"/>
              </a:spcAft>
              <a:buNone/>
            </a:pPr>
            <a:r>
              <a:rPr lang="en-US" sz="1500" b="0" i="0" u="none" strike="noStrike" cap="none">
                <a:solidFill>
                  <a:srgbClr val="4A5568"/>
                </a:solidFill>
                <a:latin typeface="Calibri"/>
                <a:ea typeface="Calibri"/>
                <a:cs typeface="Calibri"/>
                <a:sym typeface="Calibri"/>
              </a:rPr>
              <a:t>Eigentlich sollte ORDS die REST-Brücke schlagen – wir haben uns im Projektverlauf jedoch für einen direkteren Weg entschieden.</a:t>
            </a:r>
            <a:endParaRPr/>
          </a:p>
        </p:txBody>
      </p:sp>
      <p:sp>
        <p:nvSpPr>
          <p:cNvPr id="111" name="Google Shape;111;p14"/>
          <p:cNvSpPr txBox="1"/>
          <p:nvPr/>
        </p:nvSpPr>
        <p:spPr>
          <a:xfrm>
            <a:off x="714375" y="5810250"/>
            <a:ext cx="10763250"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25" b="0" i="1" u="none" strike="noStrike" cap="none">
                <a:solidFill>
                  <a:srgbClr val="718096"/>
                </a:solidFill>
                <a:latin typeface="Calibri"/>
                <a:ea typeface="Calibri"/>
                <a:cs typeface="Calibri"/>
                <a:sym typeface="Calibri"/>
              </a:rPr>
              <a:t>Entscheidung: Mehr Stabilität und Kontrolle ohne den fehleranfälligen ORDS-Vermittler.</a:t>
            </a:r>
            <a:endParaRPr/>
          </a:p>
        </p:txBody>
      </p:sp>
      <p:sp>
        <p:nvSpPr>
          <p:cNvPr id="112" name="Google Shape;112;p14"/>
          <p:cNvSpPr txBox="1"/>
          <p:nvPr/>
        </p:nvSpPr>
        <p:spPr>
          <a:xfrm>
            <a:off x="1057275" y="2701230"/>
            <a:ext cx="4552950" cy="1714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GEPLANT</a:t>
            </a:r>
            <a:endParaRPr/>
          </a:p>
        </p:txBody>
      </p:sp>
      <p:sp>
        <p:nvSpPr>
          <p:cNvPr id="113" name="Google Shape;113;p14"/>
          <p:cNvSpPr txBox="1"/>
          <p:nvPr/>
        </p:nvSpPr>
        <p:spPr>
          <a:xfrm>
            <a:off x="1057275" y="3044130"/>
            <a:ext cx="478059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A2536"/>
                </a:solidFill>
                <a:latin typeface="Calibri"/>
                <a:ea typeface="Calibri"/>
                <a:cs typeface="Calibri"/>
                <a:sym typeface="Calibri"/>
              </a:rPr>
              <a:t>ORDS REST-API (Bypass)</a:t>
            </a:r>
            <a:endParaRPr/>
          </a:p>
        </p:txBody>
      </p:sp>
      <p:sp>
        <p:nvSpPr>
          <p:cNvPr id="114" name="Google Shape;114;p14"/>
          <p:cNvSpPr txBox="1"/>
          <p:nvPr/>
        </p:nvSpPr>
        <p:spPr>
          <a:xfrm>
            <a:off x="1057275" y="3520380"/>
            <a:ext cx="4552950" cy="497085"/>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4A5568"/>
                </a:solidFill>
                <a:latin typeface="Calibri"/>
                <a:ea typeface="Calibri"/>
                <a:cs typeface="Calibri"/>
                <a:sym typeface="Calibri"/>
              </a:rPr>
              <a:t>Die Kommunikation über Oracle REST Data Services scheiterte an anhaltenden Setup- und Stabilitätsproblemen.</a:t>
            </a:r>
            <a:endParaRPr/>
          </a:p>
        </p:txBody>
      </p:sp>
      <p:sp>
        <p:nvSpPr>
          <p:cNvPr id="115" name="Google Shape;115;p14"/>
          <p:cNvSpPr txBox="1"/>
          <p:nvPr/>
        </p:nvSpPr>
        <p:spPr>
          <a:xfrm>
            <a:off x="6581775" y="2701230"/>
            <a:ext cx="4552950" cy="1714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UMSETZUNG</a:t>
            </a:r>
            <a:endParaRPr/>
          </a:p>
        </p:txBody>
      </p:sp>
      <p:sp>
        <p:nvSpPr>
          <p:cNvPr id="116" name="Google Shape;116;p14"/>
          <p:cNvSpPr txBox="1"/>
          <p:nvPr/>
        </p:nvSpPr>
        <p:spPr>
          <a:xfrm>
            <a:off x="6581775" y="3044130"/>
            <a:ext cx="478059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A2536"/>
                </a:solidFill>
                <a:latin typeface="Calibri"/>
                <a:ea typeface="Calibri"/>
                <a:cs typeface="Calibri"/>
                <a:sym typeface="Calibri"/>
              </a:rPr>
              <a:t>Direkte SQL-Anbindung</a:t>
            </a:r>
            <a:endParaRPr/>
          </a:p>
        </p:txBody>
      </p:sp>
      <p:sp>
        <p:nvSpPr>
          <p:cNvPr id="117" name="Google Shape;117;p14"/>
          <p:cNvSpPr txBox="1"/>
          <p:nvPr/>
        </p:nvSpPr>
        <p:spPr>
          <a:xfrm>
            <a:off x="6581775" y="3520380"/>
            <a:ext cx="4552950" cy="497085"/>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4A5568"/>
                </a:solidFill>
                <a:latin typeface="Calibri"/>
                <a:ea typeface="Calibri"/>
                <a:cs typeface="Calibri"/>
                <a:sym typeface="Calibri"/>
              </a:rPr>
              <a:t>Das Flask-Backend spricht nun nativ über Python-Treiber direkt mit der Oracle-Datenbank für maximale Performance.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15" descr="image.png"/>
          <p:cNvPicPr preferRelativeResize="0"/>
          <p:nvPr/>
        </p:nvPicPr>
        <p:blipFill rotWithShape="1">
          <a:blip r:embed="rId3">
            <a:alphaModFix/>
          </a:blip>
          <a:srcRect/>
          <a:stretch/>
        </p:blipFill>
        <p:spPr>
          <a:xfrm>
            <a:off x="714375" y="2358330"/>
            <a:ext cx="5238750" cy="2381250"/>
          </a:xfrm>
          <a:prstGeom prst="rect">
            <a:avLst/>
          </a:prstGeom>
          <a:noFill/>
          <a:ln>
            <a:noFill/>
          </a:ln>
        </p:spPr>
      </p:pic>
      <p:pic>
        <p:nvPicPr>
          <p:cNvPr id="123" name="Google Shape;123;p15" descr="image.png"/>
          <p:cNvPicPr preferRelativeResize="0"/>
          <p:nvPr/>
        </p:nvPicPr>
        <p:blipFill rotWithShape="1">
          <a:blip r:embed="rId3">
            <a:alphaModFix/>
          </a:blip>
          <a:srcRect/>
          <a:stretch/>
        </p:blipFill>
        <p:spPr>
          <a:xfrm>
            <a:off x="6238875" y="2358330"/>
            <a:ext cx="5238750" cy="2381250"/>
          </a:xfrm>
          <a:prstGeom prst="rect">
            <a:avLst/>
          </a:prstGeom>
          <a:noFill/>
          <a:ln>
            <a:noFill/>
          </a:ln>
        </p:spPr>
      </p:pic>
      <p:sp>
        <p:nvSpPr>
          <p:cNvPr id="124" name="Google Shape;124;p15"/>
          <p:cNvSpPr/>
          <p:nvPr/>
        </p:nvSpPr>
        <p:spPr>
          <a:xfrm>
            <a:off x="714375" y="6296025"/>
            <a:ext cx="10763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5" name="Google Shape;125;p15"/>
          <p:cNvSpPr txBox="1"/>
          <p:nvPr/>
        </p:nvSpPr>
        <p:spPr>
          <a:xfrm>
            <a:off x="714375" y="6419850"/>
            <a:ext cx="10763250" cy="2000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1" u="none" strike="noStrike" cap="none">
                <a:solidFill>
                  <a:srgbClr val="4A5568"/>
                </a:solidFill>
                <a:latin typeface="Calibri"/>
                <a:ea typeface="Calibri"/>
                <a:cs typeface="Calibri"/>
                <a:sym typeface="Calibri"/>
              </a:rPr>
              <a:t>pxsng</a:t>
            </a:r>
            <a:r>
              <a:rPr lang="en-US" sz="1200" b="0" i="0" u="none" strike="noStrike" cap="none">
                <a:solidFill>
                  <a:srgbClr val="1A2536"/>
                </a:solidFill>
                <a:latin typeface="Calibri"/>
                <a:ea typeface="Calibri"/>
                <a:cs typeface="Calibri"/>
                <a:sym typeface="Calibri"/>
              </a:rPr>
              <a:t> </a:t>
            </a:r>
            <a:r>
              <a:rPr lang="en-US" sz="1200" b="0" i="0" u="none" strike="noStrike" cap="none">
                <a:solidFill>
                  <a:srgbClr val="718096"/>
                </a:solidFill>
                <a:latin typeface="Calibri"/>
                <a:ea typeface="Calibri"/>
                <a:cs typeface="Calibri"/>
                <a:sym typeface="Calibri"/>
              </a:rPr>
              <a:t>14 / 16</a:t>
            </a:r>
            <a:endParaRPr/>
          </a:p>
        </p:txBody>
      </p:sp>
      <p:sp>
        <p:nvSpPr>
          <p:cNvPr id="126" name="Google Shape;126;p15"/>
          <p:cNvSpPr txBox="1"/>
          <p:nvPr/>
        </p:nvSpPr>
        <p:spPr>
          <a:xfrm>
            <a:off x="714375" y="438150"/>
            <a:ext cx="1380380" cy="1809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DATENBANK</a:t>
            </a:r>
            <a:endParaRPr/>
          </a:p>
        </p:txBody>
      </p:sp>
      <p:sp>
        <p:nvSpPr>
          <p:cNvPr id="127" name="Google Shape;127;p15"/>
          <p:cNvSpPr txBox="1"/>
          <p:nvPr/>
        </p:nvSpPr>
        <p:spPr>
          <a:xfrm>
            <a:off x="11240095" y="428625"/>
            <a:ext cx="237529"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718096"/>
                </a:solidFill>
                <a:latin typeface="Calibri"/>
                <a:ea typeface="Calibri"/>
                <a:cs typeface="Calibri"/>
                <a:sym typeface="Calibri"/>
              </a:rPr>
              <a:t> Tim </a:t>
            </a:r>
            <a:endParaRPr/>
          </a:p>
        </p:txBody>
      </p:sp>
      <p:sp>
        <p:nvSpPr>
          <p:cNvPr id="128" name="Google Shape;128;p15"/>
          <p:cNvSpPr txBox="1"/>
          <p:nvPr/>
        </p:nvSpPr>
        <p:spPr>
          <a:xfrm>
            <a:off x="714375" y="866775"/>
            <a:ext cx="11301412" cy="48190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3300" b="1" i="0" u="none" strike="noStrike" cap="none">
                <a:solidFill>
                  <a:srgbClr val="1A2536"/>
                </a:solidFill>
                <a:latin typeface="Calibri"/>
                <a:ea typeface="Calibri"/>
                <a:cs typeface="Calibri"/>
                <a:sym typeface="Calibri"/>
              </a:rPr>
              <a:t>Die Datenbank macht selber mit</a:t>
            </a:r>
            <a:endParaRPr/>
          </a:p>
        </p:txBody>
      </p:sp>
      <p:sp>
        <p:nvSpPr>
          <p:cNvPr id="129" name="Google Shape;129;p15"/>
          <p:cNvSpPr txBox="1"/>
          <p:nvPr/>
        </p:nvSpPr>
        <p:spPr>
          <a:xfrm>
            <a:off x="714375" y="1520130"/>
            <a:ext cx="10001250" cy="552450"/>
          </a:xfrm>
          <a:prstGeom prst="rect">
            <a:avLst/>
          </a:prstGeom>
          <a:noFill/>
          <a:ln>
            <a:noFill/>
          </a:ln>
        </p:spPr>
        <p:txBody>
          <a:bodyPr spcFirstLastPara="1" wrap="square" lIns="0" tIns="0" rIns="0" bIns="0" anchor="t" anchorCtr="0">
            <a:spAutoFit/>
          </a:bodyPr>
          <a:lstStyle/>
          <a:p>
            <a:pPr marL="0" marR="0" lvl="0" indent="0" algn="l" rtl="0">
              <a:lnSpc>
                <a:spcPct val="145000"/>
              </a:lnSpc>
              <a:spcBef>
                <a:spcPts val="0"/>
              </a:spcBef>
              <a:spcAft>
                <a:spcPts val="0"/>
              </a:spcAft>
              <a:buNone/>
            </a:pPr>
            <a:r>
              <a:rPr lang="en-US" sz="1500" b="0" i="0" u="none" strike="noStrike" cap="none">
                <a:solidFill>
                  <a:srgbClr val="4A5568"/>
                </a:solidFill>
                <a:latin typeface="Calibri"/>
                <a:ea typeface="Calibri"/>
                <a:cs typeface="Calibri"/>
                <a:sym typeface="Calibri"/>
              </a:rPr>
              <a:t>Wir haben einen Teil der Logik nicht ins Backend gepackt, sondern direkt in die Datenbank. Damit kann sie kleine Aufgaben selbst erledigen.</a:t>
            </a:r>
            <a:endParaRPr/>
          </a:p>
        </p:txBody>
      </p:sp>
      <p:sp>
        <p:nvSpPr>
          <p:cNvPr id="130" name="Google Shape;130;p15"/>
          <p:cNvSpPr txBox="1"/>
          <p:nvPr/>
        </p:nvSpPr>
        <p:spPr>
          <a:xfrm>
            <a:off x="714375" y="5810250"/>
            <a:ext cx="10763250"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25" b="0" i="1" u="none" strike="noStrike" cap="none">
                <a:solidFill>
                  <a:srgbClr val="718096"/>
                </a:solidFill>
                <a:latin typeface="Calibri"/>
                <a:ea typeface="Calibri"/>
                <a:cs typeface="Calibri"/>
                <a:sym typeface="Calibri"/>
              </a:rPr>
              <a:t>Vorteil: ein einheitliches Verhalten, egal wer aufruft.</a:t>
            </a:r>
            <a:endParaRPr/>
          </a:p>
        </p:txBody>
      </p:sp>
      <p:sp>
        <p:nvSpPr>
          <p:cNvPr id="131" name="Google Shape;131;p15"/>
          <p:cNvSpPr txBox="1"/>
          <p:nvPr/>
        </p:nvSpPr>
        <p:spPr>
          <a:xfrm>
            <a:off x="1057275" y="2701230"/>
            <a:ext cx="4552950" cy="1714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BEISPIEL</a:t>
            </a:r>
            <a:endParaRPr/>
          </a:p>
        </p:txBody>
      </p:sp>
      <p:sp>
        <p:nvSpPr>
          <p:cNvPr id="132" name="Google Shape;132;p15"/>
          <p:cNvSpPr txBox="1"/>
          <p:nvPr/>
        </p:nvSpPr>
        <p:spPr>
          <a:xfrm>
            <a:off x="1057275" y="3044130"/>
            <a:ext cx="478059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A2536"/>
                </a:solidFill>
                <a:latin typeface="Calibri"/>
                <a:ea typeface="Calibri"/>
                <a:cs typeface="Calibri"/>
                <a:sym typeface="Calibri"/>
              </a:rPr>
              <a:t>User anlegen</a:t>
            </a:r>
            <a:endParaRPr/>
          </a:p>
        </p:txBody>
      </p:sp>
      <p:sp>
        <p:nvSpPr>
          <p:cNvPr id="133" name="Google Shape;133;p15"/>
          <p:cNvSpPr txBox="1"/>
          <p:nvPr/>
        </p:nvSpPr>
        <p:spPr>
          <a:xfrm>
            <a:off x="1057275" y="3520380"/>
            <a:ext cx="4552950" cy="745628"/>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4A5568"/>
                </a:solidFill>
                <a:latin typeface="Calibri"/>
                <a:ea typeface="Calibri"/>
                <a:cs typeface="Calibri"/>
                <a:sym typeface="Calibri"/>
              </a:rPr>
              <a:t>Beim Anlegen eines Users wird automatisch ein passender Warenkorb mit erzeugt. Das Backend muss daran nicht denken.</a:t>
            </a:r>
            <a:endParaRPr/>
          </a:p>
        </p:txBody>
      </p:sp>
      <p:sp>
        <p:nvSpPr>
          <p:cNvPr id="134" name="Google Shape;134;p15"/>
          <p:cNvSpPr txBox="1"/>
          <p:nvPr/>
        </p:nvSpPr>
        <p:spPr>
          <a:xfrm>
            <a:off x="6581775" y="2701230"/>
            <a:ext cx="4552950" cy="1714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BEISPIEL</a:t>
            </a:r>
            <a:endParaRPr/>
          </a:p>
        </p:txBody>
      </p:sp>
      <p:sp>
        <p:nvSpPr>
          <p:cNvPr id="135" name="Google Shape;135;p15"/>
          <p:cNvSpPr txBox="1"/>
          <p:nvPr/>
        </p:nvSpPr>
        <p:spPr>
          <a:xfrm>
            <a:off x="6581775" y="3044130"/>
            <a:ext cx="478059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A2536"/>
                </a:solidFill>
                <a:latin typeface="Calibri"/>
                <a:ea typeface="Calibri"/>
                <a:cs typeface="Calibri"/>
                <a:sym typeface="Calibri"/>
              </a:rPr>
              <a:t>Datum automatisch</a:t>
            </a:r>
            <a:endParaRPr/>
          </a:p>
        </p:txBody>
      </p:sp>
      <p:sp>
        <p:nvSpPr>
          <p:cNvPr id="136" name="Google Shape;136;p15"/>
          <p:cNvSpPr txBox="1"/>
          <p:nvPr/>
        </p:nvSpPr>
        <p:spPr>
          <a:xfrm>
            <a:off x="6581775" y="3520380"/>
            <a:ext cx="4552950" cy="497085"/>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4A5568"/>
                </a:solidFill>
                <a:latin typeface="Calibri"/>
                <a:ea typeface="Calibri"/>
                <a:cs typeface="Calibri"/>
                <a:sym typeface="Calibri"/>
              </a:rPr>
              <a:t>Wenn ein Datensatz geändert wird, schreibt die Datenbank automatisch das aktuelle Datum mit.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16" descr="image.png"/>
          <p:cNvPicPr preferRelativeResize="0"/>
          <p:nvPr/>
        </p:nvPicPr>
        <p:blipFill rotWithShape="1">
          <a:blip r:embed="rId3">
            <a:alphaModFix/>
          </a:blip>
          <a:srcRect/>
          <a:stretch/>
        </p:blipFill>
        <p:spPr>
          <a:xfrm>
            <a:off x="714375" y="2358330"/>
            <a:ext cx="5238750" cy="2381250"/>
          </a:xfrm>
          <a:prstGeom prst="rect">
            <a:avLst/>
          </a:prstGeom>
          <a:noFill/>
          <a:ln>
            <a:noFill/>
          </a:ln>
        </p:spPr>
      </p:pic>
      <p:pic>
        <p:nvPicPr>
          <p:cNvPr id="142" name="Google Shape;142;p16" descr="image.png"/>
          <p:cNvPicPr preferRelativeResize="0"/>
          <p:nvPr/>
        </p:nvPicPr>
        <p:blipFill rotWithShape="1">
          <a:blip r:embed="rId3">
            <a:alphaModFix/>
          </a:blip>
          <a:srcRect/>
          <a:stretch/>
        </p:blipFill>
        <p:spPr>
          <a:xfrm>
            <a:off x="6238875" y="2358330"/>
            <a:ext cx="5238750" cy="2381250"/>
          </a:xfrm>
          <a:prstGeom prst="rect">
            <a:avLst/>
          </a:prstGeom>
          <a:noFill/>
          <a:ln>
            <a:noFill/>
          </a:ln>
        </p:spPr>
      </p:pic>
      <p:sp>
        <p:nvSpPr>
          <p:cNvPr id="143" name="Google Shape;143;p16"/>
          <p:cNvSpPr/>
          <p:nvPr/>
        </p:nvSpPr>
        <p:spPr>
          <a:xfrm>
            <a:off x="714375" y="6296025"/>
            <a:ext cx="10763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4" name="Google Shape;144;p16"/>
          <p:cNvSpPr txBox="1"/>
          <p:nvPr/>
        </p:nvSpPr>
        <p:spPr>
          <a:xfrm>
            <a:off x="714375" y="6419850"/>
            <a:ext cx="10763250" cy="2000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1" u="none" strike="noStrike" cap="none">
                <a:solidFill>
                  <a:srgbClr val="4A5568"/>
                </a:solidFill>
                <a:latin typeface="Calibri"/>
                <a:ea typeface="Calibri"/>
                <a:cs typeface="Calibri"/>
                <a:sym typeface="Calibri"/>
              </a:rPr>
              <a:t>pxsng</a:t>
            </a:r>
            <a:r>
              <a:rPr lang="en-US" sz="1200" b="0" i="0" u="none" strike="noStrike" cap="none">
                <a:solidFill>
                  <a:srgbClr val="1A2536"/>
                </a:solidFill>
                <a:latin typeface="Calibri"/>
                <a:ea typeface="Calibri"/>
                <a:cs typeface="Calibri"/>
                <a:sym typeface="Calibri"/>
              </a:rPr>
              <a:t> </a:t>
            </a:r>
            <a:r>
              <a:rPr lang="en-US" sz="1200" b="0" i="0" u="none" strike="noStrike" cap="none">
                <a:solidFill>
                  <a:srgbClr val="718096"/>
                </a:solidFill>
                <a:latin typeface="Calibri"/>
                <a:ea typeface="Calibri"/>
                <a:cs typeface="Calibri"/>
                <a:sym typeface="Calibri"/>
              </a:rPr>
              <a:t>15 / 16</a:t>
            </a:r>
            <a:endParaRPr/>
          </a:p>
        </p:txBody>
      </p:sp>
      <p:sp>
        <p:nvSpPr>
          <p:cNvPr id="145" name="Google Shape;145;p16"/>
          <p:cNvSpPr txBox="1"/>
          <p:nvPr/>
        </p:nvSpPr>
        <p:spPr>
          <a:xfrm>
            <a:off x="714375" y="438150"/>
            <a:ext cx="1380380" cy="1809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DATENBANK</a:t>
            </a:r>
            <a:endParaRPr/>
          </a:p>
        </p:txBody>
      </p:sp>
      <p:sp>
        <p:nvSpPr>
          <p:cNvPr id="146" name="Google Shape;146;p16"/>
          <p:cNvSpPr txBox="1"/>
          <p:nvPr/>
        </p:nvSpPr>
        <p:spPr>
          <a:xfrm>
            <a:off x="11240095" y="428625"/>
            <a:ext cx="237529"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718096"/>
                </a:solidFill>
                <a:latin typeface="Calibri"/>
                <a:ea typeface="Calibri"/>
                <a:cs typeface="Calibri"/>
                <a:sym typeface="Calibri"/>
              </a:rPr>
              <a:t> Tim </a:t>
            </a:r>
            <a:endParaRPr/>
          </a:p>
        </p:txBody>
      </p:sp>
      <p:sp>
        <p:nvSpPr>
          <p:cNvPr id="147" name="Google Shape;147;p16"/>
          <p:cNvSpPr txBox="1"/>
          <p:nvPr/>
        </p:nvSpPr>
        <p:spPr>
          <a:xfrm>
            <a:off x="714375" y="866775"/>
            <a:ext cx="11301412" cy="48190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3300" b="1" i="0" u="none" strike="noStrike" cap="none">
                <a:solidFill>
                  <a:srgbClr val="1A2536"/>
                </a:solidFill>
                <a:latin typeface="Calibri"/>
                <a:ea typeface="Calibri"/>
                <a:cs typeface="Calibri"/>
                <a:sym typeface="Calibri"/>
              </a:rPr>
              <a:t>Hürden beim Docker-Setup</a:t>
            </a:r>
            <a:endParaRPr/>
          </a:p>
        </p:txBody>
      </p:sp>
      <p:sp>
        <p:nvSpPr>
          <p:cNvPr id="148" name="Google Shape;148;p16"/>
          <p:cNvSpPr txBox="1"/>
          <p:nvPr/>
        </p:nvSpPr>
        <p:spPr>
          <a:xfrm>
            <a:off x="714375" y="1520130"/>
            <a:ext cx="10001250" cy="552450"/>
          </a:xfrm>
          <a:prstGeom prst="rect">
            <a:avLst/>
          </a:prstGeom>
          <a:noFill/>
          <a:ln>
            <a:noFill/>
          </a:ln>
        </p:spPr>
        <p:txBody>
          <a:bodyPr spcFirstLastPara="1" wrap="square" lIns="0" tIns="0" rIns="0" bIns="0" anchor="t" anchorCtr="0">
            <a:spAutoFit/>
          </a:bodyPr>
          <a:lstStyle/>
          <a:p>
            <a:pPr marL="0" marR="0" lvl="0" indent="0" algn="l" rtl="0">
              <a:lnSpc>
                <a:spcPct val="145000"/>
              </a:lnSpc>
              <a:spcBef>
                <a:spcPts val="0"/>
              </a:spcBef>
              <a:spcAft>
                <a:spcPts val="0"/>
              </a:spcAft>
              <a:buNone/>
            </a:pPr>
            <a:r>
              <a:rPr lang="en-US" sz="1500" b="0" i="0" u="none" strike="noStrike" cap="none">
                <a:solidFill>
                  <a:srgbClr val="4A5568"/>
                </a:solidFill>
                <a:latin typeface="Calibri"/>
                <a:ea typeface="Calibri"/>
                <a:cs typeface="Calibri"/>
                <a:sym typeface="Calibri"/>
              </a:rPr>
              <a:t>Der lokale Datenbank-Container läuft zwar stabil, aber das automatische Deployen der DB-Objekte gestaltete sich als extrem zeitintensiv.</a:t>
            </a:r>
            <a:endParaRPr/>
          </a:p>
        </p:txBody>
      </p:sp>
      <p:sp>
        <p:nvSpPr>
          <p:cNvPr id="149" name="Google Shape;149;p16"/>
          <p:cNvSpPr txBox="1"/>
          <p:nvPr/>
        </p:nvSpPr>
        <p:spPr>
          <a:xfrm>
            <a:off x="714375" y="5810250"/>
            <a:ext cx="10763250"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25" b="0" i="1" u="none" strike="noStrike" cap="none">
                <a:solidFill>
                  <a:srgbClr val="718096"/>
                </a:solidFill>
                <a:latin typeface="Calibri"/>
                <a:ea typeface="Calibri"/>
                <a:cs typeface="Calibri"/>
                <a:sym typeface="Calibri"/>
              </a:rPr>
              <a:t>Ergebnis: Schema-Elemente mussten für Tests teilweise manuell eingepflegt werden.</a:t>
            </a:r>
            <a:endParaRPr/>
          </a:p>
        </p:txBody>
      </p:sp>
      <p:sp>
        <p:nvSpPr>
          <p:cNvPr id="150" name="Google Shape;150;p16"/>
          <p:cNvSpPr txBox="1"/>
          <p:nvPr/>
        </p:nvSpPr>
        <p:spPr>
          <a:xfrm>
            <a:off x="1057275" y="2701230"/>
            <a:ext cx="4552950" cy="1714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SETUP</a:t>
            </a:r>
            <a:endParaRPr/>
          </a:p>
        </p:txBody>
      </p:sp>
      <p:sp>
        <p:nvSpPr>
          <p:cNvPr id="151" name="Google Shape;151;p16"/>
          <p:cNvSpPr txBox="1"/>
          <p:nvPr/>
        </p:nvSpPr>
        <p:spPr>
          <a:xfrm>
            <a:off x="1057275" y="3044130"/>
            <a:ext cx="478059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A2536"/>
                </a:solidFill>
                <a:latin typeface="Calibri"/>
                <a:ea typeface="Calibri"/>
                <a:cs typeface="Calibri"/>
                <a:sym typeface="Calibri"/>
              </a:rPr>
              <a:t>Automatisches Deployment</a:t>
            </a:r>
            <a:endParaRPr/>
          </a:p>
        </p:txBody>
      </p:sp>
      <p:sp>
        <p:nvSpPr>
          <p:cNvPr id="152" name="Google Shape;152;p16"/>
          <p:cNvSpPr txBox="1"/>
          <p:nvPr/>
        </p:nvSpPr>
        <p:spPr>
          <a:xfrm>
            <a:off x="1057275" y="3520380"/>
            <a:ext cx="4552950" cy="745628"/>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4A5568"/>
                </a:solidFill>
                <a:latin typeface="Calibri"/>
                <a:ea typeface="Calibri"/>
                <a:cs typeface="Calibri"/>
                <a:sym typeface="Calibri"/>
              </a:rPr>
              <a:t>Schema, User, Packages und Procedures vollautomatisch beim Container-Startup einzuspielen, war eine der größten Herausforderungen.</a:t>
            </a:r>
            <a:endParaRPr/>
          </a:p>
        </p:txBody>
      </p:sp>
      <p:sp>
        <p:nvSpPr>
          <p:cNvPr id="153" name="Google Shape;153;p16"/>
          <p:cNvSpPr txBox="1"/>
          <p:nvPr/>
        </p:nvSpPr>
        <p:spPr>
          <a:xfrm>
            <a:off x="6581775" y="2701230"/>
            <a:ext cx="4552950" cy="1714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PROBLEMATIK</a:t>
            </a:r>
            <a:endParaRPr/>
          </a:p>
        </p:txBody>
      </p:sp>
      <p:sp>
        <p:nvSpPr>
          <p:cNvPr id="154" name="Google Shape;154;p16"/>
          <p:cNvSpPr txBox="1"/>
          <p:nvPr/>
        </p:nvSpPr>
        <p:spPr>
          <a:xfrm>
            <a:off x="6581775" y="3044130"/>
            <a:ext cx="478059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A2536"/>
                </a:solidFill>
                <a:latin typeface="Calibri"/>
                <a:ea typeface="Calibri"/>
                <a:cs typeface="Calibri"/>
                <a:sym typeface="Calibri"/>
              </a:rPr>
              <a:t>Inkonsistente Ergebnisse</a:t>
            </a:r>
            <a:endParaRPr/>
          </a:p>
        </p:txBody>
      </p:sp>
      <p:sp>
        <p:nvSpPr>
          <p:cNvPr id="155" name="Google Shape;155;p16"/>
          <p:cNvSpPr txBox="1"/>
          <p:nvPr/>
        </p:nvSpPr>
        <p:spPr>
          <a:xfrm>
            <a:off x="6581775" y="3520380"/>
            <a:ext cx="4552950" cy="745628"/>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4A5568"/>
                </a:solidFill>
                <a:latin typeface="Calibri"/>
                <a:ea typeface="Calibri"/>
                <a:cs typeface="Calibri"/>
                <a:sym typeface="Calibri"/>
              </a:rPr>
              <a:t>Aufgrund von Timing-Issues beim Starten der Oracle-Instanz im Docker-Container läuft das Deployment bis heute nicht deterministisch.</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17" descr="image.png"/>
          <p:cNvPicPr preferRelativeResize="0"/>
          <p:nvPr/>
        </p:nvPicPr>
        <p:blipFill rotWithShape="1">
          <a:blip r:embed="rId3">
            <a:alphaModFix/>
          </a:blip>
          <a:srcRect/>
          <a:stretch/>
        </p:blipFill>
        <p:spPr>
          <a:xfrm>
            <a:off x="714375" y="2358330"/>
            <a:ext cx="5238750" cy="2381250"/>
          </a:xfrm>
          <a:prstGeom prst="rect">
            <a:avLst/>
          </a:prstGeom>
          <a:noFill/>
          <a:ln>
            <a:noFill/>
          </a:ln>
        </p:spPr>
      </p:pic>
      <p:pic>
        <p:nvPicPr>
          <p:cNvPr id="161" name="Google Shape;161;p17" descr="image.png"/>
          <p:cNvPicPr preferRelativeResize="0"/>
          <p:nvPr/>
        </p:nvPicPr>
        <p:blipFill rotWithShape="1">
          <a:blip r:embed="rId3">
            <a:alphaModFix/>
          </a:blip>
          <a:srcRect/>
          <a:stretch/>
        </p:blipFill>
        <p:spPr>
          <a:xfrm>
            <a:off x="6238875" y="2358330"/>
            <a:ext cx="5238750" cy="2381250"/>
          </a:xfrm>
          <a:prstGeom prst="rect">
            <a:avLst/>
          </a:prstGeom>
          <a:noFill/>
          <a:ln>
            <a:noFill/>
          </a:ln>
        </p:spPr>
      </p:pic>
      <p:sp>
        <p:nvSpPr>
          <p:cNvPr id="162" name="Google Shape;162;p17"/>
          <p:cNvSpPr/>
          <p:nvPr/>
        </p:nvSpPr>
        <p:spPr>
          <a:xfrm>
            <a:off x="714375" y="6296025"/>
            <a:ext cx="10763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7"/>
          <p:cNvSpPr txBox="1"/>
          <p:nvPr/>
        </p:nvSpPr>
        <p:spPr>
          <a:xfrm>
            <a:off x="714375" y="6419850"/>
            <a:ext cx="10763250" cy="2000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1" u="none" strike="noStrike" cap="none">
                <a:solidFill>
                  <a:srgbClr val="4A5568"/>
                </a:solidFill>
                <a:latin typeface="Calibri"/>
                <a:ea typeface="Calibri"/>
                <a:cs typeface="Calibri"/>
                <a:sym typeface="Calibri"/>
              </a:rPr>
              <a:t>pxsng</a:t>
            </a:r>
            <a:r>
              <a:rPr lang="en-US" sz="1200" b="0" i="0" u="none" strike="noStrike" cap="none">
                <a:solidFill>
                  <a:srgbClr val="1A2536"/>
                </a:solidFill>
                <a:latin typeface="Calibri"/>
                <a:ea typeface="Calibri"/>
                <a:cs typeface="Calibri"/>
                <a:sym typeface="Calibri"/>
              </a:rPr>
              <a:t> </a:t>
            </a:r>
            <a:r>
              <a:rPr lang="en-US" sz="1200" b="0" i="0" u="none" strike="noStrike" cap="none">
                <a:solidFill>
                  <a:srgbClr val="718096"/>
                </a:solidFill>
                <a:latin typeface="Calibri"/>
                <a:ea typeface="Calibri"/>
                <a:cs typeface="Calibri"/>
                <a:sym typeface="Calibri"/>
              </a:rPr>
              <a:t>16 / 16</a:t>
            </a:r>
            <a:endParaRPr/>
          </a:p>
        </p:txBody>
      </p:sp>
      <p:sp>
        <p:nvSpPr>
          <p:cNvPr id="164" name="Google Shape;164;p17"/>
          <p:cNvSpPr txBox="1"/>
          <p:nvPr/>
        </p:nvSpPr>
        <p:spPr>
          <a:xfrm>
            <a:off x="714375" y="438150"/>
            <a:ext cx="1380380" cy="1809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DATENBANK</a:t>
            </a:r>
            <a:endParaRPr/>
          </a:p>
        </p:txBody>
      </p:sp>
      <p:sp>
        <p:nvSpPr>
          <p:cNvPr id="165" name="Google Shape;165;p17"/>
          <p:cNvSpPr txBox="1"/>
          <p:nvPr/>
        </p:nvSpPr>
        <p:spPr>
          <a:xfrm>
            <a:off x="11240095" y="428625"/>
            <a:ext cx="237529"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718096"/>
                </a:solidFill>
                <a:latin typeface="Calibri"/>
                <a:ea typeface="Calibri"/>
                <a:cs typeface="Calibri"/>
                <a:sym typeface="Calibri"/>
              </a:rPr>
              <a:t> Tim </a:t>
            </a:r>
            <a:endParaRPr/>
          </a:p>
        </p:txBody>
      </p:sp>
      <p:sp>
        <p:nvSpPr>
          <p:cNvPr id="166" name="Google Shape;166;p17"/>
          <p:cNvSpPr txBox="1"/>
          <p:nvPr/>
        </p:nvSpPr>
        <p:spPr>
          <a:xfrm>
            <a:off x="714375" y="866775"/>
            <a:ext cx="11301412" cy="48190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3300" b="1" i="0" u="none" strike="noStrike" cap="none">
                <a:solidFill>
                  <a:srgbClr val="1A2536"/>
                </a:solidFill>
                <a:latin typeface="Calibri"/>
                <a:ea typeface="Calibri"/>
                <a:cs typeface="Calibri"/>
                <a:sym typeface="Calibri"/>
              </a:rPr>
              <a:t>Inkompatibilitäten &amp; Testdaten</a:t>
            </a:r>
            <a:endParaRPr/>
          </a:p>
        </p:txBody>
      </p:sp>
      <p:sp>
        <p:nvSpPr>
          <p:cNvPr id="167" name="Google Shape;167;p17"/>
          <p:cNvSpPr txBox="1"/>
          <p:nvPr/>
        </p:nvSpPr>
        <p:spPr>
          <a:xfrm>
            <a:off x="714375" y="1520130"/>
            <a:ext cx="10001250" cy="552450"/>
          </a:xfrm>
          <a:prstGeom prst="rect">
            <a:avLst/>
          </a:prstGeom>
          <a:noFill/>
          <a:ln>
            <a:noFill/>
          </a:ln>
        </p:spPr>
        <p:txBody>
          <a:bodyPr spcFirstLastPara="1" wrap="square" lIns="0" tIns="0" rIns="0" bIns="0" anchor="t" anchorCtr="0">
            <a:spAutoFit/>
          </a:bodyPr>
          <a:lstStyle/>
          <a:p>
            <a:pPr marL="0" marR="0" lvl="0" indent="0" algn="l" rtl="0">
              <a:lnSpc>
                <a:spcPct val="145000"/>
              </a:lnSpc>
              <a:spcBef>
                <a:spcPts val="0"/>
              </a:spcBef>
              <a:spcAft>
                <a:spcPts val="0"/>
              </a:spcAft>
              <a:buNone/>
            </a:pPr>
            <a:r>
              <a:rPr lang="en-US" sz="1500" b="0" i="0" u="none" strike="noStrike" cap="none">
                <a:solidFill>
                  <a:srgbClr val="4A5568"/>
                </a:solidFill>
                <a:latin typeface="Calibri"/>
                <a:ea typeface="Calibri"/>
                <a:cs typeface="Calibri"/>
                <a:sym typeface="Calibri"/>
              </a:rPr>
              <a:t>Sowohl Betriebssystem-Unterschiede im Team als auch die fehlende Generierung von Beispieldaten erschwerten die Testphasen.</a:t>
            </a:r>
            <a:endParaRPr/>
          </a:p>
        </p:txBody>
      </p:sp>
      <p:sp>
        <p:nvSpPr>
          <p:cNvPr id="168" name="Google Shape;168;p17"/>
          <p:cNvSpPr txBox="1"/>
          <p:nvPr/>
        </p:nvSpPr>
        <p:spPr>
          <a:xfrm>
            <a:off x="714375" y="5810250"/>
            <a:ext cx="10763250"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25" b="0" i="1" u="none" strike="noStrike" cap="none">
                <a:solidFill>
                  <a:srgbClr val="718096"/>
                </a:solidFill>
                <a:latin typeface="Calibri"/>
                <a:ea typeface="Calibri"/>
                <a:cs typeface="Calibri"/>
                <a:sym typeface="Calibri"/>
              </a:rPr>
              <a:t>Ziel nächste Klasse: Auto-Deployment stabilisieren und synthetische Testdaten generieren.</a:t>
            </a:r>
            <a:endParaRPr/>
          </a:p>
        </p:txBody>
      </p:sp>
      <p:sp>
        <p:nvSpPr>
          <p:cNvPr id="169" name="Google Shape;169;p17"/>
          <p:cNvSpPr txBox="1"/>
          <p:nvPr/>
        </p:nvSpPr>
        <p:spPr>
          <a:xfrm>
            <a:off x="1057275" y="2701230"/>
            <a:ext cx="4552950" cy="1714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BETRIEBSSYSTEM</a:t>
            </a:r>
            <a:endParaRPr/>
          </a:p>
        </p:txBody>
      </p:sp>
      <p:sp>
        <p:nvSpPr>
          <p:cNvPr id="170" name="Google Shape;170;p17"/>
          <p:cNvSpPr txBox="1"/>
          <p:nvPr/>
        </p:nvSpPr>
        <p:spPr>
          <a:xfrm>
            <a:off x="1057275" y="3044130"/>
            <a:ext cx="478059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A2536"/>
                </a:solidFill>
                <a:latin typeface="Calibri"/>
                <a:ea typeface="Calibri"/>
                <a:cs typeface="Calibri"/>
                <a:sym typeface="Calibri"/>
              </a:rPr>
              <a:t>Windows vs. Linux Setup</a:t>
            </a:r>
            <a:endParaRPr/>
          </a:p>
        </p:txBody>
      </p:sp>
      <p:sp>
        <p:nvSpPr>
          <p:cNvPr id="171" name="Google Shape;171;p17"/>
          <p:cNvSpPr txBox="1"/>
          <p:nvPr/>
        </p:nvSpPr>
        <p:spPr>
          <a:xfrm>
            <a:off x="1057275" y="3520380"/>
            <a:ext cx="4552950" cy="497085"/>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4A5568"/>
                </a:solidFill>
                <a:latin typeface="Calibri"/>
                <a:ea typeface="Calibri"/>
                <a:cs typeface="Calibri"/>
                <a:sym typeface="Calibri"/>
              </a:rPr>
              <a:t>Volume-Mounts unter Windows Docker Desktop führten oft zu Berechtigungsfehlern in den Oracle-Ordnerstrukturen.</a:t>
            </a:r>
            <a:endParaRPr/>
          </a:p>
        </p:txBody>
      </p:sp>
      <p:sp>
        <p:nvSpPr>
          <p:cNvPr id="172" name="Google Shape;172;p17"/>
          <p:cNvSpPr txBox="1"/>
          <p:nvPr/>
        </p:nvSpPr>
        <p:spPr>
          <a:xfrm>
            <a:off x="6581775" y="2701230"/>
            <a:ext cx="4552950" cy="1714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1A2536"/>
                </a:solidFill>
                <a:latin typeface="Calibri"/>
                <a:ea typeface="Calibri"/>
                <a:cs typeface="Calibri"/>
                <a:sym typeface="Calibri"/>
              </a:rPr>
              <a:t> </a:t>
            </a:r>
            <a:r>
              <a:rPr lang="en-US" sz="1200" b="1" i="0" u="none" strike="noStrike" cap="none">
                <a:solidFill>
                  <a:srgbClr val="99D046"/>
                </a:solidFill>
                <a:latin typeface="Calibri"/>
                <a:ea typeface="Calibri"/>
                <a:cs typeface="Calibri"/>
                <a:sym typeface="Calibri"/>
              </a:rPr>
              <a:t>STATUS</a:t>
            </a:r>
            <a:endParaRPr/>
          </a:p>
        </p:txBody>
      </p:sp>
      <p:sp>
        <p:nvSpPr>
          <p:cNvPr id="173" name="Google Shape;173;p17"/>
          <p:cNvSpPr txBox="1"/>
          <p:nvPr/>
        </p:nvSpPr>
        <p:spPr>
          <a:xfrm>
            <a:off x="6581775" y="3044130"/>
            <a:ext cx="478059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A2536"/>
                </a:solidFill>
                <a:latin typeface="Calibri"/>
                <a:ea typeface="Calibri"/>
                <a:cs typeface="Calibri"/>
                <a:sym typeface="Calibri"/>
              </a:rPr>
              <a:t>Testdaten fehlen</a:t>
            </a:r>
            <a:endParaRPr/>
          </a:p>
        </p:txBody>
      </p:sp>
      <p:sp>
        <p:nvSpPr>
          <p:cNvPr id="174" name="Google Shape;174;p17"/>
          <p:cNvSpPr txBox="1"/>
          <p:nvPr/>
        </p:nvSpPr>
        <p:spPr>
          <a:xfrm>
            <a:off x="6581775" y="3520380"/>
            <a:ext cx="4552950" cy="745628"/>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4A5568"/>
                </a:solidFill>
                <a:latin typeface="Calibri"/>
                <a:ea typeface="Calibri"/>
                <a:cs typeface="Calibri"/>
                <a:sym typeface="Calibri"/>
              </a:rPr>
              <a:t>Aktuell steht nur die Struktur bereit. Ohne konsistente Testdaten in der DB konnten noch keine realen Testläufe abgeschlossen werden.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ellipse">
            <a:avLst/>
          </a:prstGeom>
          <a:solidFill>
            <a:srgbClr val="F0993E"/>
          </a:solidFill>
          <a:ln w="12700">
            <a:solidFill>
              <a:srgbClr val="F0993E"/>
            </a:solidFill>
            <a:prstDash val="solid"/>
          </a:ln>
        </p:spPr>
        <p:txBody>
          <a:bodyPr/>
          <a:lstStyle/>
          <a:p>
            <a:endParaRPr lang="de-DE"/>
          </a:p>
        </p:txBody>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400">
                <a:solidFill>
                  <a:srgbClr val="F0993E"/>
                </a:solidFill>
                <a:latin typeface="Calibri" pitchFamily="34" charset="0"/>
                <a:ea typeface="Calibri" pitchFamily="34" charset="-122"/>
                <a:cs typeface="Calibri" pitchFamily="34" charset="-120"/>
              </a:rPr>
              <a:t>ABSCHLUSS</a:t>
            </a:r>
            <a:endParaRPr lang="en-US" sz="1100"/>
          </a:p>
        </p:txBody>
      </p:sp>
      <p:sp>
        <p:nvSpPr>
          <p:cNvPr id="4" name="Text 2"/>
          <p:cNvSpPr/>
          <p:nvPr/>
        </p:nvSpPr>
        <p:spPr>
          <a:xfrm>
            <a:off x="6400800" y="457200"/>
            <a:ext cx="5303520" cy="274320"/>
          </a:xfrm>
          <a:prstGeom prst="rect">
            <a:avLst/>
          </a:prstGeom>
          <a:noFill/>
          <a:ln/>
        </p:spPr>
        <p:txBody>
          <a:bodyPr wrap="square" lIns="0" tIns="0" rIns="0" bIns="0" rtlCol="0" anchor="ctr"/>
          <a:lstStyle/>
          <a:p>
            <a:pPr marL="0" indent="0" algn="r">
              <a:buNone/>
            </a:pPr>
            <a:r>
              <a:rPr lang="en-US" sz="1100" i="1">
                <a:solidFill>
                  <a:srgbClr val="8C97A1"/>
                </a:solidFill>
                <a:latin typeface="Calibri" pitchFamily="34" charset="0"/>
                <a:ea typeface="Calibri" pitchFamily="34" charset="-122"/>
                <a:cs typeface="Calibri" pitchFamily="34" charset="-120"/>
              </a:rPr>
              <a:t>Übergabe</a:t>
            </a:r>
            <a:endParaRPr lang="en-US" sz="1100"/>
          </a:p>
        </p:txBody>
      </p:sp>
      <p:sp>
        <p:nvSpPr>
          <p:cNvPr id="5" name="Text 3"/>
          <p:cNvSpPr/>
          <p:nvPr/>
        </p:nvSpPr>
        <p:spPr>
          <a:xfrm>
            <a:off x="548640" y="868680"/>
            <a:ext cx="11155680" cy="1097280"/>
          </a:xfrm>
          <a:prstGeom prst="rect">
            <a:avLst/>
          </a:prstGeom>
          <a:noFill/>
          <a:ln/>
        </p:spPr>
        <p:txBody>
          <a:bodyPr wrap="square" lIns="0" tIns="0" rIns="0" bIns="0" rtlCol="0" anchor="t"/>
          <a:lstStyle/>
          <a:p>
            <a:pPr marL="0" indent="0">
              <a:buNone/>
            </a:pPr>
            <a:r>
              <a:rPr lang="en-US" sz="4000" b="1">
                <a:solidFill>
                  <a:srgbClr val="213547"/>
                </a:solidFill>
                <a:latin typeface="Calibri" pitchFamily="34" charset="0"/>
                <a:ea typeface="Calibri" pitchFamily="34" charset="-122"/>
                <a:cs typeface="Calibri" pitchFamily="34" charset="-120"/>
              </a:rPr>
              <a:t>So macht die nächste Klasse weiter</a:t>
            </a:r>
            <a:endParaRPr lang="en-US" sz="4000"/>
          </a:p>
        </p:txBody>
      </p:sp>
      <p:sp>
        <p:nvSpPr>
          <p:cNvPr id="6" name="Shape 4"/>
          <p:cNvSpPr/>
          <p:nvPr/>
        </p:nvSpPr>
        <p:spPr>
          <a:xfrm>
            <a:off x="548640" y="2194560"/>
            <a:ext cx="548640" cy="548640"/>
          </a:xfrm>
          <a:prstGeom prst="ellipse">
            <a:avLst/>
          </a:prstGeom>
          <a:solidFill>
            <a:srgbClr val="F0993E"/>
          </a:solidFill>
          <a:ln w="12700">
            <a:solidFill>
              <a:srgbClr val="F0993E"/>
            </a:solidFill>
            <a:prstDash val="solid"/>
          </a:ln>
        </p:spPr>
        <p:txBody>
          <a:bodyPr/>
          <a:lstStyle/>
          <a:p>
            <a:endParaRPr lang="de-DE"/>
          </a:p>
        </p:txBody>
      </p:sp>
      <p:sp>
        <p:nvSpPr>
          <p:cNvPr id="7" name="Text 5"/>
          <p:cNvSpPr/>
          <p:nvPr/>
        </p:nvSpPr>
        <p:spPr>
          <a:xfrm>
            <a:off x="548640" y="2194560"/>
            <a:ext cx="548640" cy="548640"/>
          </a:xfrm>
          <a:prstGeom prst="rect">
            <a:avLst/>
          </a:prstGeom>
          <a:noFill/>
          <a:ln/>
        </p:spPr>
        <p:txBody>
          <a:bodyPr wrap="square" lIns="0" tIns="0" rIns="0" bIns="0" rtlCol="0" anchor="ctr"/>
          <a:lstStyle/>
          <a:p>
            <a:pPr marL="0" indent="0" algn="ctr">
              <a:buNone/>
            </a:pPr>
            <a:r>
              <a:rPr lang="en-US" sz="2000" b="1">
                <a:solidFill>
                  <a:srgbClr val="FFFFFF"/>
                </a:solidFill>
                <a:latin typeface="Calibri" pitchFamily="34" charset="0"/>
                <a:ea typeface="Calibri" pitchFamily="34" charset="-122"/>
                <a:cs typeface="Calibri" pitchFamily="34" charset="-120"/>
              </a:rPr>
              <a:t>1</a:t>
            </a:r>
            <a:endParaRPr lang="en-US" sz="2000"/>
          </a:p>
        </p:txBody>
      </p:sp>
      <p:sp>
        <p:nvSpPr>
          <p:cNvPr id="8" name="Text 6"/>
          <p:cNvSpPr/>
          <p:nvPr/>
        </p:nvSpPr>
        <p:spPr>
          <a:xfrm>
            <a:off x="1325880" y="2194560"/>
            <a:ext cx="4572000" cy="365760"/>
          </a:xfrm>
          <a:prstGeom prst="rect">
            <a:avLst/>
          </a:prstGeom>
          <a:noFill/>
          <a:ln/>
        </p:spPr>
        <p:txBody>
          <a:bodyPr wrap="square" lIns="0" tIns="0" rIns="0" bIns="0" rtlCol="0" anchor="ctr"/>
          <a:lstStyle/>
          <a:p>
            <a:pPr marL="0" indent="0">
              <a:buNone/>
            </a:pPr>
            <a:r>
              <a:rPr lang="en-US" sz="1500" b="1">
                <a:solidFill>
                  <a:srgbClr val="213547"/>
                </a:solidFill>
                <a:latin typeface="Calibri" pitchFamily="34" charset="0"/>
                <a:ea typeface="Calibri" pitchFamily="34" charset="-122"/>
                <a:cs typeface="Calibri" pitchFamily="34" charset="-120"/>
              </a:rPr>
              <a:t>Beispieldaten austauschen</a:t>
            </a:r>
            <a:endParaRPr lang="en-US" sz="1500"/>
          </a:p>
        </p:txBody>
      </p:sp>
      <p:sp>
        <p:nvSpPr>
          <p:cNvPr id="9" name="Text 7"/>
          <p:cNvSpPr/>
          <p:nvPr/>
        </p:nvSpPr>
        <p:spPr>
          <a:xfrm>
            <a:off x="1325880" y="2606040"/>
            <a:ext cx="4572000" cy="1188720"/>
          </a:xfrm>
          <a:prstGeom prst="rect">
            <a:avLst/>
          </a:prstGeom>
          <a:noFill/>
          <a:ln/>
        </p:spPr>
        <p:txBody>
          <a:bodyPr wrap="square" lIns="0" tIns="0" rIns="0" bIns="0" rtlCol="0" anchor="t"/>
          <a:lstStyle/>
          <a:p>
            <a:pPr marL="0" indent="0">
              <a:buNone/>
            </a:pPr>
            <a:r>
              <a:rPr lang="en-US" sz="1200">
                <a:solidFill>
                  <a:srgbClr val="5A6A7A"/>
                </a:solidFill>
                <a:latin typeface="Calibri" pitchFamily="34" charset="0"/>
                <a:ea typeface="Calibri" pitchFamily="34" charset="-122"/>
                <a:cs typeface="Calibri" pitchFamily="34" charset="-120"/>
              </a:rPr>
              <a:t>Im Backend die letzten Beispieldaten gegen echte Datenbankaufrufe ersetzen.</a:t>
            </a:r>
            <a:endParaRPr lang="en-US" sz="1200"/>
          </a:p>
        </p:txBody>
      </p:sp>
      <p:sp>
        <p:nvSpPr>
          <p:cNvPr id="10" name="Shape 8"/>
          <p:cNvSpPr/>
          <p:nvPr/>
        </p:nvSpPr>
        <p:spPr>
          <a:xfrm>
            <a:off x="6126480" y="2194560"/>
            <a:ext cx="548640" cy="548640"/>
          </a:xfrm>
          <a:prstGeom prst="ellipse">
            <a:avLst/>
          </a:prstGeom>
          <a:solidFill>
            <a:srgbClr val="2ABB9B"/>
          </a:solidFill>
          <a:ln w="12700">
            <a:solidFill>
              <a:srgbClr val="2ABB9B"/>
            </a:solidFill>
            <a:prstDash val="solid"/>
          </a:ln>
        </p:spPr>
        <p:txBody>
          <a:bodyPr/>
          <a:lstStyle/>
          <a:p>
            <a:endParaRPr lang="de-DE"/>
          </a:p>
        </p:txBody>
      </p:sp>
      <p:sp>
        <p:nvSpPr>
          <p:cNvPr id="11" name="Text 9"/>
          <p:cNvSpPr/>
          <p:nvPr/>
        </p:nvSpPr>
        <p:spPr>
          <a:xfrm>
            <a:off x="6126480" y="2194560"/>
            <a:ext cx="548640" cy="548640"/>
          </a:xfrm>
          <a:prstGeom prst="rect">
            <a:avLst/>
          </a:prstGeom>
          <a:noFill/>
          <a:ln/>
        </p:spPr>
        <p:txBody>
          <a:bodyPr wrap="square" lIns="0" tIns="0" rIns="0" bIns="0" rtlCol="0" anchor="ctr"/>
          <a:lstStyle/>
          <a:p>
            <a:pPr marL="0" indent="0" algn="ctr">
              <a:buNone/>
            </a:pPr>
            <a:r>
              <a:rPr lang="en-US" sz="2000" b="1">
                <a:solidFill>
                  <a:srgbClr val="FFFFFF"/>
                </a:solidFill>
                <a:latin typeface="Calibri" pitchFamily="34" charset="0"/>
                <a:ea typeface="Calibri" pitchFamily="34" charset="-122"/>
                <a:cs typeface="Calibri" pitchFamily="34" charset="-120"/>
              </a:rPr>
              <a:t>2</a:t>
            </a:r>
            <a:endParaRPr lang="en-US" sz="2000"/>
          </a:p>
        </p:txBody>
      </p:sp>
      <p:sp>
        <p:nvSpPr>
          <p:cNvPr id="12" name="Text 10"/>
          <p:cNvSpPr/>
          <p:nvPr/>
        </p:nvSpPr>
        <p:spPr>
          <a:xfrm>
            <a:off x="6903720" y="2194560"/>
            <a:ext cx="4572000" cy="365760"/>
          </a:xfrm>
          <a:prstGeom prst="rect">
            <a:avLst/>
          </a:prstGeom>
          <a:noFill/>
          <a:ln/>
        </p:spPr>
        <p:txBody>
          <a:bodyPr wrap="square" lIns="0" tIns="0" rIns="0" bIns="0" rtlCol="0" anchor="ctr"/>
          <a:lstStyle/>
          <a:p>
            <a:pPr marL="0" indent="0">
              <a:buNone/>
            </a:pPr>
            <a:r>
              <a:rPr lang="en-US" sz="1500" b="1">
                <a:solidFill>
                  <a:srgbClr val="213547"/>
                </a:solidFill>
                <a:latin typeface="Calibri" pitchFamily="34" charset="0"/>
                <a:ea typeface="Calibri" pitchFamily="34" charset="-122"/>
                <a:cs typeface="Calibri" pitchFamily="34" charset="-120"/>
              </a:rPr>
              <a:t>PDF Service bauen</a:t>
            </a:r>
            <a:endParaRPr lang="en-US" sz="1500"/>
          </a:p>
        </p:txBody>
      </p:sp>
      <p:sp>
        <p:nvSpPr>
          <p:cNvPr id="13" name="Text 11"/>
          <p:cNvSpPr/>
          <p:nvPr/>
        </p:nvSpPr>
        <p:spPr>
          <a:xfrm>
            <a:off x="6903720" y="2606040"/>
            <a:ext cx="4572000" cy="1188720"/>
          </a:xfrm>
          <a:prstGeom prst="rect">
            <a:avLst/>
          </a:prstGeom>
          <a:noFill/>
          <a:ln/>
        </p:spPr>
        <p:txBody>
          <a:bodyPr wrap="square" lIns="0" tIns="0" rIns="0" bIns="0" rtlCol="0" anchor="t"/>
          <a:lstStyle/>
          <a:p>
            <a:pPr marL="0" indent="0">
              <a:buNone/>
            </a:pPr>
            <a:r>
              <a:rPr lang="en-US" sz="1200">
                <a:solidFill>
                  <a:srgbClr val="5A6A7A"/>
                </a:solidFill>
                <a:latin typeface="Calibri" pitchFamily="34" charset="0"/>
                <a:ea typeface="Calibri" pitchFamily="34" charset="-122"/>
                <a:cs typeface="Calibri" pitchFamily="34" charset="-120"/>
              </a:rPr>
              <a:t>Modul, das Angebote, Rechnungen und Zertifikate als PDF erzeugt.</a:t>
            </a:r>
            <a:endParaRPr lang="en-US" sz="1200"/>
          </a:p>
        </p:txBody>
      </p:sp>
      <p:sp>
        <p:nvSpPr>
          <p:cNvPr id="14" name="Shape 12"/>
          <p:cNvSpPr/>
          <p:nvPr/>
        </p:nvSpPr>
        <p:spPr>
          <a:xfrm>
            <a:off x="548640" y="3840480"/>
            <a:ext cx="548640" cy="548640"/>
          </a:xfrm>
          <a:prstGeom prst="ellipse">
            <a:avLst/>
          </a:prstGeom>
          <a:solidFill>
            <a:srgbClr val="2ABB9B"/>
          </a:solidFill>
          <a:ln w="12700">
            <a:solidFill>
              <a:srgbClr val="2ABB9B"/>
            </a:solidFill>
            <a:prstDash val="solid"/>
          </a:ln>
        </p:spPr>
        <p:txBody>
          <a:bodyPr/>
          <a:lstStyle/>
          <a:p>
            <a:endParaRPr lang="de-DE"/>
          </a:p>
        </p:txBody>
      </p:sp>
      <p:sp>
        <p:nvSpPr>
          <p:cNvPr id="15" name="Text 13"/>
          <p:cNvSpPr/>
          <p:nvPr/>
        </p:nvSpPr>
        <p:spPr>
          <a:xfrm>
            <a:off x="548640" y="3840480"/>
            <a:ext cx="548640" cy="548640"/>
          </a:xfrm>
          <a:prstGeom prst="rect">
            <a:avLst/>
          </a:prstGeom>
          <a:noFill/>
          <a:ln/>
        </p:spPr>
        <p:txBody>
          <a:bodyPr wrap="square" lIns="0" tIns="0" rIns="0" bIns="0" rtlCol="0" anchor="ctr"/>
          <a:lstStyle/>
          <a:p>
            <a:pPr marL="0" indent="0" algn="ctr">
              <a:buNone/>
            </a:pPr>
            <a:r>
              <a:rPr lang="en-US" sz="2000" b="1">
                <a:solidFill>
                  <a:srgbClr val="FFFFFF"/>
                </a:solidFill>
                <a:latin typeface="Calibri" pitchFamily="34" charset="0"/>
                <a:ea typeface="Calibri" pitchFamily="34" charset="-122"/>
                <a:cs typeface="Calibri" pitchFamily="34" charset="-120"/>
              </a:rPr>
              <a:t>3</a:t>
            </a:r>
            <a:endParaRPr lang="en-US" sz="2000"/>
          </a:p>
        </p:txBody>
      </p:sp>
      <p:sp>
        <p:nvSpPr>
          <p:cNvPr id="16" name="Text 14"/>
          <p:cNvSpPr/>
          <p:nvPr/>
        </p:nvSpPr>
        <p:spPr>
          <a:xfrm>
            <a:off x="1325880" y="3840480"/>
            <a:ext cx="4572000" cy="365760"/>
          </a:xfrm>
          <a:prstGeom prst="rect">
            <a:avLst/>
          </a:prstGeom>
          <a:noFill/>
          <a:ln/>
        </p:spPr>
        <p:txBody>
          <a:bodyPr wrap="square" lIns="0" tIns="0" rIns="0" bIns="0" rtlCol="0" anchor="ctr"/>
          <a:lstStyle/>
          <a:p>
            <a:pPr marL="0" indent="0">
              <a:buNone/>
            </a:pPr>
            <a:r>
              <a:rPr lang="en-US" sz="1500" b="1">
                <a:solidFill>
                  <a:srgbClr val="213547"/>
                </a:solidFill>
                <a:latin typeface="Calibri" pitchFamily="34" charset="0"/>
                <a:ea typeface="Calibri" pitchFamily="34" charset="-122"/>
                <a:cs typeface="Calibri" pitchFamily="34" charset="-120"/>
              </a:rPr>
              <a:t>KI anbinden</a:t>
            </a:r>
            <a:endParaRPr lang="en-US" sz="1500"/>
          </a:p>
        </p:txBody>
      </p:sp>
      <p:sp>
        <p:nvSpPr>
          <p:cNvPr id="17" name="Text 15"/>
          <p:cNvSpPr/>
          <p:nvPr/>
        </p:nvSpPr>
        <p:spPr>
          <a:xfrm>
            <a:off x="1325880" y="4251960"/>
            <a:ext cx="4572000" cy="1188720"/>
          </a:xfrm>
          <a:prstGeom prst="rect">
            <a:avLst/>
          </a:prstGeom>
          <a:noFill/>
          <a:ln/>
        </p:spPr>
        <p:txBody>
          <a:bodyPr wrap="square" lIns="0" tIns="0" rIns="0" bIns="0" rtlCol="0" anchor="t"/>
          <a:lstStyle/>
          <a:p>
            <a:pPr marL="0" indent="0">
              <a:buNone/>
            </a:pPr>
            <a:r>
              <a:rPr lang="en-US" sz="1200">
                <a:solidFill>
                  <a:srgbClr val="5A6A7A"/>
                </a:solidFill>
                <a:latin typeface="Calibri" pitchFamily="34" charset="0"/>
                <a:ea typeface="Calibri" pitchFamily="34" charset="-122"/>
                <a:cs typeface="Calibri" pitchFamily="34" charset="-120"/>
              </a:rPr>
              <a:t>Lokale KI für Textbausteine, zum Beispiel über Ollama.</a:t>
            </a:r>
            <a:endParaRPr lang="en-US" sz="1200"/>
          </a:p>
        </p:txBody>
      </p:sp>
      <p:sp>
        <p:nvSpPr>
          <p:cNvPr id="18" name="Shape 16"/>
          <p:cNvSpPr/>
          <p:nvPr/>
        </p:nvSpPr>
        <p:spPr>
          <a:xfrm>
            <a:off x="6126480" y="3840480"/>
            <a:ext cx="548640" cy="548640"/>
          </a:xfrm>
          <a:prstGeom prst="ellipse">
            <a:avLst/>
          </a:prstGeom>
          <a:solidFill>
            <a:srgbClr val="F0993E"/>
          </a:solidFill>
          <a:ln w="12700">
            <a:solidFill>
              <a:srgbClr val="F0993E"/>
            </a:solidFill>
            <a:prstDash val="solid"/>
          </a:ln>
        </p:spPr>
        <p:txBody>
          <a:bodyPr/>
          <a:lstStyle/>
          <a:p>
            <a:endParaRPr lang="de-DE"/>
          </a:p>
        </p:txBody>
      </p:sp>
      <p:sp>
        <p:nvSpPr>
          <p:cNvPr id="19" name="Text 17"/>
          <p:cNvSpPr/>
          <p:nvPr/>
        </p:nvSpPr>
        <p:spPr>
          <a:xfrm>
            <a:off x="6126480" y="3840480"/>
            <a:ext cx="548640" cy="548640"/>
          </a:xfrm>
          <a:prstGeom prst="rect">
            <a:avLst/>
          </a:prstGeom>
          <a:noFill/>
          <a:ln/>
        </p:spPr>
        <p:txBody>
          <a:bodyPr wrap="square" lIns="0" tIns="0" rIns="0" bIns="0" rtlCol="0" anchor="ctr"/>
          <a:lstStyle/>
          <a:p>
            <a:pPr marL="0" indent="0" algn="ctr">
              <a:buNone/>
            </a:pPr>
            <a:r>
              <a:rPr lang="en-US" sz="2000" b="1">
                <a:solidFill>
                  <a:srgbClr val="FFFFFF"/>
                </a:solidFill>
                <a:latin typeface="Calibri" pitchFamily="34" charset="0"/>
                <a:ea typeface="Calibri" pitchFamily="34" charset="-122"/>
                <a:cs typeface="Calibri" pitchFamily="34" charset="-120"/>
              </a:rPr>
              <a:t>4</a:t>
            </a:r>
            <a:endParaRPr lang="en-US" sz="2000"/>
          </a:p>
        </p:txBody>
      </p:sp>
      <p:sp>
        <p:nvSpPr>
          <p:cNvPr id="20" name="Text 18"/>
          <p:cNvSpPr/>
          <p:nvPr/>
        </p:nvSpPr>
        <p:spPr>
          <a:xfrm>
            <a:off x="6903720" y="3840480"/>
            <a:ext cx="4572000" cy="365760"/>
          </a:xfrm>
          <a:prstGeom prst="rect">
            <a:avLst/>
          </a:prstGeom>
          <a:noFill/>
          <a:ln/>
        </p:spPr>
        <p:txBody>
          <a:bodyPr wrap="square" lIns="0" tIns="0" rIns="0" bIns="0" rtlCol="0" anchor="ctr"/>
          <a:lstStyle/>
          <a:p>
            <a:pPr marL="0" indent="0">
              <a:buNone/>
            </a:pPr>
            <a:r>
              <a:rPr lang="en-US" sz="1500" b="1">
                <a:solidFill>
                  <a:srgbClr val="213547"/>
                </a:solidFill>
                <a:latin typeface="Calibri" pitchFamily="34" charset="0"/>
                <a:ea typeface="Calibri" pitchFamily="34" charset="-122"/>
                <a:cs typeface="Calibri" pitchFamily="34" charset="-120"/>
              </a:rPr>
              <a:t>Adminbereich</a:t>
            </a:r>
            <a:endParaRPr lang="en-US" sz="1500"/>
          </a:p>
        </p:txBody>
      </p:sp>
      <p:sp>
        <p:nvSpPr>
          <p:cNvPr id="21" name="Text 19"/>
          <p:cNvSpPr/>
          <p:nvPr/>
        </p:nvSpPr>
        <p:spPr>
          <a:xfrm>
            <a:off x="6903720" y="4251960"/>
            <a:ext cx="4572000" cy="1188720"/>
          </a:xfrm>
          <a:prstGeom prst="rect">
            <a:avLst/>
          </a:prstGeom>
          <a:noFill/>
          <a:ln/>
        </p:spPr>
        <p:txBody>
          <a:bodyPr wrap="square" lIns="0" tIns="0" rIns="0" bIns="0" rtlCol="0" anchor="t"/>
          <a:lstStyle/>
          <a:p>
            <a:pPr marL="0" indent="0">
              <a:buNone/>
            </a:pPr>
            <a:r>
              <a:rPr lang="en-US" sz="1200">
                <a:solidFill>
                  <a:srgbClr val="5A6A7A"/>
                </a:solidFill>
                <a:latin typeface="Calibri" pitchFamily="34" charset="0"/>
                <a:ea typeface="Calibri" pitchFamily="34" charset="-122"/>
                <a:cs typeface="Calibri" pitchFamily="34" charset="-120"/>
              </a:rPr>
              <a:t>Eigener Bereich mit Formularen und Übersichten für die Verwaltung.</a:t>
            </a:r>
            <a:endParaRPr lang="en-US" sz="1200"/>
          </a:p>
        </p:txBody>
      </p:sp>
      <p:sp>
        <p:nvSpPr>
          <p:cNvPr id="22" name="Shape 20"/>
          <p:cNvSpPr/>
          <p:nvPr/>
        </p:nvSpPr>
        <p:spPr>
          <a:xfrm>
            <a:off x="548640" y="5486400"/>
            <a:ext cx="548640" cy="548640"/>
          </a:xfrm>
          <a:prstGeom prst="ellipse">
            <a:avLst/>
          </a:prstGeom>
          <a:solidFill>
            <a:srgbClr val="F0993E"/>
          </a:solidFill>
          <a:ln w="12700">
            <a:solidFill>
              <a:srgbClr val="F0993E"/>
            </a:solidFill>
            <a:prstDash val="solid"/>
          </a:ln>
        </p:spPr>
        <p:txBody>
          <a:bodyPr/>
          <a:lstStyle/>
          <a:p>
            <a:endParaRPr lang="de-DE"/>
          </a:p>
        </p:txBody>
      </p:sp>
      <p:sp>
        <p:nvSpPr>
          <p:cNvPr id="23" name="Text 21"/>
          <p:cNvSpPr/>
          <p:nvPr/>
        </p:nvSpPr>
        <p:spPr>
          <a:xfrm>
            <a:off x="548640" y="5486400"/>
            <a:ext cx="548640" cy="548640"/>
          </a:xfrm>
          <a:prstGeom prst="rect">
            <a:avLst/>
          </a:prstGeom>
          <a:noFill/>
          <a:ln/>
        </p:spPr>
        <p:txBody>
          <a:bodyPr wrap="square" lIns="0" tIns="0" rIns="0" bIns="0" rtlCol="0" anchor="ctr"/>
          <a:lstStyle/>
          <a:p>
            <a:pPr marL="0" indent="0" algn="ctr">
              <a:buNone/>
            </a:pPr>
            <a:r>
              <a:rPr lang="en-US" sz="2000" b="1">
                <a:solidFill>
                  <a:srgbClr val="FFFFFF"/>
                </a:solidFill>
                <a:latin typeface="Calibri" pitchFamily="34" charset="0"/>
                <a:ea typeface="Calibri" pitchFamily="34" charset="-122"/>
                <a:cs typeface="Calibri" pitchFamily="34" charset="-120"/>
              </a:rPr>
              <a:t>5</a:t>
            </a:r>
            <a:endParaRPr lang="en-US" sz="2000"/>
          </a:p>
        </p:txBody>
      </p:sp>
      <p:sp>
        <p:nvSpPr>
          <p:cNvPr id="24" name="Text 22"/>
          <p:cNvSpPr/>
          <p:nvPr/>
        </p:nvSpPr>
        <p:spPr>
          <a:xfrm>
            <a:off x="1325880" y="5486400"/>
            <a:ext cx="4572000" cy="365760"/>
          </a:xfrm>
          <a:prstGeom prst="rect">
            <a:avLst/>
          </a:prstGeom>
          <a:noFill/>
          <a:ln/>
        </p:spPr>
        <p:txBody>
          <a:bodyPr wrap="square" lIns="0" tIns="0" rIns="0" bIns="0" rtlCol="0" anchor="ctr"/>
          <a:lstStyle/>
          <a:p>
            <a:pPr marL="0" indent="0">
              <a:buNone/>
            </a:pPr>
            <a:r>
              <a:rPr lang="en-US" sz="1500" b="1">
                <a:solidFill>
                  <a:srgbClr val="213547"/>
                </a:solidFill>
                <a:latin typeface="Calibri" pitchFamily="34" charset="0"/>
                <a:ea typeface="Calibri" pitchFamily="34" charset="-122"/>
                <a:cs typeface="Calibri" pitchFamily="34" charset="-120"/>
              </a:rPr>
              <a:t>Login einbauen</a:t>
            </a:r>
            <a:endParaRPr lang="en-US" sz="1500"/>
          </a:p>
        </p:txBody>
      </p:sp>
      <p:sp>
        <p:nvSpPr>
          <p:cNvPr id="25" name="Text 23"/>
          <p:cNvSpPr/>
          <p:nvPr/>
        </p:nvSpPr>
        <p:spPr>
          <a:xfrm>
            <a:off x="1325880" y="5897880"/>
            <a:ext cx="4572000" cy="1188720"/>
          </a:xfrm>
          <a:prstGeom prst="rect">
            <a:avLst/>
          </a:prstGeom>
          <a:noFill/>
          <a:ln/>
        </p:spPr>
        <p:txBody>
          <a:bodyPr wrap="square" lIns="0" tIns="0" rIns="0" bIns="0" rtlCol="0" anchor="t"/>
          <a:lstStyle/>
          <a:p>
            <a:pPr marL="0" indent="0">
              <a:buNone/>
            </a:pPr>
            <a:r>
              <a:rPr lang="en-US" sz="1200">
                <a:solidFill>
                  <a:srgbClr val="5A6A7A"/>
                </a:solidFill>
                <a:latin typeface="Calibri" pitchFamily="34" charset="0"/>
                <a:ea typeface="Calibri" pitchFamily="34" charset="-122"/>
                <a:cs typeface="Calibri" pitchFamily="34" charset="-120"/>
              </a:rPr>
              <a:t>Anmeldung mit Passwort, Schutz der Seiten.</a:t>
            </a:r>
            <a:endParaRPr lang="en-US" sz="1200"/>
          </a:p>
        </p:txBody>
      </p:sp>
      <p:sp>
        <p:nvSpPr>
          <p:cNvPr id="26" name="Shape 24"/>
          <p:cNvSpPr/>
          <p:nvPr/>
        </p:nvSpPr>
        <p:spPr>
          <a:xfrm>
            <a:off x="6126480" y="5486400"/>
            <a:ext cx="548640" cy="548640"/>
          </a:xfrm>
          <a:prstGeom prst="ellipse">
            <a:avLst/>
          </a:prstGeom>
          <a:solidFill>
            <a:srgbClr val="ADD345"/>
          </a:solidFill>
          <a:ln w="12700">
            <a:solidFill>
              <a:srgbClr val="ADD345"/>
            </a:solidFill>
            <a:prstDash val="solid"/>
          </a:ln>
        </p:spPr>
        <p:txBody>
          <a:bodyPr/>
          <a:lstStyle/>
          <a:p>
            <a:endParaRPr lang="de-DE"/>
          </a:p>
        </p:txBody>
      </p:sp>
      <p:sp>
        <p:nvSpPr>
          <p:cNvPr id="27" name="Text 25"/>
          <p:cNvSpPr/>
          <p:nvPr/>
        </p:nvSpPr>
        <p:spPr>
          <a:xfrm>
            <a:off x="6126480" y="5486400"/>
            <a:ext cx="548640" cy="548640"/>
          </a:xfrm>
          <a:prstGeom prst="rect">
            <a:avLst/>
          </a:prstGeom>
          <a:noFill/>
          <a:ln/>
        </p:spPr>
        <p:txBody>
          <a:bodyPr wrap="square" lIns="0" tIns="0" rIns="0" bIns="0" rtlCol="0" anchor="ctr"/>
          <a:lstStyle/>
          <a:p>
            <a:pPr marL="0" indent="0" algn="ctr">
              <a:buNone/>
            </a:pPr>
            <a:r>
              <a:rPr lang="en-US" sz="2000" b="1">
                <a:solidFill>
                  <a:srgbClr val="FFFFFF"/>
                </a:solidFill>
                <a:latin typeface="Calibri" pitchFamily="34" charset="0"/>
                <a:ea typeface="Calibri" pitchFamily="34" charset="-122"/>
                <a:cs typeface="Calibri" pitchFamily="34" charset="-120"/>
              </a:rPr>
              <a:t>6</a:t>
            </a:r>
            <a:endParaRPr lang="en-US" sz="2000"/>
          </a:p>
        </p:txBody>
      </p:sp>
      <p:sp>
        <p:nvSpPr>
          <p:cNvPr id="28" name="Text 26"/>
          <p:cNvSpPr/>
          <p:nvPr/>
        </p:nvSpPr>
        <p:spPr>
          <a:xfrm>
            <a:off x="6903720" y="5486400"/>
            <a:ext cx="4572000" cy="365760"/>
          </a:xfrm>
          <a:prstGeom prst="rect">
            <a:avLst/>
          </a:prstGeom>
          <a:noFill/>
          <a:ln/>
        </p:spPr>
        <p:txBody>
          <a:bodyPr wrap="square" lIns="0" tIns="0" rIns="0" bIns="0" rtlCol="0" anchor="ctr"/>
          <a:lstStyle/>
          <a:p>
            <a:pPr marL="0" indent="0">
              <a:buNone/>
            </a:pPr>
            <a:r>
              <a:rPr lang="en-US" sz="1500" b="1">
                <a:solidFill>
                  <a:srgbClr val="213547"/>
                </a:solidFill>
                <a:latin typeface="Calibri" pitchFamily="34" charset="0"/>
                <a:ea typeface="Calibri" pitchFamily="34" charset="-122"/>
                <a:cs typeface="Calibri" pitchFamily="34" charset="-120"/>
              </a:rPr>
              <a:t>Über ORDS entscheiden</a:t>
            </a:r>
            <a:endParaRPr lang="en-US" sz="1500"/>
          </a:p>
        </p:txBody>
      </p:sp>
      <p:sp>
        <p:nvSpPr>
          <p:cNvPr id="29" name="Text 27"/>
          <p:cNvSpPr/>
          <p:nvPr/>
        </p:nvSpPr>
        <p:spPr>
          <a:xfrm>
            <a:off x="6903720" y="5897880"/>
            <a:ext cx="4572000" cy="1188720"/>
          </a:xfrm>
          <a:prstGeom prst="rect">
            <a:avLst/>
          </a:prstGeom>
          <a:noFill/>
          <a:ln/>
        </p:spPr>
        <p:txBody>
          <a:bodyPr wrap="square" lIns="0" tIns="0" rIns="0" bIns="0" rtlCol="0" anchor="t"/>
          <a:lstStyle/>
          <a:p>
            <a:pPr marL="0" indent="0">
              <a:buNone/>
            </a:pPr>
            <a:r>
              <a:rPr lang="en-US" sz="1200">
                <a:solidFill>
                  <a:srgbClr val="5A6A7A"/>
                </a:solidFill>
                <a:latin typeface="Calibri" pitchFamily="34" charset="0"/>
                <a:ea typeface="Calibri" pitchFamily="34" charset="-122"/>
                <a:cs typeface="Calibri" pitchFamily="34" charset="-120"/>
              </a:rPr>
              <a:t>Noch einmal versuchen oder endgültig entfernen.</a:t>
            </a:r>
            <a:endParaRPr lang="en-US" sz="1200"/>
          </a:p>
        </p:txBody>
      </p:sp>
      <p:sp>
        <p:nvSpPr>
          <p:cNvPr id="30" name="Shape 28"/>
          <p:cNvSpPr/>
          <p:nvPr/>
        </p:nvSpPr>
        <p:spPr>
          <a:xfrm>
            <a:off x="548640" y="6355080"/>
            <a:ext cx="11064240" cy="9144"/>
          </a:xfrm>
          <a:prstGeom prst="rect">
            <a:avLst/>
          </a:prstGeom>
          <a:solidFill>
            <a:srgbClr val="EBE6DE"/>
          </a:solidFill>
          <a:ln w="12700">
            <a:solidFill>
              <a:srgbClr val="EBE6DE"/>
            </a:solidFill>
            <a:prstDash val="solid"/>
          </a:ln>
        </p:spPr>
        <p:txBody>
          <a:bodyPr/>
          <a:lstStyle/>
          <a:p>
            <a:endParaRPr lang="de-DE"/>
          </a:p>
        </p:txBody>
      </p:sp>
      <p:sp>
        <p:nvSpPr>
          <p:cNvPr id="31" name="Text 29"/>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b="1" i="1">
                <a:solidFill>
                  <a:srgbClr val="8C97A1"/>
                </a:solidFill>
                <a:latin typeface="Calibri" pitchFamily="34" charset="0"/>
                <a:ea typeface="Calibri" pitchFamily="34" charset="-122"/>
                <a:cs typeface="Calibri" pitchFamily="34" charset="-120"/>
              </a:rPr>
              <a:t>pxsng</a:t>
            </a:r>
            <a:endParaRPr lang="en-US" sz="1000"/>
          </a:p>
        </p:txBody>
      </p:sp>
      <p:sp>
        <p:nvSpPr>
          <p:cNvPr id="32" name="Text 30"/>
          <p:cNvSpPr/>
          <p:nvPr/>
        </p:nvSpPr>
        <p:spPr>
          <a:xfrm>
            <a:off x="7863840" y="6446520"/>
            <a:ext cx="3749040" cy="274320"/>
          </a:xfrm>
          <a:prstGeom prst="rect">
            <a:avLst/>
          </a:prstGeom>
          <a:noFill/>
          <a:ln/>
        </p:spPr>
        <p:txBody>
          <a:bodyPr wrap="square" lIns="0" tIns="0" rIns="0" bIns="0" rtlCol="0" anchor="ctr"/>
          <a:lstStyle/>
          <a:p>
            <a:pPr marL="0" indent="0" algn="r">
              <a:buNone/>
            </a:pPr>
            <a:r>
              <a:rPr lang="en-US" sz="1000">
                <a:solidFill>
                  <a:srgbClr val="8C97A1"/>
                </a:solidFill>
                <a:latin typeface="Calibri" pitchFamily="34" charset="0"/>
                <a:ea typeface="Calibri" pitchFamily="34" charset="-122"/>
                <a:cs typeface="Calibri" pitchFamily="34" charset="-120"/>
              </a:rPr>
              <a:t>16 / 16</a:t>
            </a:r>
            <a:endParaRPr lang="en-US" sz="1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0" cy="6858000"/>
          </a:xfrm>
          <a:prstGeom prst="rect">
            <a:avLst/>
          </a:prstGeom>
          <a:solidFill>
            <a:srgbClr val="F0993E"/>
          </a:solidFill>
          <a:ln w="12700">
            <a:solidFill>
              <a:srgbClr val="F0993E"/>
            </a:solidFill>
            <a:prstDash val="solid"/>
          </a:ln>
        </p:spPr>
        <p:txBody>
          <a:bodyPr/>
          <a:lstStyle/>
          <a:p>
            <a:endParaRPr lang="de-DE"/>
          </a:p>
        </p:txBody>
      </p:sp>
      <p:sp>
        <p:nvSpPr>
          <p:cNvPr id="3" name="Text 1"/>
          <p:cNvSpPr/>
          <p:nvPr/>
        </p:nvSpPr>
        <p:spPr>
          <a:xfrm>
            <a:off x="1463040" y="2468880"/>
            <a:ext cx="10058400" cy="457200"/>
          </a:xfrm>
          <a:prstGeom prst="rect">
            <a:avLst/>
          </a:prstGeom>
          <a:noFill/>
          <a:ln/>
        </p:spPr>
        <p:txBody>
          <a:bodyPr wrap="square" lIns="0" tIns="0" rIns="0" bIns="0" rtlCol="0" anchor="ctr"/>
          <a:lstStyle/>
          <a:p>
            <a:pPr marL="0" indent="0">
              <a:buNone/>
            </a:pPr>
            <a:r>
              <a:rPr lang="en-US" sz="1400" b="1" kern="0" spc="800">
                <a:solidFill>
                  <a:srgbClr val="F0993E"/>
                </a:solidFill>
                <a:latin typeface="Calibri" pitchFamily="34" charset="0"/>
                <a:ea typeface="Calibri" pitchFamily="34" charset="-122"/>
                <a:cs typeface="Calibri" pitchFamily="34" charset="-120"/>
              </a:rPr>
              <a:t>FRAGEN</a:t>
            </a:r>
            <a:endParaRPr lang="en-US" sz="1400"/>
          </a:p>
        </p:txBody>
      </p:sp>
      <p:sp>
        <p:nvSpPr>
          <p:cNvPr id="4" name="Text 2"/>
          <p:cNvSpPr/>
          <p:nvPr/>
        </p:nvSpPr>
        <p:spPr>
          <a:xfrm>
            <a:off x="1463040" y="2834640"/>
            <a:ext cx="10058400" cy="1828800"/>
          </a:xfrm>
          <a:prstGeom prst="rect">
            <a:avLst/>
          </a:prstGeom>
          <a:noFill/>
          <a:ln/>
        </p:spPr>
        <p:txBody>
          <a:bodyPr wrap="square" lIns="0" tIns="0" rIns="0" bIns="0" rtlCol="0" anchor="ctr"/>
          <a:lstStyle/>
          <a:p>
            <a:pPr marL="0" indent="0">
              <a:buNone/>
            </a:pPr>
            <a:r>
              <a:rPr lang="en-US" sz="12000" b="1">
                <a:solidFill>
                  <a:srgbClr val="213547"/>
                </a:solidFill>
                <a:latin typeface="Calibri" pitchFamily="34" charset="0"/>
                <a:ea typeface="Calibri" pitchFamily="34" charset="-122"/>
                <a:cs typeface="Calibri" pitchFamily="34" charset="-120"/>
              </a:rPr>
              <a:t>Fragen?</a:t>
            </a:r>
            <a:endParaRPr lang="en-US" sz="12000"/>
          </a:p>
        </p:txBody>
      </p:sp>
      <p:sp>
        <p:nvSpPr>
          <p:cNvPr id="5" name="Text 3"/>
          <p:cNvSpPr/>
          <p:nvPr/>
        </p:nvSpPr>
        <p:spPr>
          <a:xfrm>
            <a:off x="1463040" y="4754880"/>
            <a:ext cx="10058400" cy="548640"/>
          </a:xfrm>
          <a:prstGeom prst="rect">
            <a:avLst/>
          </a:prstGeom>
          <a:noFill/>
          <a:ln/>
        </p:spPr>
        <p:txBody>
          <a:bodyPr wrap="square" lIns="0" tIns="0" rIns="0" bIns="0" rtlCol="0" anchor="ctr"/>
          <a:lstStyle/>
          <a:p>
            <a:pPr marL="0" indent="0">
              <a:buNone/>
            </a:pPr>
            <a:r>
              <a:rPr lang="en-US" sz="2200" i="1">
                <a:solidFill>
                  <a:srgbClr val="5A6A7A"/>
                </a:solidFill>
                <a:latin typeface="Calibri" pitchFamily="34" charset="0"/>
                <a:ea typeface="Calibri" pitchFamily="34" charset="-122"/>
                <a:cs typeface="Calibri" pitchFamily="34" charset="-120"/>
              </a:rPr>
              <a:t>Wir freuen uns auf eure Anmerkungen.</a:t>
            </a:r>
            <a:endParaRPr lang="en-US" sz="2200"/>
          </a:p>
        </p:txBody>
      </p:sp>
      <p:sp>
        <p:nvSpPr>
          <p:cNvPr id="6" name="Text 4"/>
          <p:cNvSpPr/>
          <p:nvPr/>
        </p:nvSpPr>
        <p:spPr>
          <a:xfrm>
            <a:off x="1463040" y="6126480"/>
            <a:ext cx="10058400" cy="365760"/>
          </a:xfrm>
          <a:prstGeom prst="rect">
            <a:avLst/>
          </a:prstGeom>
          <a:noFill/>
          <a:ln/>
        </p:spPr>
        <p:txBody>
          <a:bodyPr wrap="square" lIns="0" tIns="0" rIns="0" bIns="0" rtlCol="0" anchor="ctr"/>
          <a:lstStyle/>
          <a:p>
            <a:pPr marL="0" indent="0">
              <a:buNone/>
            </a:pPr>
            <a:r>
              <a:rPr lang="en-US" sz="1300">
                <a:solidFill>
                  <a:srgbClr val="8C97A1"/>
                </a:solidFill>
                <a:latin typeface="Calibri" pitchFamily="34" charset="0"/>
                <a:ea typeface="Calibri" pitchFamily="34" charset="-122"/>
                <a:cs typeface="Calibri" pitchFamily="34" charset="-120"/>
              </a:rPr>
              <a:t>github.com/TimLMueller/pxsng</a:t>
            </a:r>
            <a:endParaRPr lang="en-US" sz="13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cede537-b4cb-41f8-af8f-522a22d7a90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F879884E3FF0594EA0391ED37153ABD0" ma:contentTypeVersion="10" ma:contentTypeDescription="Ein neues Dokument erstellen." ma:contentTypeScope="" ma:versionID="f512bf25b3bc6432d2b66e69a5e715bd">
  <xsd:schema xmlns:xsd="http://www.w3.org/2001/XMLSchema" xmlns:xs="http://www.w3.org/2001/XMLSchema" xmlns:p="http://schemas.microsoft.com/office/2006/metadata/properties" xmlns:ns3="9cede537-b4cb-41f8-af8f-522a22d7a901" targetNamespace="http://schemas.microsoft.com/office/2006/metadata/properties" ma:root="true" ma:fieldsID="6d6341cf34486c47578d6515943f070a" ns3:_="">
    <xsd:import namespace="9cede537-b4cb-41f8-af8f-522a22d7a901"/>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ede537-b4cb-41f8-af8f-522a22d7a90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7DE718-482B-49BD-A5E0-AE53A6E91A52}">
  <ds:schemaRefs>
    <ds:schemaRef ds:uri="9cede537-b4cb-41f8-af8f-522a22d7a90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AEE542D-2632-4A0F-AA7C-FA5FD3C30139}">
  <ds:schemaRefs>
    <ds:schemaRef ds:uri="9cede537-b4cb-41f8-af8f-522a22d7a90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AF9A8BB-5E7A-49A5-AF37-507BA8F9463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31</Slides>
  <Notes>31</Notes>
  <HiddenSlides>0</HiddenSlide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pxsng The AI Training Manager</dc:title>
  <dc:subject>PptxGenJS Presentation</dc:subject>
  <dc:creator>Tim, Marco, Fynn</dc:creator>
  <cp:revision>317</cp:revision>
  <dcterms:created xsi:type="dcterms:W3CDTF">2026-05-16T19:26:21Z</dcterms:created>
  <dcterms:modified xsi:type="dcterms:W3CDTF">2026-05-26T19:31:41Z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0x010100F879884E3FF0594EA0391ED37153ABD0</vt:lpwstr>
  </property>
</Properties>
</file>